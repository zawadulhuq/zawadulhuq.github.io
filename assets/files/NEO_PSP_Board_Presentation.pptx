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22222"/>
                </a:solidFill>
                <a:latin typeface="Arial"/>
              </a:defRPr>
            </a:pPr>
            <a:r>
              <a:rPr sz="1150" b="0" i="0" u="none" strike="noStrike">
                <a:solidFill>
                  <a:srgbClr val="222222"/>
                </a:solidFill>
                <a:latin typeface="Arial"/>
              </a:rPr>
              <a:t>TAM → SAM → SOM [ASSUMPTION — illustrative, directional]</a:t>
            </a:r>
          </a:p>
        </c:rich>
      </c:tx>
      <c:layout/>
      <c:overlay val="0"/>
    </c:title>
    <c:autoTitleDeleted val="0"/>
    <c:plotArea>
      <c:layout/>
      <c:barChart>
        <c:barDir val="col"/>
        <c:grouping val="clustered"/>
        <c:varyColors val="0"/>
        <c:ser>
          <c:idx val="0"/>
          <c:order val="0"/>
          <c:tx>
            <c:strRef>
              <c:f>Sheet1!$B$1</c:f>
              <c:strCache>
                <c:ptCount val="1"/>
                <c:pt idx="0">
                  <c:v>BDT bn (illustrative)</c:v>
                </c:pt>
              </c:strCache>
            </c:strRef>
          </c:tx>
          <c:spPr>
            <a:solidFill>
              <a:srgbClr val="1B2A4A">
                <a:alpha val="90000"/>
              </a:srgbClr>
            </a:solidFill>
            <a:effectLst/>
          </c:spPr>
          <c:invertIfNegative val="0"/>
          <c:dLbls>
            <c:numFmt formatCode="#,##0" sourceLinked="0"/>
            <c:txPr>
              <a:bodyPr/>
              <a:lstStyle/>
              <a:p>
                <a:pPr>
                  <a:defRPr b="0" i="0" strike="noStrike" sz="1000" u="none">
                    <a:solidFill>
                      <a:srgbClr val="222222"/>
                    </a:solidFill>
                    <a:latin typeface="Arial"/>
                  </a:defRPr>
                </a:pPr>
              </a:p>
            </c:txPr>
            <c:showLegendKey val="0"/>
            <c:showVal val="1"/>
            <c:showCatName val="0"/>
            <c:showSerName val="0"/>
            <c:showPercent val="0"/>
            <c:showBubbleSize val="0"/>
            <c:showLeaderLines val="0"/>
          </c:dLbls>
          <c:dPt>
            <c:idx val="0"/>
            <c:invertIfNegative val="0"/>
            <c:bubble3D val="0"/>
            <c:spPr>
              <a:solidFill>
                <a:srgbClr val="1B2A4A"/>
              </a:solidFill>
              <a:effectLst/>
            </c:spPr>
          </c:dPt>
          <c:dPt>
            <c:idx val="1"/>
            <c:invertIfNegative val="0"/>
            <c:bubble3D val="0"/>
            <c:spPr>
              <a:solidFill>
                <a:srgbClr val="0F6E56"/>
              </a:solidFill>
              <a:effectLst/>
            </c:spPr>
          </c:dPt>
          <c:dPt>
            <c:idx val="2"/>
            <c:invertIfNegative val="0"/>
            <c:bubble3D val="0"/>
            <c:spPr>
              <a:solidFill>
                <a:srgbClr val="D85A30"/>
              </a:solidFill>
              <a:effectLst/>
            </c:spPr>
          </c:dPt>
          <c:cat>
            <c:multiLvlStrRef>
              <c:f>Sheet1!$A$2:$A$4</c:f>
              <c:multiLvlStrCache>
                <c:ptCount val="3"/>
                <c:lvl>
                  <c:pt idx="0">
                    <c:v>Total digital
payments market</c:v>
                  </c:pt>
                  <c:pt idx="1">
                    <c:v>Merchant/gateway
payments (PSP pool)</c:v>
                  </c:pt>
                  <c:pt idx="2">
                    <c:v>NEO PSP 3-yr
serviceable share</c:v>
                  </c:pt>
                </c:lvl>
              </c:multiLvlStrCache>
            </c:multiLvlStrRef>
          </c:cat>
          <c:val>
            <c:numRef>
              <c:f>Sheet1!$B$2:$B$4</c:f>
              <c:numCache>
                <c:formatCode>General</c:formatCode>
                <c:ptCount val="3"/>
                <c:pt idx="0">
                  <c:v>420</c:v>
                </c:pt>
                <c:pt idx="1">
                  <c:v>165</c:v>
                </c:pt>
                <c:pt idx="2">
                  <c:v>38</c:v>
                </c:pt>
              </c:numCache>
            </c:numRef>
          </c:val>
        </c:ser>
        <c:dLbls>
          <c:numFmt formatCode="#,##0" sourceLinked="0"/>
          <c:txPr>
            <a:bodyPr/>
            <a:lstStyle/>
            <a:p>
              <a:pPr>
                <a:defRPr b="0" i="0" strike="noStrike" sz="1000" u="none">
                  <a:solidFill>
                    <a:srgbClr val="2222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6B6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22222"/>
                </a:solidFill>
                <a:latin typeface="Arial"/>
              </a:defRPr>
            </a:pPr>
            <a:r>
              <a:rPr sz="1150" b="0" i="0" u="none" strike="noStrike">
                <a:solidFill>
                  <a:srgbClr val="222222"/>
                </a:solidFill>
                <a:latin typeface="Arial"/>
              </a:rPr>
              <a:t>Gross Transaction Value trajectory [ILLUSTRATIVE]</a:t>
            </a:r>
          </a:p>
        </c:rich>
      </c:tx>
      <c:layout/>
      <c:overlay val="0"/>
    </c:title>
    <c:autoTitleDeleted val="0"/>
    <c:plotArea>
      <c:layout/>
      <c:lineChart>
        <c:varyColors val="0"/>
        <c:ser>
          <c:idx val="0"/>
          <c:order val="0"/>
          <c:tx>
            <c:strRef>
              <c:f>Sheet1!$B$1</c:f>
              <c:strCache>
                <c:ptCount val="1"/>
                <c:pt idx="0">
                  <c:v>GTV, BDT mm (illustrative)</c:v>
                </c:pt>
              </c:strCache>
            </c:strRef>
          </c:tx>
          <c:spPr>
            <a:solidFill>
              <a:srgbClr val="BA7517"/>
            </a:solidFill>
            <a:ln w="31750" cap="flat">
              <a:solidFill>
                <a:srgbClr val="BA751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A7517"/>
              </a:solidFill>
              <a:ln w="9525" cap="flat">
                <a:solidFill>
                  <a:srgbClr val="BA7517"/>
                </a:solidFill>
                <a:prstDash val="solid"/>
                <a:round/>
              </a:ln>
              <a:effectLst/>
            </c:spPr>
          </c:marker>
          <c:cat>
            <c:multiLvlStrRef>
              <c:f>Sheet1!$A$2:$A$9</c:f>
              <c:multiLvlStrCache>
                <c:ptCount val="8"/>
                <c:lvl>
                  <c:pt idx="0">
                    <c:v>Y1Q1</c:v>
                  </c:pt>
                  <c:pt idx="1">
                    <c:v>Y1Q2</c:v>
                  </c:pt>
                  <c:pt idx="2">
                    <c:v>Y1Q3</c:v>
                  </c:pt>
                  <c:pt idx="3">
                    <c:v>Y1Q4</c:v>
                  </c:pt>
                  <c:pt idx="4">
                    <c:v>Y2Q1</c:v>
                  </c:pt>
                  <c:pt idx="5">
                    <c:v>Y2Q2</c:v>
                  </c:pt>
                  <c:pt idx="6">
                    <c:v>Y2Q3</c:v>
                  </c:pt>
                  <c:pt idx="7">
                    <c:v>Y2Q4</c:v>
                  </c:pt>
                </c:lvl>
              </c:multiLvlStrCache>
            </c:multiLvlStrRef>
          </c:cat>
          <c:val>
            <c:numRef>
              <c:f>Sheet1!$B$2:$B$9</c:f>
              <c:numCache>
                <c:formatCode>General</c:formatCode>
                <c:ptCount val="8"/>
                <c:pt idx="0">
                  <c:v>12</c:v>
                </c:pt>
                <c:pt idx="1">
                  <c:v>29</c:v>
                </c:pt>
                <c:pt idx="2">
                  <c:v>51</c:v>
                </c:pt>
                <c:pt idx="3">
                  <c:v>74</c:v>
                </c:pt>
                <c:pt idx="4">
                  <c:v>98</c:v>
                </c:pt>
                <c:pt idx="5">
                  <c:v>131</c:v>
                </c:pt>
                <c:pt idx="6">
                  <c:v>168</c:v>
                </c:pt>
                <c:pt idx="7">
                  <c:v>212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FED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this as an independent strategic advisory engagement, not an internal audit. The core message of the deck: NEO PSP should be positioned as a consolidator of Bangladesh's fragmented PSP category, not a challenger to the bKash/Nagad wallet duopoly. Everything in the next 11 slides builds toward a specific, fundable recommendation and three explicit board asks on the final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one-page version of the whole argument. If the board reads nothing else, they should leave with: (1) the category is fragmented and winnable now, (2) NEO PSP has assets no competitor has simultaneously, (3) the ask is proportional funding, not a pilot budget. Hold questions until slide 12 where the specific asks are 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TAM/SAM/SOM figures are explicitly illustrative — public disclosures don't separate PSP-specific transaction pools from total MFS volume. Direction and order of magnitude are the point, not the specific numbers. If asked for the real figures, direct to the Market Assessment section's assumption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preempt the 'why now' question before it's asked. The Bangla QR mandate is the single most important fact in the whole deck — it's a rare case of regulation subsidizing a new entrant's reach rather than protecting incumbents.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pressed on Samadhan Services specifically: public signal on their execution is thin. Be transparent that this is the real structural test of NEO PSP's strategy — two telco parents, same asset, whoever converts distribution into merchant coverage faster wins the telco-fintech sub-category.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gaps came directly out of the competitive benchmarking exercise and are the connective tissue between the competitive landscape slide and the strategic recommendation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should generate the most discussion in the room. Be ready to defend why consumer wallet is rejected outright (capital intensity vs. locked-in incumbents) and why B2B disbursement-only is folded in as a lever rather than the whole strategy (narrower addressable base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word 'sequenced' — board members will naturally want to accelerate everything at once. The capital-gating mechanism on the next risk slide is the actual governance answer to that instinct.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open banking/PISP participation is deferred rather than prioritized given the regulatory tailwind slide: the framework isn't mature enough yet (targeted mid-2026) — building against it now would be premature investment risk, not lack of ambition.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GTV figures are explicitly illustrative placeholders, consistent with the financial model's ANALYST INPUT convention. No confidential Banglalink or VEON figures appear in this deck. If pressed for real numbers, the Excel model has the full build with clearly flagged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phase detail (objectives, dependencies, success metrics, risks) is in the companion Phased Implementation Roadmap document. This slide is intentionally a summary — don't read all the detail live, point to the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explicit asks — don't let the meeting end without the board responding to each of the three specifically. If time is short, the single most important ask is #1: Horizon 1 capital commitment to merchant acquisition, since everything else in the roadmap depends on that being funded properly rather than as a token pilot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731520" y="2103120"/>
            <a:ext cx="10515600" cy="100584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NEO PSP</a:t>
            </a:r>
            <a:endParaRPr lang="en-US" sz="4800" dirty="0"/>
          </a:p>
        </p:txBody>
      </p:sp>
      <p:sp>
        <p:nvSpPr>
          <p:cNvPr id="3" name="Text 1"/>
          <p:cNvSpPr/>
          <p:nvPr/>
        </p:nvSpPr>
        <p:spPr>
          <a:xfrm>
            <a:off x="731520" y="3063240"/>
            <a:ext cx="9875520" cy="822960"/>
          </a:xfrm>
          <a:prstGeom prst="rect">
            <a:avLst/>
          </a:prstGeom>
          <a:noFill/>
          <a:ln/>
        </p:spPr>
        <p:txBody>
          <a:bodyPr wrap="square" rtlCol="0" anchor="ctr"/>
          <a:lstStyle/>
          <a:p>
            <a:pPr indent="0" marL="0">
              <a:buNone/>
            </a:pPr>
            <a:r>
              <a:rPr lang="en-US" sz="2000" i="1" dirty="0">
                <a:solidFill>
                  <a:srgbClr val="D6DCE8"/>
                </a:solidFill>
                <a:latin typeface="Calibri" pitchFamily="34" charset="0"/>
                <a:ea typeface="Calibri" pitchFamily="34" charset="-122"/>
                <a:cs typeface="Calibri" pitchFamily="34" charset="-120"/>
              </a:rPr>
              <a:t>A Strategic Roadmap for Accelerating Digital Financial Services in Bangladesh</a:t>
            </a:r>
            <a:endParaRPr lang="en-US" sz="2000" dirty="0"/>
          </a:p>
        </p:txBody>
      </p:sp>
      <p:sp>
        <p:nvSpPr>
          <p:cNvPr id="4" name="Text 2"/>
          <p:cNvSpPr/>
          <p:nvPr/>
        </p:nvSpPr>
        <p:spPr>
          <a:xfrm>
            <a:off x="731520" y="4343400"/>
            <a:ext cx="9601200" cy="365760"/>
          </a:xfrm>
          <a:prstGeom prst="rect">
            <a:avLst/>
          </a:prstGeom>
          <a:noFill/>
          <a:ln/>
        </p:spPr>
        <p:txBody>
          <a:bodyPr wrap="square" rtlCol="0" anchor="ctr"/>
          <a:lstStyle/>
          <a:p>
            <a:pPr indent="0" marL="0">
              <a:buNone/>
            </a:pPr>
            <a:r>
              <a:rPr lang="en-US" sz="1250" dirty="0">
                <a:solidFill>
                  <a:srgbClr val="8391A8"/>
                </a:solidFill>
                <a:latin typeface="Calibri" pitchFamily="34" charset="0"/>
                <a:ea typeface="Calibri" pitchFamily="34" charset="-122"/>
                <a:cs typeface="Calibri" pitchFamily="34" charset="-120"/>
              </a:rPr>
              <a:t>Board Presentation  ·  Prepared for Banglalink CEO, CSO &amp; DFS Leadership, and VEON Regional Executives</a:t>
            </a:r>
            <a:endParaRPr lang="en-US" sz="1250" dirty="0"/>
          </a:p>
        </p:txBody>
      </p:sp>
      <p:sp>
        <p:nvSpPr>
          <p:cNvPr id="5" name="Text 3"/>
          <p:cNvSpPr/>
          <p:nvPr/>
        </p:nvSpPr>
        <p:spPr>
          <a:xfrm>
            <a:off x="731520" y="4663440"/>
            <a:ext cx="4572000" cy="320040"/>
          </a:xfrm>
          <a:prstGeom prst="rect">
            <a:avLst/>
          </a:prstGeom>
          <a:noFill/>
          <a:ln/>
        </p:spPr>
        <p:txBody>
          <a:bodyPr wrap="square" rtlCol="0" anchor="ctr"/>
          <a:lstStyle/>
          <a:p>
            <a:pPr indent="0" marL="0">
              <a:buNone/>
            </a:pPr>
            <a:r>
              <a:rPr lang="en-US" sz="1250" dirty="0">
                <a:solidFill>
                  <a:srgbClr val="8391A8"/>
                </a:solidFill>
                <a:latin typeface="Calibri" pitchFamily="34" charset="0"/>
                <a:ea typeface="Calibri" pitchFamily="34" charset="-122"/>
                <a:cs typeface="Calibri" pitchFamily="34" charset="-120"/>
              </a:rPr>
              <a:t>August 2026</a:t>
            </a:r>
            <a:endParaRPr lang="en-US" sz="1250" dirty="0"/>
          </a:p>
        </p:txBody>
      </p:sp>
      <p:sp>
        <p:nvSpPr>
          <p:cNvPr id="6" name="Text 4"/>
          <p:cNvSpPr/>
          <p:nvPr/>
        </p:nvSpPr>
        <p:spPr>
          <a:xfrm>
            <a:off x="731520" y="6080760"/>
            <a:ext cx="9144000" cy="365760"/>
          </a:xfrm>
          <a:prstGeom prst="rect">
            <a:avLst/>
          </a:prstGeom>
          <a:noFill/>
          <a:ln/>
        </p:spPr>
        <p:txBody>
          <a:bodyPr wrap="square" rtlCol="0" anchor="ctr"/>
          <a:lstStyle/>
          <a:p>
            <a:pPr indent="0" marL="0">
              <a:buNone/>
            </a:pPr>
            <a:r>
              <a:rPr lang="en-US" sz="950" i="1" dirty="0">
                <a:solidFill>
                  <a:srgbClr val="5E6C87"/>
                </a:solidFill>
                <a:latin typeface="Calibri" pitchFamily="34" charset="0"/>
                <a:ea typeface="Calibri" pitchFamily="34" charset="-122"/>
                <a:cs typeface="Calibri" pitchFamily="34" charset="-120"/>
              </a:rPr>
              <a:t>Independent strategic advisory analysis — public information, industry benchmarks, and explicitly stated assumptions.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274320"/>
          </a:xfrm>
          <a:prstGeom prst="rect">
            <a:avLst/>
          </a:prstGeom>
          <a:noFill/>
          <a:ln/>
        </p:spPr>
        <p:txBody>
          <a:bodyPr wrap="square" rtlCol="0" anchor="ctr"/>
          <a:lstStyle/>
          <a:p>
            <a:pPr indent="0" marL="0">
              <a:buNone/>
            </a:pPr>
            <a:r>
              <a:rPr lang="en-US" sz="1100" b="1" spc="120" kern="0" dirty="0">
                <a:solidFill>
                  <a:srgbClr val="D85A30"/>
                </a:solidFill>
                <a:latin typeface="Calibri" pitchFamily="34" charset="0"/>
                <a:ea typeface="Calibri" pitchFamily="34" charset="-122"/>
                <a:cs typeface="Calibri" pitchFamily="34" charset="-120"/>
              </a:rPr>
              <a:t>EXECUTIVE SUMMARY</a:t>
            </a:r>
            <a:endParaRPr lang="en-US" sz="1100" dirty="0"/>
          </a:p>
        </p:txBody>
      </p:sp>
      <p:sp>
        <p:nvSpPr>
          <p:cNvPr id="3" name="Text 1"/>
          <p:cNvSpPr/>
          <p:nvPr/>
        </p:nvSpPr>
        <p:spPr>
          <a:xfrm>
            <a:off x="457200" y="566928"/>
            <a:ext cx="11247120" cy="45720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The strategic case in one page</a:t>
            </a:r>
            <a:endParaRPr lang="en-US" sz="2200" dirty="0"/>
          </a:p>
        </p:txBody>
      </p:sp>
      <p:sp>
        <p:nvSpPr>
          <p:cNvPr id="4" name="Text 2"/>
          <p:cNvSpPr/>
          <p:nvPr/>
        </p:nvSpPr>
        <p:spPr>
          <a:xfrm>
            <a:off x="457200" y="1024128"/>
            <a:ext cx="11247120" cy="685800"/>
          </a:xfrm>
          <a:prstGeom prst="rect">
            <a:avLst/>
          </a:prstGeom>
          <a:noFill/>
          <a:ln/>
        </p:spPr>
        <p:txBody>
          <a:bodyPr wrap="square" rtlCol="0" anchor="ctr"/>
          <a:lstStyle/>
          <a:p>
            <a:pPr indent="0" marL="0">
              <a:lnSpc>
                <a:spcPct val="105000"/>
              </a:lnSpc>
              <a:buNone/>
            </a:pPr>
            <a:r>
              <a:rPr lang="en-US" sz="1550" i="1" dirty="0">
                <a:solidFill>
                  <a:srgbClr val="222222"/>
                </a:solidFill>
                <a:latin typeface="Calibri" pitchFamily="34" charset="0"/>
                <a:ea typeface="Calibri" pitchFamily="34" charset="-122"/>
                <a:cs typeface="Calibri" pitchFamily="34" charset="-120"/>
              </a:rPr>
              <a:t>NEO PSP should lead Bangladesh's fragmented merchant-payments category — not chase the bKash/Nagad wallet duopoly.</a:t>
            </a:r>
            <a:endParaRPr lang="en-US" sz="1550" dirty="0"/>
          </a:p>
        </p:txBody>
      </p:sp>
      <p:sp>
        <p:nvSpPr>
          <p:cNvPr id="5" name="Shape 3"/>
          <p:cNvSpPr/>
          <p:nvPr/>
        </p:nvSpPr>
        <p:spPr>
          <a:xfrm>
            <a:off x="457200" y="1874520"/>
            <a:ext cx="3520440" cy="1554480"/>
          </a:xfrm>
          <a:prstGeom prst="roundRect">
            <a:avLst>
              <a:gd name="adj" fmla="val 4706"/>
            </a:avLst>
          </a:prstGeom>
          <a:solidFill>
            <a:srgbClr val="F4F2ED"/>
          </a:solidFill>
          <a:ln w="9525">
            <a:solidFill>
              <a:srgbClr val="E4E0D6"/>
            </a:solidFill>
            <a:prstDash val="solid"/>
          </a:ln>
        </p:spPr>
      </p:sp>
      <p:sp>
        <p:nvSpPr>
          <p:cNvPr id="6" name="Text 4"/>
          <p:cNvSpPr/>
          <p:nvPr/>
        </p:nvSpPr>
        <p:spPr>
          <a:xfrm>
            <a:off x="457200" y="2011680"/>
            <a:ext cx="3520440" cy="685800"/>
          </a:xfrm>
          <a:prstGeom prst="rect">
            <a:avLst/>
          </a:prstGeom>
          <a:noFill/>
          <a:ln/>
        </p:spPr>
        <p:txBody>
          <a:bodyPr wrap="square" rtlCol="0" anchor="ctr"/>
          <a:lstStyle/>
          <a:p>
            <a:pPr algn="ctr" indent="0" marL="0">
              <a:buNone/>
            </a:pPr>
            <a:r>
              <a:rPr lang="en-US" sz="3200" b="1" dirty="0">
                <a:solidFill>
                  <a:srgbClr val="1B2A4A"/>
                </a:solidFill>
                <a:latin typeface="Cambria" pitchFamily="34" charset="0"/>
                <a:ea typeface="Cambria" pitchFamily="34" charset="-122"/>
                <a:cs typeface="Cambria" pitchFamily="34" charset="-120"/>
              </a:rPr>
              <a:t>9</a:t>
            </a:r>
            <a:endParaRPr lang="en-US" sz="3200" dirty="0"/>
          </a:p>
        </p:txBody>
      </p:sp>
      <p:sp>
        <p:nvSpPr>
          <p:cNvPr id="7" name="Text 5"/>
          <p:cNvSpPr/>
          <p:nvPr/>
        </p:nvSpPr>
        <p:spPr>
          <a:xfrm>
            <a:off x="640080" y="2697480"/>
            <a:ext cx="3154680" cy="640080"/>
          </a:xfrm>
          <a:prstGeom prst="rect">
            <a:avLst/>
          </a:prstGeom>
          <a:noFill/>
          <a:ln/>
        </p:spPr>
        <p:txBody>
          <a:bodyPr wrap="square" rtlCol="0" anchor="ctr"/>
          <a:lstStyle/>
          <a:p>
            <a:pPr algn="ctr" indent="0" marL="0">
              <a:buNone/>
            </a:pPr>
            <a:r>
              <a:rPr lang="en-US" sz="1100" dirty="0">
                <a:solidFill>
                  <a:srgbClr val="6B6B66"/>
                </a:solidFill>
                <a:latin typeface="Calibri" pitchFamily="34" charset="0"/>
                <a:ea typeface="Calibri" pitchFamily="34" charset="-122"/>
                <a:cs typeface="Calibri" pitchFamily="34" charset="-120"/>
              </a:rPr>
              <a:t>licensed PSP competitors,</a:t>
            </a:r>
            <a:endParaRPr lang="en-US" sz="1100" dirty="0"/>
          </a:p>
          <a:p>
            <a:pPr algn="ctr" indent="0" marL="0">
              <a:buNone/>
            </a:pPr>
            <a:r>
              <a:rPr lang="en-US" sz="1100" dirty="0">
                <a:solidFill>
                  <a:srgbClr val="6B6B66"/>
                </a:solidFill>
                <a:latin typeface="Calibri" pitchFamily="34" charset="0"/>
                <a:ea typeface="Calibri" pitchFamily="34" charset="-122"/>
                <a:cs typeface="Calibri" pitchFamily="34" charset="-120"/>
              </a:rPr>
              <a:t>none commanding decisive share</a:t>
            </a:r>
            <a:endParaRPr lang="en-US" sz="1100" dirty="0"/>
          </a:p>
        </p:txBody>
      </p:sp>
      <p:sp>
        <p:nvSpPr>
          <p:cNvPr id="8" name="Shape 6"/>
          <p:cNvSpPr/>
          <p:nvPr/>
        </p:nvSpPr>
        <p:spPr>
          <a:xfrm>
            <a:off x="4251960" y="1874520"/>
            <a:ext cx="3520440" cy="1554480"/>
          </a:xfrm>
          <a:prstGeom prst="roundRect">
            <a:avLst>
              <a:gd name="adj" fmla="val 4706"/>
            </a:avLst>
          </a:prstGeom>
          <a:solidFill>
            <a:srgbClr val="F4F2ED"/>
          </a:solidFill>
          <a:ln w="9525">
            <a:solidFill>
              <a:srgbClr val="E4E0D6"/>
            </a:solidFill>
            <a:prstDash val="solid"/>
          </a:ln>
        </p:spPr>
      </p:sp>
      <p:sp>
        <p:nvSpPr>
          <p:cNvPr id="9" name="Text 7"/>
          <p:cNvSpPr/>
          <p:nvPr/>
        </p:nvSpPr>
        <p:spPr>
          <a:xfrm>
            <a:off x="4251960" y="2011680"/>
            <a:ext cx="3520440" cy="685800"/>
          </a:xfrm>
          <a:prstGeom prst="rect">
            <a:avLst/>
          </a:prstGeom>
          <a:noFill/>
          <a:ln/>
        </p:spPr>
        <p:txBody>
          <a:bodyPr wrap="square" rtlCol="0" anchor="ctr"/>
          <a:lstStyle/>
          <a:p>
            <a:pPr algn="ctr" indent="0" marL="0">
              <a:buNone/>
            </a:pPr>
            <a:r>
              <a:rPr lang="en-US" sz="3200" b="1" dirty="0">
                <a:solidFill>
                  <a:srgbClr val="1B2A4A"/>
                </a:solidFill>
                <a:latin typeface="Cambria" pitchFamily="34" charset="0"/>
                <a:ea typeface="Cambria" pitchFamily="34" charset="-122"/>
                <a:cs typeface="Cambria" pitchFamily="34" charset="-120"/>
              </a:rPr>
              <a:t>41M+</a:t>
            </a:r>
            <a:endParaRPr lang="en-US" sz="3200" dirty="0"/>
          </a:p>
        </p:txBody>
      </p:sp>
      <p:sp>
        <p:nvSpPr>
          <p:cNvPr id="10" name="Text 8"/>
          <p:cNvSpPr/>
          <p:nvPr/>
        </p:nvSpPr>
        <p:spPr>
          <a:xfrm>
            <a:off x="4434840" y="2697480"/>
            <a:ext cx="3154680" cy="640080"/>
          </a:xfrm>
          <a:prstGeom prst="rect">
            <a:avLst/>
          </a:prstGeom>
          <a:noFill/>
          <a:ln/>
        </p:spPr>
        <p:txBody>
          <a:bodyPr wrap="square" rtlCol="0" anchor="ctr"/>
          <a:lstStyle/>
          <a:p>
            <a:pPr algn="ctr" indent="0" marL="0">
              <a:buNone/>
            </a:pPr>
            <a:r>
              <a:rPr lang="en-US" sz="1100" dirty="0">
                <a:solidFill>
                  <a:srgbClr val="6B6B66"/>
                </a:solidFill>
                <a:latin typeface="Calibri" pitchFamily="34" charset="0"/>
                <a:ea typeface="Calibri" pitchFamily="34" charset="-122"/>
                <a:cs typeface="Calibri" pitchFamily="34" charset="-120"/>
              </a:rPr>
              <a:t>Banglalink subscriber base —</a:t>
            </a:r>
            <a:endParaRPr lang="en-US" sz="1100" dirty="0"/>
          </a:p>
          <a:p>
            <a:pPr algn="ctr" indent="0" marL="0">
              <a:buNone/>
            </a:pPr>
            <a:r>
              <a:rPr lang="en-US" sz="1100" dirty="0">
                <a:solidFill>
                  <a:srgbClr val="6B6B66"/>
                </a:solidFill>
                <a:latin typeface="Calibri" pitchFamily="34" charset="0"/>
                <a:ea typeface="Calibri" pitchFamily="34" charset="-122"/>
                <a:cs typeface="Calibri" pitchFamily="34" charset="-120"/>
              </a:rPr>
              <a:t>near-zero-cost acquisition channel</a:t>
            </a:r>
            <a:endParaRPr lang="en-US" sz="1100" dirty="0"/>
          </a:p>
        </p:txBody>
      </p:sp>
      <p:sp>
        <p:nvSpPr>
          <p:cNvPr id="11" name="Shape 9"/>
          <p:cNvSpPr/>
          <p:nvPr/>
        </p:nvSpPr>
        <p:spPr>
          <a:xfrm>
            <a:off x="8046720" y="1874520"/>
            <a:ext cx="3520440" cy="1554480"/>
          </a:xfrm>
          <a:prstGeom prst="roundRect">
            <a:avLst>
              <a:gd name="adj" fmla="val 4706"/>
            </a:avLst>
          </a:prstGeom>
          <a:solidFill>
            <a:srgbClr val="F4F2ED"/>
          </a:solidFill>
          <a:ln w="9525">
            <a:solidFill>
              <a:srgbClr val="E4E0D6"/>
            </a:solidFill>
            <a:prstDash val="solid"/>
          </a:ln>
        </p:spPr>
      </p:sp>
      <p:sp>
        <p:nvSpPr>
          <p:cNvPr id="12" name="Text 10"/>
          <p:cNvSpPr/>
          <p:nvPr/>
        </p:nvSpPr>
        <p:spPr>
          <a:xfrm>
            <a:off x="8046720" y="2011680"/>
            <a:ext cx="3520440" cy="685800"/>
          </a:xfrm>
          <a:prstGeom prst="rect">
            <a:avLst/>
          </a:prstGeom>
          <a:noFill/>
          <a:ln/>
        </p:spPr>
        <p:txBody>
          <a:bodyPr wrap="square" rtlCol="0" anchor="ctr"/>
          <a:lstStyle/>
          <a:p>
            <a:pPr algn="ctr" indent="0" marL="0">
              <a:buNone/>
            </a:pPr>
            <a:r>
              <a:rPr lang="en-US" sz="3200" b="1" dirty="0">
                <a:solidFill>
                  <a:srgbClr val="1B2A4A"/>
                </a:solidFill>
                <a:latin typeface="Cambria" pitchFamily="34" charset="0"/>
                <a:ea typeface="Cambria" pitchFamily="34" charset="-122"/>
                <a:cs typeface="Cambria" pitchFamily="34" charset="-120"/>
              </a:rPr>
              <a:t>3–5 yrs</a:t>
            </a:r>
            <a:endParaRPr lang="en-US" sz="3200" dirty="0"/>
          </a:p>
        </p:txBody>
      </p:sp>
      <p:sp>
        <p:nvSpPr>
          <p:cNvPr id="13" name="Text 11"/>
          <p:cNvSpPr/>
          <p:nvPr/>
        </p:nvSpPr>
        <p:spPr>
          <a:xfrm>
            <a:off x="8229600" y="2697480"/>
            <a:ext cx="3154680" cy="640080"/>
          </a:xfrm>
          <a:prstGeom prst="rect">
            <a:avLst/>
          </a:prstGeom>
          <a:noFill/>
          <a:ln/>
        </p:spPr>
        <p:txBody>
          <a:bodyPr wrap="square" rtlCol="0" anchor="ctr"/>
          <a:lstStyle/>
          <a:p>
            <a:pPr algn="ctr" indent="0" marL="0">
              <a:buNone/>
            </a:pPr>
            <a:r>
              <a:rPr lang="en-US" sz="1100" dirty="0">
                <a:solidFill>
                  <a:srgbClr val="6B6B66"/>
                </a:solidFill>
                <a:latin typeface="Calibri" pitchFamily="34" charset="0"/>
                <a:ea typeface="Calibri" pitchFamily="34" charset="-122"/>
                <a:cs typeface="Calibri" pitchFamily="34" charset="-120"/>
              </a:rPr>
              <a:t>estimated path to profitability,</a:t>
            </a:r>
            <a:endParaRPr lang="en-US" sz="1100" dirty="0"/>
          </a:p>
          <a:p>
            <a:pPr algn="ctr" indent="0" marL="0">
              <a:buNone/>
            </a:pPr>
            <a:r>
              <a:rPr lang="en-US" sz="1100" dirty="0">
                <a:solidFill>
                  <a:srgbClr val="6B6B66"/>
                </a:solidFill>
                <a:latin typeface="Calibri" pitchFamily="34" charset="0"/>
                <a:ea typeface="Calibri" pitchFamily="34" charset="-122"/>
                <a:cs typeface="Calibri" pitchFamily="34" charset="-120"/>
              </a:rPr>
              <a:t>merchant-pace dependent</a:t>
            </a:r>
            <a:endParaRPr lang="en-US" sz="1100" dirty="0"/>
          </a:p>
        </p:txBody>
      </p:sp>
      <p:sp>
        <p:nvSpPr>
          <p:cNvPr id="14" name="Text 12"/>
          <p:cNvSpPr/>
          <p:nvPr/>
        </p:nvSpPr>
        <p:spPr>
          <a:xfrm>
            <a:off x="457200" y="3703320"/>
            <a:ext cx="11247120" cy="1554480"/>
          </a:xfrm>
          <a:prstGeom prst="rect">
            <a:avLst/>
          </a:prstGeom>
          <a:noFill/>
          <a:ln/>
        </p:spPr>
        <p:txBody>
          <a:bodyPr wrap="square" rtlCol="0" anchor="t"/>
          <a:lstStyle/>
          <a:p>
            <a:pPr marL="177800" indent="-1778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Bangladesh Bank has already issued NEO PSP's NOC; the question is speed and sequence, not whether to enter.</a:t>
            </a:r>
            <a:endParaRPr lang="en-US" sz="1300" dirty="0"/>
          </a:p>
          <a:p>
            <a:pPr marL="177800" indent="-1778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Regulatory tailwind: Bangla QR interoperability (live July 2026) removes the closed-loop network advantage that built bKash's scale.</a:t>
            </a:r>
            <a:endParaRPr lang="en-US" sz="1300" dirty="0"/>
          </a:p>
          <a:p>
            <a:pPr marL="177800" indent="-1778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Investment priority: merchant acquisition and core-rail reliability first — product breadth sequenced to Horizon 3.</a:t>
            </a:r>
            <a:endParaRPr lang="en-US" sz="1300" dirty="0"/>
          </a:p>
        </p:txBody>
      </p:sp>
      <p:sp>
        <p:nvSpPr>
          <p:cNvPr id="15" name="Shape 13"/>
          <p:cNvSpPr/>
          <p:nvPr/>
        </p:nvSpPr>
        <p:spPr>
          <a:xfrm>
            <a:off x="457200" y="5806440"/>
            <a:ext cx="11247120" cy="566928"/>
          </a:xfrm>
          <a:prstGeom prst="roundRect">
            <a:avLst>
              <a:gd name="adj" fmla="val 9677"/>
            </a:avLst>
          </a:prstGeom>
          <a:solidFill>
            <a:srgbClr val="F4F2ED"/>
          </a:solidFill>
          <a:ln w="9525">
            <a:solidFill>
              <a:srgbClr val="E4E0D6"/>
            </a:solidFill>
            <a:prstDash val="solid"/>
          </a:ln>
        </p:spPr>
      </p:sp>
      <p:sp>
        <p:nvSpPr>
          <p:cNvPr id="16" name="Text 14"/>
          <p:cNvSpPr/>
          <p:nvPr/>
        </p:nvSpPr>
        <p:spPr>
          <a:xfrm>
            <a:off x="685800" y="5806440"/>
            <a:ext cx="10789920" cy="566928"/>
          </a:xfrm>
          <a:prstGeom prst="rect">
            <a:avLst/>
          </a:prstGeom>
          <a:noFill/>
          <a:ln/>
        </p:spPr>
        <p:txBody>
          <a:bodyPr wrap="square" rtlCol="0" anchor="ctr"/>
          <a:lstStyle/>
          <a:p>
            <a:pPr indent="0" marL="0">
              <a:buNone/>
            </a:pPr>
            <a:r>
              <a:rPr lang="en-US" sz="1000" b="1" dirty="0">
                <a:solidFill>
                  <a:srgbClr val="D85A30"/>
                </a:solidFill>
                <a:latin typeface="Calibri" pitchFamily="34" charset="0"/>
                <a:ea typeface="Calibri" pitchFamily="34" charset="-122"/>
                <a:cs typeface="Calibri" pitchFamily="34" charset="-120"/>
              </a:rPr>
              <a:t>EXECUTIVE TAKEAWAY   </a:t>
            </a:r>
            <a:pPr indent="0" marL="0">
              <a:buNone/>
            </a:pPr>
            <a:r>
              <a:rPr lang="en-US" sz="1050" dirty="0">
                <a:solidFill>
                  <a:srgbClr val="222222"/>
                </a:solidFill>
                <a:latin typeface="Calibri" pitchFamily="34" charset="0"/>
                <a:ea typeface="Calibri" pitchFamily="34" charset="-122"/>
                <a:cs typeface="Calibri" pitchFamily="34" charset="-120"/>
              </a:rPr>
              <a:t>Approve NEO PSP as a funded strategic priority — not an incubated side project.</a:t>
            </a:r>
            <a:endParaRPr lang="en-US" sz="1000" dirty="0"/>
          </a:p>
        </p:txBody>
      </p:sp>
      <p:sp>
        <p:nvSpPr>
          <p:cNvPr id="17" name="Text 15"/>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6"/>
                </a:solidFill>
                <a:latin typeface="Calibri" pitchFamily="34" charset="0"/>
                <a:ea typeface="Calibri" pitchFamily="34" charset="-122"/>
                <a:cs typeface="Calibri" pitchFamily="34" charset="-120"/>
              </a:rPr>
              <a:t>2 / 12</a:t>
            </a:r>
            <a:endParaRPr lang="en-US" sz="900" dirty="0"/>
          </a:p>
        </p:txBody>
      </p:sp>
      <p:sp>
        <p:nvSpPr>
          <p:cNvPr id="18" name="Text 16"/>
          <p:cNvSpPr/>
          <p:nvPr/>
        </p:nvSpPr>
        <p:spPr>
          <a:xfrm>
            <a:off x="457200" y="6446520"/>
            <a:ext cx="5486400" cy="274320"/>
          </a:xfrm>
          <a:prstGeom prst="rect">
            <a:avLst/>
          </a:prstGeom>
          <a:noFill/>
          <a:ln/>
        </p:spPr>
        <p:txBody>
          <a:bodyPr wrap="square" rtlCol="0" anchor="ctr"/>
          <a:lstStyle/>
          <a:p>
            <a:pPr indent="0" marL="0">
              <a:buNone/>
            </a:pPr>
            <a:r>
              <a:rPr lang="en-US" sz="800" spc="100" kern="0" dirty="0">
                <a:solidFill>
                  <a:srgbClr val="AFAFAA"/>
                </a:solidFill>
                <a:latin typeface="Calibri" pitchFamily="34" charset="0"/>
                <a:ea typeface="Calibri" pitchFamily="34" charset="-122"/>
                <a:cs typeface="Calibri" pitchFamily="34" charset="-120"/>
              </a:rPr>
              <a:t>NEO PSP STRATEGIC GROWTH BLUEPRINT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274320"/>
          </a:xfrm>
          <a:prstGeom prst="rect">
            <a:avLst/>
          </a:prstGeom>
          <a:noFill/>
          <a:ln/>
        </p:spPr>
        <p:txBody>
          <a:bodyPr wrap="square" rtlCol="0" anchor="ctr"/>
          <a:lstStyle/>
          <a:p>
            <a:pPr indent="0" marL="0">
              <a:buNone/>
            </a:pPr>
            <a:r>
              <a:rPr lang="en-US" sz="1100" b="1" spc="120" kern="0" dirty="0">
                <a:solidFill>
                  <a:srgbClr val="D85A30"/>
                </a:solidFill>
                <a:latin typeface="Calibri" pitchFamily="34" charset="0"/>
                <a:ea typeface="Calibri" pitchFamily="34" charset="-122"/>
                <a:cs typeface="Calibri" pitchFamily="34" charset="-120"/>
              </a:rPr>
              <a:t>MARKET CONTEXT</a:t>
            </a:r>
            <a:endParaRPr lang="en-US" sz="1100" dirty="0"/>
          </a:p>
        </p:txBody>
      </p:sp>
      <p:sp>
        <p:nvSpPr>
          <p:cNvPr id="3" name="Text 1"/>
          <p:cNvSpPr/>
          <p:nvPr/>
        </p:nvSpPr>
        <p:spPr>
          <a:xfrm>
            <a:off x="457200" y="566928"/>
            <a:ext cx="11247120" cy="45720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The opportunity sits one layer up the stack</a:t>
            </a:r>
            <a:endParaRPr lang="en-US" sz="2200" dirty="0"/>
          </a:p>
        </p:txBody>
      </p:sp>
      <p:sp>
        <p:nvSpPr>
          <p:cNvPr id="4" name="Text 2"/>
          <p:cNvSpPr/>
          <p:nvPr/>
        </p:nvSpPr>
        <p:spPr>
          <a:xfrm>
            <a:off x="457200" y="1024128"/>
            <a:ext cx="11247120" cy="685800"/>
          </a:xfrm>
          <a:prstGeom prst="rect">
            <a:avLst/>
          </a:prstGeom>
          <a:noFill/>
          <a:ln/>
        </p:spPr>
        <p:txBody>
          <a:bodyPr wrap="square" rtlCol="0" anchor="ctr"/>
          <a:lstStyle/>
          <a:p>
            <a:pPr indent="0" marL="0">
              <a:lnSpc>
                <a:spcPct val="105000"/>
              </a:lnSpc>
              <a:buNone/>
            </a:pPr>
            <a:r>
              <a:rPr lang="en-US" sz="1550" i="1" dirty="0">
                <a:solidFill>
                  <a:srgbClr val="222222"/>
                </a:solidFill>
                <a:latin typeface="Calibri" pitchFamily="34" charset="0"/>
                <a:ea typeface="Calibri" pitchFamily="34" charset="-122"/>
                <a:cs typeface="Calibri" pitchFamily="34" charset="-120"/>
              </a:rPr>
              <a:t>The MFS wallet layer is a settled duopoly-plus-one. The PSP/merchant-payments layer is still being formed.</a:t>
            </a:r>
            <a:endParaRPr lang="en-US" sz="1550" dirty="0"/>
          </a:p>
        </p:txBody>
      </p:sp>
      <p:graphicFrame>
        <p:nvGraphicFramePr>
          <p:cNvPr id="5" name="Chart 0" descr=""/>
          <p:cNvGraphicFramePr/>
          <p:nvPr/>
        </p:nvGraphicFramePr>
        <p:xfrm>
          <a:off x="457200" y="192024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766560" y="1965960"/>
            <a:ext cx="4937760" cy="3200400"/>
          </a:xfrm>
          <a:prstGeom prst="rect">
            <a:avLst/>
          </a:prstGeom>
          <a:noFill/>
          <a:ln/>
        </p:spPr>
        <p:txBody>
          <a:bodyPr wrap="square" rtlCol="0" anchor="t"/>
          <a:lstStyle/>
          <a:p>
            <a:pPr marL="177800" indent="-177800">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bKash (~40%), Nagad (~18–25%), Rocket (~12%) have locked in switching costs and agent-network moats.</a:t>
            </a:r>
            <a:endParaRPr lang="en-US" sz="1250" dirty="0"/>
          </a:p>
          <a:p>
            <a:pPr marL="177800" indent="-177800">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The 9-player PSP field has no dominant player — merchant relationships are still being formed.</a:t>
            </a:r>
            <a:endParaRPr lang="en-US" sz="1250" dirty="0"/>
          </a:p>
          <a:p>
            <a:pPr marL="177800" indent="-177800">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Share is winnable now in a way it will not be in three years, once open banking/PISP matures.</a:t>
            </a:r>
            <a:endParaRPr lang="en-US" sz="1250" dirty="0"/>
          </a:p>
        </p:txBody>
      </p:sp>
      <p:sp>
        <p:nvSpPr>
          <p:cNvPr id="7" name="Shape 4"/>
          <p:cNvSpPr/>
          <p:nvPr/>
        </p:nvSpPr>
        <p:spPr>
          <a:xfrm>
            <a:off x="457200" y="5806440"/>
            <a:ext cx="11247120" cy="566928"/>
          </a:xfrm>
          <a:prstGeom prst="roundRect">
            <a:avLst>
              <a:gd name="adj" fmla="val 9677"/>
            </a:avLst>
          </a:prstGeom>
          <a:solidFill>
            <a:srgbClr val="F4F2ED"/>
          </a:solidFill>
          <a:ln w="9525">
            <a:solidFill>
              <a:srgbClr val="E4E0D6"/>
            </a:solidFill>
            <a:prstDash val="solid"/>
          </a:ln>
        </p:spPr>
      </p:sp>
      <p:sp>
        <p:nvSpPr>
          <p:cNvPr id="8" name="Text 5"/>
          <p:cNvSpPr/>
          <p:nvPr/>
        </p:nvSpPr>
        <p:spPr>
          <a:xfrm>
            <a:off x="685800" y="5806440"/>
            <a:ext cx="10789920" cy="566928"/>
          </a:xfrm>
          <a:prstGeom prst="rect">
            <a:avLst/>
          </a:prstGeom>
          <a:noFill/>
          <a:ln/>
        </p:spPr>
        <p:txBody>
          <a:bodyPr wrap="square" rtlCol="0" anchor="ctr"/>
          <a:lstStyle/>
          <a:p>
            <a:pPr indent="0" marL="0">
              <a:buNone/>
            </a:pPr>
            <a:r>
              <a:rPr lang="en-US" sz="1000" b="1" dirty="0">
                <a:solidFill>
                  <a:srgbClr val="D85A30"/>
                </a:solidFill>
                <a:latin typeface="Calibri" pitchFamily="34" charset="0"/>
                <a:ea typeface="Calibri" pitchFamily="34" charset="-122"/>
                <a:cs typeface="Calibri" pitchFamily="34" charset="-120"/>
              </a:rPr>
              <a:t>EXECUTIVE TAKEAWAY   </a:t>
            </a:r>
            <a:pPr indent="0" marL="0">
              <a:buNone/>
            </a:pPr>
            <a:r>
              <a:rPr lang="en-US" sz="1050" dirty="0">
                <a:solidFill>
                  <a:srgbClr val="222222"/>
                </a:solidFill>
                <a:latin typeface="Calibri" pitchFamily="34" charset="0"/>
                <a:ea typeface="Calibri" pitchFamily="34" charset="-122"/>
                <a:cs typeface="Calibri" pitchFamily="34" charset="-120"/>
              </a:rPr>
              <a:t>Treat the MFS leaderboard as a boundary condition, not a target — compete one layer up.</a:t>
            </a:r>
            <a:endParaRPr lang="en-US" sz="1000" dirty="0"/>
          </a:p>
        </p:txBody>
      </p:sp>
      <p:sp>
        <p:nvSpPr>
          <p:cNvPr id="9" name="Text 6"/>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6"/>
                </a:solidFill>
                <a:latin typeface="Calibri" pitchFamily="34" charset="0"/>
                <a:ea typeface="Calibri" pitchFamily="34" charset="-122"/>
                <a:cs typeface="Calibri" pitchFamily="34" charset="-120"/>
              </a:rPr>
              <a:t>3 / 12</a:t>
            </a:r>
            <a:endParaRPr lang="en-US" sz="900" dirty="0"/>
          </a:p>
        </p:txBody>
      </p:sp>
      <p:sp>
        <p:nvSpPr>
          <p:cNvPr id="10" name="Text 7"/>
          <p:cNvSpPr/>
          <p:nvPr/>
        </p:nvSpPr>
        <p:spPr>
          <a:xfrm>
            <a:off x="457200" y="6446520"/>
            <a:ext cx="5486400" cy="274320"/>
          </a:xfrm>
          <a:prstGeom prst="rect">
            <a:avLst/>
          </a:prstGeom>
          <a:noFill/>
          <a:ln/>
        </p:spPr>
        <p:txBody>
          <a:bodyPr wrap="square" rtlCol="0" anchor="ctr"/>
          <a:lstStyle/>
          <a:p>
            <a:pPr indent="0" marL="0">
              <a:buNone/>
            </a:pPr>
            <a:r>
              <a:rPr lang="en-US" sz="800" spc="100" kern="0" dirty="0">
                <a:solidFill>
                  <a:srgbClr val="AFAFAA"/>
                </a:solidFill>
                <a:latin typeface="Calibri" pitchFamily="34" charset="0"/>
                <a:ea typeface="Calibri" pitchFamily="34" charset="-122"/>
                <a:cs typeface="Calibri" pitchFamily="34" charset="-120"/>
              </a:rPr>
              <a:t>NEO PSP STRATEGIC GROWTH BLUEPRINT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274320"/>
          </a:xfrm>
          <a:prstGeom prst="rect">
            <a:avLst/>
          </a:prstGeom>
          <a:noFill/>
          <a:ln/>
        </p:spPr>
        <p:txBody>
          <a:bodyPr wrap="square" rtlCol="0" anchor="ctr"/>
          <a:lstStyle/>
          <a:p>
            <a:pPr indent="0" marL="0">
              <a:buNone/>
            </a:pPr>
            <a:r>
              <a:rPr lang="en-US" sz="1100" b="1" spc="120" kern="0" dirty="0">
                <a:solidFill>
                  <a:srgbClr val="D85A30"/>
                </a:solidFill>
                <a:latin typeface="Calibri" pitchFamily="34" charset="0"/>
                <a:ea typeface="Calibri" pitchFamily="34" charset="-122"/>
                <a:cs typeface="Calibri" pitchFamily="34" charset="-120"/>
              </a:rPr>
              <a:t>REGULATORY ENVIRONMENT</a:t>
            </a:r>
            <a:endParaRPr lang="en-US" sz="1100" dirty="0"/>
          </a:p>
        </p:txBody>
      </p:sp>
      <p:sp>
        <p:nvSpPr>
          <p:cNvPr id="3" name="Text 1"/>
          <p:cNvSpPr/>
          <p:nvPr/>
        </p:nvSpPr>
        <p:spPr>
          <a:xfrm>
            <a:off x="457200" y="566928"/>
            <a:ext cx="11247120" cy="45720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Policy is actively dismantling the incumbents' moat</a:t>
            </a:r>
            <a:endParaRPr lang="en-US" sz="2200" dirty="0"/>
          </a:p>
        </p:txBody>
      </p:sp>
      <p:sp>
        <p:nvSpPr>
          <p:cNvPr id="4" name="Text 2"/>
          <p:cNvSpPr/>
          <p:nvPr/>
        </p:nvSpPr>
        <p:spPr>
          <a:xfrm>
            <a:off x="457200" y="1024128"/>
            <a:ext cx="11247120" cy="685800"/>
          </a:xfrm>
          <a:prstGeom prst="rect">
            <a:avLst/>
          </a:prstGeom>
          <a:noFill/>
          <a:ln/>
        </p:spPr>
        <p:txBody>
          <a:bodyPr wrap="square" rtlCol="0" anchor="ctr"/>
          <a:lstStyle/>
          <a:p>
            <a:pPr indent="0" marL="0">
              <a:lnSpc>
                <a:spcPct val="105000"/>
              </a:lnSpc>
              <a:buNone/>
            </a:pPr>
            <a:r>
              <a:rPr lang="en-US" sz="1550" i="1" dirty="0">
                <a:solidFill>
                  <a:srgbClr val="222222"/>
                </a:solidFill>
                <a:latin typeface="Calibri" pitchFamily="34" charset="0"/>
                <a:ea typeface="Calibri" pitchFamily="34" charset="-122"/>
                <a:cs typeface="Calibri" pitchFamily="34" charset="-120"/>
              </a:rPr>
              <a:t>Bangla QR interoperability (mandatory, live July 2026) means NEO PSP doesn't need to win the wallet war to reach a customer.</a:t>
            </a:r>
            <a:endParaRPr lang="en-US" sz="1550" dirty="0"/>
          </a:p>
        </p:txBody>
      </p:sp>
      <p:sp>
        <p:nvSpPr>
          <p:cNvPr id="5" name="Shape 3"/>
          <p:cNvSpPr/>
          <p:nvPr/>
        </p:nvSpPr>
        <p:spPr>
          <a:xfrm>
            <a:off x="822960" y="3291840"/>
            <a:ext cx="9582912" cy="0"/>
          </a:xfrm>
          <a:prstGeom prst="line">
            <a:avLst/>
          </a:prstGeom>
          <a:noFill/>
          <a:ln w="19050">
            <a:solidFill>
              <a:srgbClr val="C7C2B4"/>
            </a:solidFill>
            <a:prstDash val="solid"/>
          </a:ln>
        </p:spPr>
      </p:sp>
      <p:sp>
        <p:nvSpPr>
          <p:cNvPr id="6" name="Shape 4"/>
          <p:cNvSpPr/>
          <p:nvPr/>
        </p:nvSpPr>
        <p:spPr>
          <a:xfrm>
            <a:off x="740664" y="3209544"/>
            <a:ext cx="164592" cy="164592"/>
          </a:xfrm>
          <a:prstGeom prst="ellipse">
            <a:avLst/>
          </a:prstGeom>
          <a:solidFill>
            <a:srgbClr val="D85A30"/>
          </a:solidFill>
          <a:ln w="19050">
            <a:solidFill>
              <a:srgbClr val="FFFFFF"/>
            </a:solidFill>
            <a:prstDash val="solid"/>
          </a:ln>
        </p:spPr>
      </p:sp>
      <p:sp>
        <p:nvSpPr>
          <p:cNvPr id="7" name="Text 5"/>
          <p:cNvSpPr/>
          <p:nvPr/>
        </p:nvSpPr>
        <p:spPr>
          <a:xfrm>
            <a:off x="137160" y="2697480"/>
            <a:ext cx="1371600" cy="365760"/>
          </a:xfrm>
          <a:prstGeom prst="rect">
            <a:avLst/>
          </a:prstGeom>
          <a:noFill/>
          <a:ln/>
        </p:spPr>
        <p:txBody>
          <a:bodyPr wrap="square"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2024</a:t>
            </a:r>
            <a:endParaRPr lang="en-US" sz="1250" dirty="0"/>
          </a:p>
        </p:txBody>
      </p:sp>
      <p:sp>
        <p:nvSpPr>
          <p:cNvPr id="8" name="Text 6"/>
          <p:cNvSpPr/>
          <p:nvPr/>
        </p:nvSpPr>
        <p:spPr>
          <a:xfrm>
            <a:off x="0" y="3474720"/>
            <a:ext cx="1645920" cy="640080"/>
          </a:xfrm>
          <a:prstGeom prst="rect">
            <a:avLst/>
          </a:prstGeom>
          <a:noFill/>
          <a:ln/>
        </p:spPr>
        <p:txBody>
          <a:bodyPr wrap="square"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Payment &amp; Settlement</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Systems Act passed</a:t>
            </a:r>
            <a:endParaRPr lang="en-US" sz="1000" dirty="0"/>
          </a:p>
        </p:txBody>
      </p:sp>
      <p:sp>
        <p:nvSpPr>
          <p:cNvPr id="9" name="Shape 7"/>
          <p:cNvSpPr/>
          <p:nvPr/>
        </p:nvSpPr>
        <p:spPr>
          <a:xfrm>
            <a:off x="3136392" y="3209544"/>
            <a:ext cx="164592" cy="164592"/>
          </a:xfrm>
          <a:prstGeom prst="ellipse">
            <a:avLst/>
          </a:prstGeom>
          <a:solidFill>
            <a:srgbClr val="D85A30"/>
          </a:solidFill>
          <a:ln w="19050">
            <a:solidFill>
              <a:srgbClr val="FFFFFF"/>
            </a:solidFill>
            <a:prstDash val="solid"/>
          </a:ln>
        </p:spPr>
      </p:sp>
      <p:sp>
        <p:nvSpPr>
          <p:cNvPr id="10" name="Text 8"/>
          <p:cNvSpPr/>
          <p:nvPr/>
        </p:nvSpPr>
        <p:spPr>
          <a:xfrm>
            <a:off x="2532888" y="2697480"/>
            <a:ext cx="1371600" cy="365760"/>
          </a:xfrm>
          <a:prstGeom prst="rect">
            <a:avLst/>
          </a:prstGeom>
          <a:noFill/>
          <a:ln/>
        </p:spPr>
        <p:txBody>
          <a:bodyPr wrap="square"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Dec 2025</a:t>
            </a:r>
            <a:endParaRPr lang="en-US" sz="1250" dirty="0"/>
          </a:p>
        </p:txBody>
      </p:sp>
      <p:sp>
        <p:nvSpPr>
          <p:cNvPr id="11" name="Text 9"/>
          <p:cNvSpPr/>
          <p:nvPr/>
        </p:nvSpPr>
        <p:spPr>
          <a:xfrm>
            <a:off x="2395728" y="3474720"/>
            <a:ext cx="1645920" cy="640080"/>
          </a:xfrm>
          <a:prstGeom prst="rect">
            <a:avLst/>
          </a:prstGeom>
          <a:noFill/>
          <a:ln/>
        </p:spPr>
        <p:txBody>
          <a:bodyPr wrap="square"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NEO PSP receives</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Bangladesh Bank NOC</a:t>
            </a:r>
            <a:endParaRPr lang="en-US" sz="1000" dirty="0"/>
          </a:p>
        </p:txBody>
      </p:sp>
      <p:sp>
        <p:nvSpPr>
          <p:cNvPr id="12" name="Shape 10"/>
          <p:cNvSpPr/>
          <p:nvPr/>
        </p:nvSpPr>
        <p:spPr>
          <a:xfrm>
            <a:off x="5532120" y="3209544"/>
            <a:ext cx="164592" cy="164592"/>
          </a:xfrm>
          <a:prstGeom prst="ellipse">
            <a:avLst/>
          </a:prstGeom>
          <a:solidFill>
            <a:srgbClr val="D85A30"/>
          </a:solidFill>
          <a:ln w="19050">
            <a:solidFill>
              <a:srgbClr val="FFFFFF"/>
            </a:solidFill>
            <a:prstDash val="solid"/>
          </a:ln>
        </p:spPr>
      </p:sp>
      <p:sp>
        <p:nvSpPr>
          <p:cNvPr id="13" name="Text 11"/>
          <p:cNvSpPr/>
          <p:nvPr/>
        </p:nvSpPr>
        <p:spPr>
          <a:xfrm>
            <a:off x="4928616" y="2697480"/>
            <a:ext cx="1371600" cy="365760"/>
          </a:xfrm>
          <a:prstGeom prst="rect">
            <a:avLst/>
          </a:prstGeom>
          <a:noFill/>
          <a:ln/>
        </p:spPr>
        <p:txBody>
          <a:bodyPr wrap="square"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Mar 2026</a:t>
            </a:r>
            <a:endParaRPr lang="en-US" sz="1250" dirty="0"/>
          </a:p>
        </p:txBody>
      </p:sp>
      <p:sp>
        <p:nvSpPr>
          <p:cNvPr id="14" name="Text 12"/>
          <p:cNvSpPr/>
          <p:nvPr/>
        </p:nvSpPr>
        <p:spPr>
          <a:xfrm>
            <a:off x="4791456" y="3474720"/>
            <a:ext cx="1645920" cy="640080"/>
          </a:xfrm>
          <a:prstGeom prst="rect">
            <a:avLst/>
          </a:prstGeom>
          <a:noFill/>
          <a:ln/>
        </p:spPr>
        <p:txBody>
          <a:bodyPr wrap="square"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Huawei partnership</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signed (Mukto Pay)</a:t>
            </a:r>
            <a:endParaRPr lang="en-US" sz="1000" dirty="0"/>
          </a:p>
        </p:txBody>
      </p:sp>
      <p:sp>
        <p:nvSpPr>
          <p:cNvPr id="15" name="Shape 13"/>
          <p:cNvSpPr/>
          <p:nvPr/>
        </p:nvSpPr>
        <p:spPr>
          <a:xfrm>
            <a:off x="7927848" y="3209544"/>
            <a:ext cx="164592" cy="164592"/>
          </a:xfrm>
          <a:prstGeom prst="ellipse">
            <a:avLst/>
          </a:prstGeom>
          <a:solidFill>
            <a:srgbClr val="D85A30"/>
          </a:solidFill>
          <a:ln w="19050">
            <a:solidFill>
              <a:srgbClr val="FFFFFF"/>
            </a:solidFill>
            <a:prstDash val="solid"/>
          </a:ln>
        </p:spPr>
      </p:sp>
      <p:sp>
        <p:nvSpPr>
          <p:cNvPr id="16" name="Text 14"/>
          <p:cNvSpPr/>
          <p:nvPr/>
        </p:nvSpPr>
        <p:spPr>
          <a:xfrm>
            <a:off x="7324344" y="2697480"/>
            <a:ext cx="1371600" cy="365760"/>
          </a:xfrm>
          <a:prstGeom prst="rect">
            <a:avLst/>
          </a:prstGeom>
          <a:noFill/>
          <a:ln/>
        </p:spPr>
        <p:txBody>
          <a:bodyPr wrap="square"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Jun 2026</a:t>
            </a:r>
            <a:endParaRPr lang="en-US" sz="1250" dirty="0"/>
          </a:p>
        </p:txBody>
      </p:sp>
      <p:sp>
        <p:nvSpPr>
          <p:cNvPr id="17" name="Text 15"/>
          <p:cNvSpPr/>
          <p:nvPr/>
        </p:nvSpPr>
        <p:spPr>
          <a:xfrm>
            <a:off x="7187184" y="3474720"/>
            <a:ext cx="1645920" cy="640080"/>
          </a:xfrm>
          <a:prstGeom prst="rect">
            <a:avLst/>
          </a:prstGeom>
          <a:noFill/>
          <a:ln/>
        </p:spPr>
        <p:txBody>
          <a:bodyPr wrap="square"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Open banking / PISP</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framework targeted</a:t>
            </a:r>
            <a:endParaRPr lang="en-US" sz="1000" dirty="0"/>
          </a:p>
        </p:txBody>
      </p:sp>
      <p:sp>
        <p:nvSpPr>
          <p:cNvPr id="18" name="Shape 16"/>
          <p:cNvSpPr/>
          <p:nvPr/>
        </p:nvSpPr>
        <p:spPr>
          <a:xfrm>
            <a:off x="10323576" y="3209544"/>
            <a:ext cx="164592" cy="164592"/>
          </a:xfrm>
          <a:prstGeom prst="ellipse">
            <a:avLst/>
          </a:prstGeom>
          <a:solidFill>
            <a:srgbClr val="D85A30"/>
          </a:solidFill>
          <a:ln w="19050">
            <a:solidFill>
              <a:srgbClr val="FFFFFF"/>
            </a:solidFill>
            <a:prstDash val="solid"/>
          </a:ln>
        </p:spPr>
      </p:sp>
      <p:sp>
        <p:nvSpPr>
          <p:cNvPr id="19" name="Text 17"/>
          <p:cNvSpPr/>
          <p:nvPr/>
        </p:nvSpPr>
        <p:spPr>
          <a:xfrm>
            <a:off x="9720072" y="2697480"/>
            <a:ext cx="1371600" cy="365760"/>
          </a:xfrm>
          <a:prstGeom prst="rect">
            <a:avLst/>
          </a:prstGeom>
          <a:noFill/>
          <a:ln/>
        </p:spPr>
        <p:txBody>
          <a:bodyPr wrap="square"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Jul 2026</a:t>
            </a:r>
            <a:endParaRPr lang="en-US" sz="1250" dirty="0"/>
          </a:p>
        </p:txBody>
      </p:sp>
      <p:sp>
        <p:nvSpPr>
          <p:cNvPr id="20" name="Text 18"/>
          <p:cNvSpPr/>
          <p:nvPr/>
        </p:nvSpPr>
        <p:spPr>
          <a:xfrm>
            <a:off x="9582912" y="3474720"/>
            <a:ext cx="1645920" cy="640080"/>
          </a:xfrm>
          <a:prstGeom prst="rect">
            <a:avLst/>
          </a:prstGeom>
          <a:noFill/>
          <a:ln/>
        </p:spPr>
        <p:txBody>
          <a:bodyPr wrap="square"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Bangla QR mandate</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takes effect</a:t>
            </a:r>
            <a:endParaRPr lang="en-US" sz="1000" dirty="0"/>
          </a:p>
        </p:txBody>
      </p:sp>
      <p:sp>
        <p:nvSpPr>
          <p:cNvPr id="21" name="Text 19"/>
          <p:cNvSpPr/>
          <p:nvPr/>
        </p:nvSpPr>
        <p:spPr>
          <a:xfrm>
            <a:off x="457200" y="4297680"/>
            <a:ext cx="11247120" cy="1463040"/>
          </a:xfrm>
          <a:prstGeom prst="rect">
            <a:avLst/>
          </a:prstGeom>
          <a:noFill/>
          <a:ln/>
        </p:spPr>
        <p:txBody>
          <a:bodyPr wrap="square" rtlCol="0" anchor="t"/>
          <a:lstStyle/>
          <a:p>
            <a:pPr marL="177800" indent="-177800">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Every participating institution's QR now works with every other's app — merchant coverage is no longer a moat to fight for.</a:t>
            </a:r>
            <a:endParaRPr lang="en-US" sz="1250" dirty="0"/>
          </a:p>
          <a:p>
            <a:pPr marL="177800" indent="-177800">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Bangladesh Bank has centrally floored MDR at 1%, giving predictable, regulator-anchored revenue economics.</a:t>
            </a:r>
            <a:endParaRPr lang="en-US" sz="1250" dirty="0"/>
          </a:p>
          <a:p>
            <a:pPr marL="177800" indent="-177800">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The window is time-bound: as open banking/PISP matures, more sophisticated competitors will enter the same white space.</a:t>
            </a:r>
            <a:endParaRPr lang="en-US" sz="1250" dirty="0"/>
          </a:p>
        </p:txBody>
      </p:sp>
      <p:sp>
        <p:nvSpPr>
          <p:cNvPr id="22" name="Shape 20"/>
          <p:cNvSpPr/>
          <p:nvPr/>
        </p:nvSpPr>
        <p:spPr>
          <a:xfrm>
            <a:off x="457200" y="5806440"/>
            <a:ext cx="11247120" cy="566928"/>
          </a:xfrm>
          <a:prstGeom prst="roundRect">
            <a:avLst>
              <a:gd name="adj" fmla="val 9677"/>
            </a:avLst>
          </a:prstGeom>
          <a:solidFill>
            <a:srgbClr val="F4F2ED"/>
          </a:solidFill>
          <a:ln w="9525">
            <a:solidFill>
              <a:srgbClr val="E4E0D6"/>
            </a:solidFill>
            <a:prstDash val="solid"/>
          </a:ln>
        </p:spPr>
      </p:sp>
      <p:sp>
        <p:nvSpPr>
          <p:cNvPr id="23" name="Text 21"/>
          <p:cNvSpPr/>
          <p:nvPr/>
        </p:nvSpPr>
        <p:spPr>
          <a:xfrm>
            <a:off x="685800" y="5806440"/>
            <a:ext cx="10789920" cy="566928"/>
          </a:xfrm>
          <a:prstGeom prst="rect">
            <a:avLst/>
          </a:prstGeom>
          <a:noFill/>
          <a:ln/>
        </p:spPr>
        <p:txBody>
          <a:bodyPr wrap="square" rtlCol="0" anchor="ctr"/>
          <a:lstStyle/>
          <a:p>
            <a:pPr indent="0" marL="0">
              <a:buNone/>
            </a:pPr>
            <a:r>
              <a:rPr lang="en-US" sz="1000" b="1" dirty="0">
                <a:solidFill>
                  <a:srgbClr val="D85A30"/>
                </a:solidFill>
                <a:latin typeface="Calibri" pitchFamily="34" charset="0"/>
                <a:ea typeface="Calibri" pitchFamily="34" charset="-122"/>
                <a:cs typeface="Calibri" pitchFamily="34" charset="-120"/>
              </a:rPr>
              <a:t>EXECUTIVE TAKEAWAY   </a:t>
            </a:r>
            <a:pPr indent="0" marL="0">
              <a:buNone/>
            </a:pPr>
            <a:r>
              <a:rPr lang="en-US" sz="1050" dirty="0">
                <a:solidFill>
                  <a:srgbClr val="222222"/>
                </a:solidFill>
                <a:latin typeface="Calibri" pitchFamily="34" charset="0"/>
                <a:ea typeface="Calibri" pitchFamily="34" charset="-122"/>
                <a:cs typeface="Calibri" pitchFamily="34" charset="-120"/>
              </a:rPr>
              <a:t>The next 12–18 months are the favorable entry window — not a ‘someday’ opportunity.</a:t>
            </a:r>
            <a:endParaRPr lang="en-US" sz="1000" dirty="0"/>
          </a:p>
        </p:txBody>
      </p:sp>
      <p:sp>
        <p:nvSpPr>
          <p:cNvPr id="24" name="Text 22"/>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6"/>
                </a:solidFill>
                <a:latin typeface="Calibri" pitchFamily="34" charset="0"/>
                <a:ea typeface="Calibri" pitchFamily="34" charset="-122"/>
                <a:cs typeface="Calibri" pitchFamily="34" charset="-120"/>
              </a:rPr>
              <a:t>4 / 12</a:t>
            </a:r>
            <a:endParaRPr lang="en-US" sz="900" dirty="0"/>
          </a:p>
        </p:txBody>
      </p:sp>
      <p:sp>
        <p:nvSpPr>
          <p:cNvPr id="25" name="Text 23"/>
          <p:cNvSpPr/>
          <p:nvPr/>
        </p:nvSpPr>
        <p:spPr>
          <a:xfrm>
            <a:off x="457200" y="6446520"/>
            <a:ext cx="5486400" cy="274320"/>
          </a:xfrm>
          <a:prstGeom prst="rect">
            <a:avLst/>
          </a:prstGeom>
          <a:noFill/>
          <a:ln/>
        </p:spPr>
        <p:txBody>
          <a:bodyPr wrap="square" rtlCol="0" anchor="ctr"/>
          <a:lstStyle/>
          <a:p>
            <a:pPr indent="0" marL="0">
              <a:buNone/>
            </a:pPr>
            <a:r>
              <a:rPr lang="en-US" sz="800" spc="100" kern="0" dirty="0">
                <a:solidFill>
                  <a:srgbClr val="AFAFAA"/>
                </a:solidFill>
                <a:latin typeface="Calibri" pitchFamily="34" charset="0"/>
                <a:ea typeface="Calibri" pitchFamily="34" charset="-122"/>
                <a:cs typeface="Calibri" pitchFamily="34" charset="-120"/>
              </a:rPr>
              <a:t>NEO PSP STRATEGIC GROWTH BLUEPRINT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274320"/>
          </a:xfrm>
          <a:prstGeom prst="rect">
            <a:avLst/>
          </a:prstGeom>
          <a:noFill/>
          <a:ln/>
        </p:spPr>
        <p:txBody>
          <a:bodyPr wrap="square" rtlCol="0" anchor="ctr"/>
          <a:lstStyle/>
          <a:p>
            <a:pPr indent="0" marL="0">
              <a:buNone/>
            </a:pPr>
            <a:r>
              <a:rPr lang="en-US" sz="1100" b="1" spc="120" kern="0" dirty="0">
                <a:solidFill>
                  <a:srgbClr val="D85A30"/>
                </a:solidFill>
                <a:latin typeface="Calibri" pitchFamily="34" charset="0"/>
                <a:ea typeface="Calibri" pitchFamily="34" charset="-122"/>
                <a:cs typeface="Calibri" pitchFamily="34" charset="-120"/>
              </a:rPr>
              <a:t>COMPETITIVE LANDSCAPE</a:t>
            </a:r>
            <a:endParaRPr lang="en-US" sz="1100" dirty="0"/>
          </a:p>
        </p:txBody>
      </p:sp>
      <p:sp>
        <p:nvSpPr>
          <p:cNvPr id="3" name="Text 1"/>
          <p:cNvSpPr/>
          <p:nvPr/>
        </p:nvSpPr>
        <p:spPr>
          <a:xfrm>
            <a:off x="457200" y="566928"/>
            <a:ext cx="11247120" cy="45720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NEO PSP is the only player combining both winning traits</a:t>
            </a:r>
            <a:endParaRPr lang="en-US" sz="2200" dirty="0"/>
          </a:p>
        </p:txBody>
      </p:sp>
      <p:sp>
        <p:nvSpPr>
          <p:cNvPr id="4" name="Text 2"/>
          <p:cNvSpPr/>
          <p:nvPr/>
        </p:nvSpPr>
        <p:spPr>
          <a:xfrm>
            <a:off x="457200" y="1024128"/>
            <a:ext cx="11247120" cy="685800"/>
          </a:xfrm>
          <a:prstGeom prst="rect">
            <a:avLst/>
          </a:prstGeom>
          <a:noFill/>
          <a:ln/>
        </p:spPr>
        <p:txBody>
          <a:bodyPr wrap="square" rtlCol="0" anchor="ctr"/>
          <a:lstStyle/>
          <a:p>
            <a:pPr indent="0" marL="0">
              <a:lnSpc>
                <a:spcPct val="105000"/>
              </a:lnSpc>
              <a:buNone/>
            </a:pPr>
            <a:r>
              <a:rPr lang="en-US" sz="1550" i="1" dirty="0">
                <a:solidFill>
                  <a:srgbClr val="222222"/>
                </a:solidFill>
                <a:latin typeface="Calibri" pitchFamily="34" charset="0"/>
                <a:ea typeface="Calibri" pitchFamily="34" charset="-122"/>
                <a:cs typeface="Calibri" pitchFamily="34" charset="-120"/>
              </a:rPr>
              <a:t>Telco-scale distribution and a modern, purpose-built platform — no competitor has both simultaneously.</a:t>
            </a:r>
            <a:endParaRPr lang="en-US" sz="1550" dirty="0"/>
          </a:p>
        </p:txBody>
      </p:sp>
      <p:sp>
        <p:nvSpPr>
          <p:cNvPr id="5" name="Shape 3"/>
          <p:cNvSpPr/>
          <p:nvPr/>
        </p:nvSpPr>
        <p:spPr>
          <a:xfrm>
            <a:off x="685800" y="1965960"/>
            <a:ext cx="0" cy="3794760"/>
          </a:xfrm>
          <a:prstGeom prst="line">
            <a:avLst/>
          </a:prstGeom>
          <a:noFill/>
          <a:ln w="12700">
            <a:solidFill>
              <a:srgbClr val="D8D4C8"/>
            </a:solidFill>
            <a:prstDash val="solid"/>
          </a:ln>
        </p:spPr>
      </p:sp>
      <p:sp>
        <p:nvSpPr>
          <p:cNvPr id="6" name="Shape 4"/>
          <p:cNvSpPr/>
          <p:nvPr/>
        </p:nvSpPr>
        <p:spPr>
          <a:xfrm>
            <a:off x="685800" y="5760720"/>
            <a:ext cx="6035040" cy="0"/>
          </a:xfrm>
          <a:prstGeom prst="line">
            <a:avLst/>
          </a:prstGeom>
          <a:noFill/>
          <a:ln w="12700">
            <a:solidFill>
              <a:srgbClr val="D8D4C8"/>
            </a:solidFill>
            <a:prstDash val="solid"/>
          </a:ln>
        </p:spPr>
      </p:sp>
      <p:sp>
        <p:nvSpPr>
          <p:cNvPr id="7" name="Shape 5"/>
          <p:cNvSpPr/>
          <p:nvPr/>
        </p:nvSpPr>
        <p:spPr>
          <a:xfrm>
            <a:off x="685800" y="3863340"/>
            <a:ext cx="6035040" cy="0"/>
          </a:xfrm>
          <a:prstGeom prst="line">
            <a:avLst/>
          </a:prstGeom>
          <a:noFill/>
          <a:ln w="9525">
            <a:solidFill>
              <a:srgbClr val="EFEDE6"/>
            </a:solidFill>
            <a:prstDash val="dash"/>
          </a:ln>
        </p:spPr>
      </p:sp>
      <p:sp>
        <p:nvSpPr>
          <p:cNvPr id="8" name="Shape 6"/>
          <p:cNvSpPr/>
          <p:nvPr/>
        </p:nvSpPr>
        <p:spPr>
          <a:xfrm>
            <a:off x="3703320" y="1965960"/>
            <a:ext cx="0" cy="3794760"/>
          </a:xfrm>
          <a:prstGeom prst="line">
            <a:avLst/>
          </a:prstGeom>
          <a:noFill/>
          <a:ln w="9525">
            <a:solidFill>
              <a:srgbClr val="EFEDE6"/>
            </a:solidFill>
            <a:prstDash val="dash"/>
          </a:ln>
        </p:spPr>
      </p:sp>
      <p:sp>
        <p:nvSpPr>
          <p:cNvPr id="9" name="Text 7"/>
          <p:cNvSpPr/>
          <p:nvPr/>
        </p:nvSpPr>
        <p:spPr>
          <a:xfrm>
            <a:off x="685800" y="5833872"/>
            <a:ext cx="6035040" cy="274320"/>
          </a:xfrm>
          <a:prstGeom prst="rect">
            <a:avLst/>
          </a:prstGeom>
          <a:noFill/>
          <a:ln/>
        </p:spPr>
        <p:txBody>
          <a:bodyPr wrap="square"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Distribution scale →</a:t>
            </a:r>
            <a:endParaRPr lang="en-US" sz="1000" dirty="0"/>
          </a:p>
        </p:txBody>
      </p:sp>
      <p:sp>
        <p:nvSpPr>
          <p:cNvPr id="10" name="Text 8"/>
          <p:cNvSpPr/>
          <p:nvPr/>
        </p:nvSpPr>
        <p:spPr>
          <a:xfrm rot="16200000">
            <a:off x="-1691640" y="3726180"/>
            <a:ext cx="2286000" cy="274320"/>
          </a:xfrm>
          <a:prstGeom prst="rect">
            <a:avLst/>
          </a:prstGeom>
          <a:noFill/>
          <a:ln/>
        </p:spPr>
        <p:txBody>
          <a:bodyPr wrap="square"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Platform sophistication →</a:t>
            </a:r>
            <a:endParaRPr lang="en-US" sz="1000" dirty="0"/>
          </a:p>
        </p:txBody>
      </p:sp>
      <p:sp>
        <p:nvSpPr>
          <p:cNvPr id="11" name="Shape 9"/>
          <p:cNvSpPr/>
          <p:nvPr/>
        </p:nvSpPr>
        <p:spPr>
          <a:xfrm>
            <a:off x="6137453" y="3573018"/>
            <a:ext cx="201168" cy="201168"/>
          </a:xfrm>
          <a:prstGeom prst="ellipse">
            <a:avLst/>
          </a:prstGeom>
          <a:solidFill>
            <a:srgbClr val="1B2A4A"/>
          </a:solidFill>
          <a:ln w="15875">
            <a:solidFill>
              <a:srgbClr val="FFFFFF"/>
            </a:solidFill>
            <a:prstDash val="solid"/>
          </a:ln>
        </p:spPr>
      </p:sp>
      <p:sp>
        <p:nvSpPr>
          <p:cNvPr id="12" name="Text 10"/>
          <p:cNvSpPr/>
          <p:nvPr/>
        </p:nvSpPr>
        <p:spPr>
          <a:xfrm>
            <a:off x="5131613" y="3801618"/>
            <a:ext cx="2212848" cy="365760"/>
          </a:xfrm>
          <a:prstGeom prst="rect">
            <a:avLst/>
          </a:prstGeom>
          <a:noFill/>
          <a:ln/>
        </p:spPr>
        <p:txBody>
          <a:bodyPr wrap="square" rtlCol="0" anchor="ctr"/>
          <a:lstStyle/>
          <a:p>
            <a:pPr algn="ctr" indent="0" marL="0">
              <a:buNone/>
            </a:pPr>
            <a:r>
              <a:rPr lang="en-US" sz="950" dirty="0">
                <a:solidFill>
                  <a:srgbClr val="222222"/>
                </a:solidFill>
                <a:latin typeface="Calibri" pitchFamily="34" charset="0"/>
                <a:ea typeface="Calibri" pitchFamily="34" charset="-122"/>
                <a:cs typeface="Calibri" pitchFamily="34" charset="-120"/>
              </a:rPr>
              <a:t>bKash</a:t>
            </a:r>
            <a:endParaRPr lang="en-US" sz="950" dirty="0"/>
          </a:p>
        </p:txBody>
      </p:sp>
      <p:sp>
        <p:nvSpPr>
          <p:cNvPr id="13" name="Shape 11"/>
          <p:cNvSpPr/>
          <p:nvPr/>
        </p:nvSpPr>
        <p:spPr>
          <a:xfrm>
            <a:off x="5292547" y="3762756"/>
            <a:ext cx="201168" cy="201168"/>
          </a:xfrm>
          <a:prstGeom prst="ellipse">
            <a:avLst/>
          </a:prstGeom>
          <a:solidFill>
            <a:srgbClr val="3E5788"/>
          </a:solidFill>
          <a:ln w="15875">
            <a:solidFill>
              <a:srgbClr val="FFFFFF"/>
            </a:solidFill>
            <a:prstDash val="solid"/>
          </a:ln>
        </p:spPr>
      </p:sp>
      <p:sp>
        <p:nvSpPr>
          <p:cNvPr id="14" name="Text 12"/>
          <p:cNvSpPr/>
          <p:nvPr/>
        </p:nvSpPr>
        <p:spPr>
          <a:xfrm>
            <a:off x="4286707" y="3991356"/>
            <a:ext cx="2212848" cy="365760"/>
          </a:xfrm>
          <a:prstGeom prst="rect">
            <a:avLst/>
          </a:prstGeom>
          <a:noFill/>
          <a:ln/>
        </p:spPr>
        <p:txBody>
          <a:bodyPr wrap="square" rtlCol="0" anchor="ctr"/>
          <a:lstStyle/>
          <a:p>
            <a:pPr algn="ctr" indent="0" marL="0">
              <a:buNone/>
            </a:pPr>
            <a:r>
              <a:rPr lang="en-US" sz="950" dirty="0">
                <a:solidFill>
                  <a:srgbClr val="222222"/>
                </a:solidFill>
                <a:latin typeface="Calibri" pitchFamily="34" charset="0"/>
                <a:ea typeface="Calibri" pitchFamily="34" charset="-122"/>
                <a:cs typeface="Calibri" pitchFamily="34" charset="-120"/>
              </a:rPr>
              <a:t>Nagad</a:t>
            </a:r>
            <a:endParaRPr lang="en-US" sz="950" dirty="0"/>
          </a:p>
        </p:txBody>
      </p:sp>
      <p:sp>
        <p:nvSpPr>
          <p:cNvPr id="15" name="Shape 13"/>
          <p:cNvSpPr/>
          <p:nvPr/>
        </p:nvSpPr>
        <p:spPr>
          <a:xfrm>
            <a:off x="2697480" y="3307385"/>
            <a:ext cx="201168" cy="201168"/>
          </a:xfrm>
          <a:prstGeom prst="ellipse">
            <a:avLst/>
          </a:prstGeom>
          <a:solidFill>
            <a:srgbClr val="0F6E56"/>
          </a:solidFill>
          <a:ln w="15875">
            <a:solidFill>
              <a:srgbClr val="FFFFFF"/>
            </a:solidFill>
            <a:prstDash val="solid"/>
          </a:ln>
        </p:spPr>
      </p:sp>
      <p:sp>
        <p:nvSpPr>
          <p:cNvPr id="16" name="Text 14"/>
          <p:cNvSpPr/>
          <p:nvPr/>
        </p:nvSpPr>
        <p:spPr>
          <a:xfrm>
            <a:off x="1691640" y="3535985"/>
            <a:ext cx="2212848" cy="365760"/>
          </a:xfrm>
          <a:prstGeom prst="rect">
            <a:avLst/>
          </a:prstGeom>
          <a:noFill/>
          <a:ln/>
        </p:spPr>
        <p:txBody>
          <a:bodyPr wrap="square" rtlCol="0" anchor="ctr"/>
          <a:lstStyle/>
          <a:p>
            <a:pPr algn="ctr" indent="0" marL="0">
              <a:buNone/>
            </a:pPr>
            <a:r>
              <a:rPr lang="en-US" sz="950" dirty="0">
                <a:solidFill>
                  <a:srgbClr val="222222"/>
                </a:solidFill>
                <a:latin typeface="Calibri" pitchFamily="34" charset="0"/>
                <a:ea typeface="Calibri" pitchFamily="34" charset="-122"/>
                <a:cs typeface="Calibri" pitchFamily="34" charset="-120"/>
              </a:rPr>
              <a:t>iPay Systems</a:t>
            </a:r>
            <a:endParaRPr lang="en-US" sz="950" dirty="0"/>
          </a:p>
        </p:txBody>
      </p:sp>
      <p:sp>
        <p:nvSpPr>
          <p:cNvPr id="17" name="Shape 15"/>
          <p:cNvSpPr/>
          <p:nvPr/>
        </p:nvSpPr>
        <p:spPr>
          <a:xfrm>
            <a:off x="3119933" y="3573018"/>
            <a:ext cx="201168" cy="201168"/>
          </a:xfrm>
          <a:prstGeom prst="ellipse">
            <a:avLst/>
          </a:prstGeom>
          <a:solidFill>
            <a:srgbClr val="3C9A82"/>
          </a:solidFill>
          <a:ln w="15875">
            <a:solidFill>
              <a:srgbClr val="FFFFFF"/>
            </a:solidFill>
            <a:prstDash val="solid"/>
          </a:ln>
        </p:spPr>
      </p:sp>
      <p:sp>
        <p:nvSpPr>
          <p:cNvPr id="18" name="Text 16"/>
          <p:cNvSpPr/>
          <p:nvPr/>
        </p:nvSpPr>
        <p:spPr>
          <a:xfrm>
            <a:off x="2114093" y="3801618"/>
            <a:ext cx="2212848" cy="365760"/>
          </a:xfrm>
          <a:prstGeom prst="rect">
            <a:avLst/>
          </a:prstGeom>
          <a:noFill/>
          <a:ln/>
        </p:spPr>
        <p:txBody>
          <a:bodyPr wrap="square" rtlCol="0" anchor="ctr"/>
          <a:lstStyle/>
          <a:p>
            <a:pPr algn="ctr" indent="0" marL="0">
              <a:buNone/>
            </a:pPr>
            <a:r>
              <a:rPr lang="en-US" sz="950" dirty="0">
                <a:solidFill>
                  <a:srgbClr val="222222"/>
                </a:solidFill>
                <a:latin typeface="Calibri" pitchFamily="34" charset="0"/>
                <a:ea typeface="Calibri" pitchFamily="34" charset="-122"/>
                <a:cs typeface="Calibri" pitchFamily="34" charset="-120"/>
              </a:rPr>
              <a:t>Pathao Pay</a:t>
            </a:r>
            <a:endParaRPr lang="en-US" sz="950" dirty="0"/>
          </a:p>
        </p:txBody>
      </p:sp>
      <p:sp>
        <p:nvSpPr>
          <p:cNvPr id="19" name="Shape 17"/>
          <p:cNvSpPr/>
          <p:nvPr/>
        </p:nvSpPr>
        <p:spPr>
          <a:xfrm>
            <a:off x="4206240" y="4521708"/>
            <a:ext cx="201168" cy="201168"/>
          </a:xfrm>
          <a:prstGeom prst="ellipse">
            <a:avLst/>
          </a:prstGeom>
          <a:solidFill>
            <a:srgbClr val="6B6B66"/>
          </a:solidFill>
          <a:ln w="15875">
            <a:solidFill>
              <a:srgbClr val="FFFFFF"/>
            </a:solidFill>
            <a:prstDash val="solid"/>
          </a:ln>
        </p:spPr>
      </p:sp>
      <p:sp>
        <p:nvSpPr>
          <p:cNvPr id="20" name="Text 18"/>
          <p:cNvSpPr/>
          <p:nvPr/>
        </p:nvSpPr>
        <p:spPr>
          <a:xfrm>
            <a:off x="3200400" y="4750308"/>
            <a:ext cx="2212848" cy="365760"/>
          </a:xfrm>
          <a:prstGeom prst="rect">
            <a:avLst/>
          </a:prstGeom>
          <a:noFill/>
          <a:ln/>
        </p:spPr>
        <p:txBody>
          <a:bodyPr wrap="square" rtlCol="0" anchor="ctr"/>
          <a:lstStyle/>
          <a:p>
            <a:pPr algn="ctr" indent="0" marL="0">
              <a:buNone/>
            </a:pPr>
            <a:r>
              <a:rPr lang="en-US" sz="950" dirty="0">
                <a:solidFill>
                  <a:srgbClr val="222222"/>
                </a:solidFill>
                <a:latin typeface="Calibri" pitchFamily="34" charset="0"/>
                <a:ea typeface="Calibri" pitchFamily="34" charset="-122"/>
                <a:cs typeface="Calibri" pitchFamily="34" charset="-120"/>
              </a:rPr>
              <a:t>Samadhan Services</a:t>
            </a:r>
            <a:endParaRPr lang="en-US" sz="950" dirty="0"/>
          </a:p>
        </p:txBody>
      </p:sp>
      <p:sp>
        <p:nvSpPr>
          <p:cNvPr id="21" name="Shape 19"/>
          <p:cNvSpPr/>
          <p:nvPr/>
        </p:nvSpPr>
        <p:spPr>
          <a:xfrm>
            <a:off x="1912925" y="4711446"/>
            <a:ext cx="201168" cy="201168"/>
          </a:xfrm>
          <a:prstGeom prst="ellipse">
            <a:avLst/>
          </a:prstGeom>
          <a:solidFill>
            <a:srgbClr val="A6A49C"/>
          </a:solidFill>
          <a:ln w="15875">
            <a:solidFill>
              <a:srgbClr val="FFFFFF"/>
            </a:solidFill>
            <a:prstDash val="solid"/>
          </a:ln>
        </p:spPr>
      </p:sp>
      <p:sp>
        <p:nvSpPr>
          <p:cNvPr id="22" name="Text 20"/>
          <p:cNvSpPr/>
          <p:nvPr/>
        </p:nvSpPr>
        <p:spPr>
          <a:xfrm>
            <a:off x="907085" y="4940046"/>
            <a:ext cx="2212848" cy="365760"/>
          </a:xfrm>
          <a:prstGeom prst="rect">
            <a:avLst/>
          </a:prstGeom>
          <a:noFill/>
          <a:ln/>
        </p:spPr>
        <p:txBody>
          <a:bodyPr wrap="square" rtlCol="0" anchor="ctr"/>
          <a:lstStyle/>
          <a:p>
            <a:pPr algn="ctr" indent="0" marL="0">
              <a:buNone/>
            </a:pPr>
            <a:r>
              <a:rPr lang="en-US" sz="950" dirty="0">
                <a:solidFill>
                  <a:srgbClr val="222222"/>
                </a:solidFill>
                <a:latin typeface="Calibri" pitchFamily="34" charset="0"/>
                <a:ea typeface="Calibri" pitchFamily="34" charset="-122"/>
                <a:cs typeface="Calibri" pitchFamily="34" charset="-120"/>
              </a:rPr>
              <a:t>Long-tail PSPs</a:t>
            </a:r>
            <a:endParaRPr lang="en-US" sz="950" dirty="0"/>
          </a:p>
        </p:txBody>
      </p:sp>
      <p:sp>
        <p:nvSpPr>
          <p:cNvPr id="23" name="Shape 21"/>
          <p:cNvSpPr/>
          <p:nvPr/>
        </p:nvSpPr>
        <p:spPr>
          <a:xfrm>
            <a:off x="5539435" y="2645359"/>
            <a:ext cx="310896" cy="310896"/>
          </a:xfrm>
          <a:prstGeom prst="ellipse">
            <a:avLst/>
          </a:prstGeom>
          <a:solidFill>
            <a:srgbClr val="D85A30"/>
          </a:solidFill>
          <a:ln w="15875">
            <a:solidFill>
              <a:srgbClr val="FFFFFF"/>
            </a:solidFill>
            <a:prstDash val="solid"/>
          </a:ln>
        </p:spPr>
      </p:sp>
      <p:sp>
        <p:nvSpPr>
          <p:cNvPr id="24" name="Text 22"/>
          <p:cNvSpPr/>
          <p:nvPr/>
        </p:nvSpPr>
        <p:spPr>
          <a:xfrm>
            <a:off x="4533595" y="2983687"/>
            <a:ext cx="2322576" cy="365760"/>
          </a:xfrm>
          <a:prstGeom prst="rect">
            <a:avLst/>
          </a:prstGeom>
          <a:noFill/>
          <a:ln/>
        </p:spPr>
        <p:txBody>
          <a:bodyPr wrap="square"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NEO PSP (Mukto Pay)</a:t>
            </a:r>
            <a:endParaRPr lang="en-US" sz="1100" dirty="0"/>
          </a:p>
        </p:txBody>
      </p:sp>
      <p:sp>
        <p:nvSpPr>
          <p:cNvPr id="25" name="Text 23"/>
          <p:cNvSpPr/>
          <p:nvPr/>
        </p:nvSpPr>
        <p:spPr>
          <a:xfrm>
            <a:off x="7086600" y="2103120"/>
            <a:ext cx="4572000" cy="3291840"/>
          </a:xfrm>
          <a:prstGeom prst="rect">
            <a:avLst/>
          </a:prstGeom>
          <a:noFill/>
          <a:ln/>
        </p:spPr>
        <p:txBody>
          <a:bodyPr wrap="square" rtlCol="0" anchor="t"/>
          <a:lstStyle/>
          <a:p>
            <a:pPr marL="177800" indent="-177800">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iPay Systems and Pathao Pay have platform sophistication but lack telco-scale reach.</a:t>
            </a:r>
            <a:endParaRPr lang="en-US" sz="1250" dirty="0"/>
          </a:p>
          <a:p>
            <a:pPr marL="177800" indent="-177800">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Samadhan Services (Grameen Telecom) is the only other telco-backed PSP — the real competitive test.</a:t>
            </a:r>
            <a:endParaRPr lang="en-US" sz="1250" dirty="0"/>
          </a:p>
          <a:p>
            <a:pPr marL="177800" indent="-177800">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bKash/Nagad have reach and trust, but at the consumer wallet layer NEO PSP isn't targeting.</a:t>
            </a:r>
            <a:endParaRPr lang="en-US" sz="1250" dirty="0"/>
          </a:p>
        </p:txBody>
      </p:sp>
      <p:sp>
        <p:nvSpPr>
          <p:cNvPr id="26" name="Shape 24"/>
          <p:cNvSpPr/>
          <p:nvPr/>
        </p:nvSpPr>
        <p:spPr>
          <a:xfrm>
            <a:off x="457200" y="5806440"/>
            <a:ext cx="11247120" cy="566928"/>
          </a:xfrm>
          <a:prstGeom prst="roundRect">
            <a:avLst>
              <a:gd name="adj" fmla="val 9677"/>
            </a:avLst>
          </a:prstGeom>
          <a:solidFill>
            <a:srgbClr val="F4F2ED"/>
          </a:solidFill>
          <a:ln w="9525">
            <a:solidFill>
              <a:srgbClr val="E4E0D6"/>
            </a:solidFill>
            <a:prstDash val="solid"/>
          </a:ln>
        </p:spPr>
      </p:sp>
      <p:sp>
        <p:nvSpPr>
          <p:cNvPr id="27" name="Text 25"/>
          <p:cNvSpPr/>
          <p:nvPr/>
        </p:nvSpPr>
        <p:spPr>
          <a:xfrm>
            <a:off x="685800" y="5806440"/>
            <a:ext cx="10789920" cy="566928"/>
          </a:xfrm>
          <a:prstGeom prst="rect">
            <a:avLst/>
          </a:prstGeom>
          <a:noFill/>
          <a:ln/>
        </p:spPr>
        <p:txBody>
          <a:bodyPr wrap="square" rtlCol="0" anchor="ctr"/>
          <a:lstStyle/>
          <a:p>
            <a:pPr indent="0" marL="0">
              <a:buNone/>
            </a:pPr>
            <a:r>
              <a:rPr lang="en-US" sz="1000" b="1" dirty="0">
                <a:solidFill>
                  <a:srgbClr val="D85A30"/>
                </a:solidFill>
                <a:latin typeface="Calibri" pitchFamily="34" charset="0"/>
                <a:ea typeface="Calibri" pitchFamily="34" charset="-122"/>
                <a:cs typeface="Calibri" pitchFamily="34" charset="-120"/>
              </a:rPr>
              <a:t>EXECUTIVE TAKEAWAY   </a:t>
            </a:r>
            <a:pPr indent="0" marL="0">
              <a:buNone/>
            </a:pPr>
            <a:r>
              <a:rPr lang="en-US" sz="1050" dirty="0">
                <a:solidFill>
                  <a:srgbClr val="222222"/>
                </a:solidFill>
                <a:latin typeface="Calibri" pitchFamily="34" charset="0"/>
                <a:ea typeface="Calibri" pitchFamily="34" charset="-122"/>
                <a:cs typeface="Calibri" pitchFamily="34" charset="-120"/>
              </a:rPr>
              <a:t>Compete on the one combination none of them have — not on out-featuring any single rival.</a:t>
            </a:r>
            <a:endParaRPr lang="en-US" sz="1000" dirty="0"/>
          </a:p>
        </p:txBody>
      </p:sp>
      <p:sp>
        <p:nvSpPr>
          <p:cNvPr id="28" name="Text 26"/>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6"/>
                </a:solidFill>
                <a:latin typeface="Calibri" pitchFamily="34" charset="0"/>
                <a:ea typeface="Calibri" pitchFamily="34" charset="-122"/>
                <a:cs typeface="Calibri" pitchFamily="34" charset="-120"/>
              </a:rPr>
              <a:t>5 / 12</a:t>
            </a:r>
            <a:endParaRPr lang="en-US" sz="900" dirty="0"/>
          </a:p>
        </p:txBody>
      </p:sp>
      <p:sp>
        <p:nvSpPr>
          <p:cNvPr id="29" name="Text 27"/>
          <p:cNvSpPr/>
          <p:nvPr/>
        </p:nvSpPr>
        <p:spPr>
          <a:xfrm>
            <a:off x="457200" y="6446520"/>
            <a:ext cx="5486400" cy="274320"/>
          </a:xfrm>
          <a:prstGeom prst="rect">
            <a:avLst/>
          </a:prstGeom>
          <a:noFill/>
          <a:ln/>
        </p:spPr>
        <p:txBody>
          <a:bodyPr wrap="square" rtlCol="0" anchor="ctr"/>
          <a:lstStyle/>
          <a:p>
            <a:pPr indent="0" marL="0">
              <a:buNone/>
            </a:pPr>
            <a:r>
              <a:rPr lang="en-US" sz="800" spc="100" kern="0" dirty="0">
                <a:solidFill>
                  <a:srgbClr val="AFAFAA"/>
                </a:solidFill>
                <a:latin typeface="Calibri" pitchFamily="34" charset="0"/>
                <a:ea typeface="Calibri" pitchFamily="34" charset="-122"/>
                <a:cs typeface="Calibri" pitchFamily="34" charset="-120"/>
              </a:rPr>
              <a:t>NEO PSP STRATEGIC GROWTH BLUEPRINT</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274320"/>
          </a:xfrm>
          <a:prstGeom prst="rect">
            <a:avLst/>
          </a:prstGeom>
          <a:noFill/>
          <a:ln/>
        </p:spPr>
        <p:txBody>
          <a:bodyPr wrap="square" rtlCol="0" anchor="ctr"/>
          <a:lstStyle/>
          <a:p>
            <a:pPr indent="0" marL="0">
              <a:buNone/>
            </a:pPr>
            <a:r>
              <a:rPr lang="en-US" sz="1100" b="1" spc="120" kern="0" dirty="0">
                <a:solidFill>
                  <a:srgbClr val="D85A30"/>
                </a:solidFill>
                <a:latin typeface="Calibri" pitchFamily="34" charset="0"/>
                <a:ea typeface="Calibri" pitchFamily="34" charset="-122"/>
                <a:cs typeface="Calibri" pitchFamily="34" charset="-120"/>
              </a:rPr>
              <a:t>STRATEGIC GAPS</a:t>
            </a:r>
            <a:endParaRPr lang="en-US" sz="1100" dirty="0"/>
          </a:p>
        </p:txBody>
      </p:sp>
      <p:sp>
        <p:nvSpPr>
          <p:cNvPr id="3" name="Text 1"/>
          <p:cNvSpPr/>
          <p:nvPr/>
        </p:nvSpPr>
        <p:spPr>
          <a:xfrm>
            <a:off x="457200" y="566928"/>
            <a:ext cx="11247120" cy="45720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Three white-space gaps no current provider has claimed</a:t>
            </a:r>
            <a:endParaRPr lang="en-US" sz="2200" dirty="0"/>
          </a:p>
        </p:txBody>
      </p:sp>
      <p:sp>
        <p:nvSpPr>
          <p:cNvPr id="4" name="Text 2"/>
          <p:cNvSpPr/>
          <p:nvPr/>
        </p:nvSpPr>
        <p:spPr>
          <a:xfrm>
            <a:off x="457200" y="1024128"/>
            <a:ext cx="11247120" cy="685800"/>
          </a:xfrm>
          <a:prstGeom prst="rect">
            <a:avLst/>
          </a:prstGeom>
          <a:noFill/>
          <a:ln/>
        </p:spPr>
        <p:txBody>
          <a:bodyPr wrap="square" rtlCol="0" anchor="ctr"/>
          <a:lstStyle/>
          <a:p>
            <a:pPr indent="0" marL="0">
              <a:lnSpc>
                <a:spcPct val="105000"/>
              </a:lnSpc>
              <a:buNone/>
            </a:pPr>
            <a:r>
              <a:rPr lang="en-US" sz="1550" i="1" dirty="0">
                <a:solidFill>
                  <a:srgbClr val="222222"/>
                </a:solidFill>
                <a:latin typeface="Calibri" pitchFamily="34" charset="0"/>
                <a:ea typeface="Calibri" pitchFamily="34" charset="-122"/>
                <a:cs typeface="Calibri" pitchFamily="34" charset="-120"/>
              </a:rPr>
              <a:t>This is where Horizon 1 execution focus should concentrate — not on features already contested elsewhere.</a:t>
            </a:r>
            <a:endParaRPr lang="en-US" sz="1550" dirty="0"/>
          </a:p>
        </p:txBody>
      </p:sp>
      <p:sp>
        <p:nvSpPr>
          <p:cNvPr id="5" name="Shape 3"/>
          <p:cNvSpPr/>
          <p:nvPr/>
        </p:nvSpPr>
        <p:spPr>
          <a:xfrm>
            <a:off x="457200" y="1965960"/>
            <a:ext cx="3520440" cy="3566160"/>
          </a:xfrm>
          <a:prstGeom prst="roundRect">
            <a:avLst>
              <a:gd name="adj" fmla="val 2078"/>
            </a:avLst>
          </a:prstGeom>
          <a:solidFill>
            <a:srgbClr val="F4F2ED"/>
          </a:solidFill>
          <a:ln w="9525">
            <a:solidFill>
              <a:srgbClr val="E4E0D6"/>
            </a:solidFill>
            <a:prstDash val="solid"/>
          </a:ln>
        </p:spPr>
      </p:sp>
      <p:sp>
        <p:nvSpPr>
          <p:cNvPr id="6" name="Shape 4"/>
          <p:cNvSpPr/>
          <p:nvPr/>
        </p:nvSpPr>
        <p:spPr>
          <a:xfrm>
            <a:off x="685800" y="2240280"/>
            <a:ext cx="457200" cy="457200"/>
          </a:xfrm>
          <a:prstGeom prst="ellipse">
            <a:avLst/>
          </a:prstGeom>
          <a:solidFill>
            <a:srgbClr val="D85A30"/>
          </a:solidFill>
          <a:ln/>
        </p:spPr>
      </p:sp>
      <p:sp>
        <p:nvSpPr>
          <p:cNvPr id="7" name="Text 5"/>
          <p:cNvSpPr/>
          <p:nvPr/>
        </p:nvSpPr>
        <p:spPr>
          <a:xfrm>
            <a:off x="685800" y="22402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685800" y="2834640"/>
            <a:ext cx="3063240" cy="822960"/>
          </a:xfrm>
          <a:prstGeom prst="rect">
            <a:avLst/>
          </a:prstGeom>
          <a:noFill/>
          <a:ln/>
        </p:spPr>
        <p:txBody>
          <a:bodyPr wrap="square"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Telco-scale + fintech-grade platform</a:t>
            </a:r>
            <a:endParaRPr lang="en-US" sz="1450" dirty="0"/>
          </a:p>
        </p:txBody>
      </p:sp>
      <p:sp>
        <p:nvSpPr>
          <p:cNvPr id="9" name="Text 7"/>
          <p:cNvSpPr/>
          <p:nvPr/>
        </p:nvSpPr>
        <p:spPr>
          <a:xfrm>
            <a:off x="685800" y="3657600"/>
            <a:ext cx="3063240" cy="1737360"/>
          </a:xfrm>
          <a:prstGeom prst="rect">
            <a:avLst/>
          </a:prstGeom>
          <a:noFill/>
          <a:ln/>
        </p:spPr>
        <p:txBody>
          <a:bodyPr wrap="square" rtlCol="0" anchor="ctr"/>
          <a:lstStyle/>
          <a:p>
            <a:pPr indent="0" marL="0">
              <a:lnSpc>
                <a:spcPct val="115000"/>
              </a:lnSpc>
              <a:buNone/>
            </a:pPr>
            <a:r>
              <a:rPr lang="en-US" sz="1150" dirty="0">
                <a:solidFill>
                  <a:srgbClr val="222222"/>
                </a:solidFill>
                <a:latin typeface="Calibri" pitchFamily="34" charset="0"/>
                <a:ea typeface="Calibri" pitchFamily="34" charset="-122"/>
                <a:cs typeface="Calibri" pitchFamily="34" charset="-120"/>
              </a:rPr>
              <a:t>No PSP combines Banglalink's distribution with a modern platform like Huawei/Mukto Pay simultaneously.</a:t>
            </a:r>
            <a:endParaRPr lang="en-US" sz="1150" dirty="0"/>
          </a:p>
        </p:txBody>
      </p:sp>
      <p:sp>
        <p:nvSpPr>
          <p:cNvPr id="10" name="Shape 8"/>
          <p:cNvSpPr/>
          <p:nvPr/>
        </p:nvSpPr>
        <p:spPr>
          <a:xfrm>
            <a:off x="4251960" y="1965960"/>
            <a:ext cx="3520440" cy="3566160"/>
          </a:xfrm>
          <a:prstGeom prst="roundRect">
            <a:avLst>
              <a:gd name="adj" fmla="val 2078"/>
            </a:avLst>
          </a:prstGeom>
          <a:solidFill>
            <a:srgbClr val="F4F2ED"/>
          </a:solidFill>
          <a:ln w="9525">
            <a:solidFill>
              <a:srgbClr val="E4E0D6"/>
            </a:solidFill>
            <a:prstDash val="solid"/>
          </a:ln>
        </p:spPr>
      </p:sp>
      <p:sp>
        <p:nvSpPr>
          <p:cNvPr id="11" name="Shape 9"/>
          <p:cNvSpPr/>
          <p:nvPr/>
        </p:nvSpPr>
        <p:spPr>
          <a:xfrm>
            <a:off x="4480560" y="2240280"/>
            <a:ext cx="457200" cy="457200"/>
          </a:xfrm>
          <a:prstGeom prst="ellipse">
            <a:avLst/>
          </a:prstGeom>
          <a:solidFill>
            <a:srgbClr val="0F6E56"/>
          </a:solidFill>
          <a:ln/>
        </p:spPr>
      </p:sp>
      <p:sp>
        <p:nvSpPr>
          <p:cNvPr id="12" name="Text 10"/>
          <p:cNvSpPr/>
          <p:nvPr/>
        </p:nvSpPr>
        <p:spPr>
          <a:xfrm>
            <a:off x="4480560" y="22402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480560" y="2834640"/>
            <a:ext cx="3063240" cy="822960"/>
          </a:xfrm>
          <a:prstGeom prst="rect">
            <a:avLst/>
          </a:prstGeom>
          <a:noFill/>
          <a:ln/>
        </p:spPr>
        <p:txBody>
          <a:bodyPr wrap="square"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SME / enterprise disbursement</a:t>
            </a:r>
            <a:endParaRPr lang="en-US" sz="1450" dirty="0"/>
          </a:p>
        </p:txBody>
      </p:sp>
      <p:sp>
        <p:nvSpPr>
          <p:cNvPr id="14" name="Text 12"/>
          <p:cNvSpPr/>
          <p:nvPr/>
        </p:nvSpPr>
        <p:spPr>
          <a:xfrm>
            <a:off x="4480560" y="3657600"/>
            <a:ext cx="3063240" cy="1737360"/>
          </a:xfrm>
          <a:prstGeom prst="rect">
            <a:avLst/>
          </a:prstGeom>
          <a:noFill/>
          <a:ln/>
        </p:spPr>
        <p:txBody>
          <a:bodyPr wrap="square" rtlCol="0" anchor="ctr"/>
          <a:lstStyle/>
          <a:p>
            <a:pPr indent="0" marL="0">
              <a:lnSpc>
                <a:spcPct val="115000"/>
              </a:lnSpc>
              <a:buNone/>
            </a:pPr>
            <a:r>
              <a:rPr lang="en-US" sz="1150" dirty="0">
                <a:solidFill>
                  <a:srgbClr val="222222"/>
                </a:solidFill>
                <a:latin typeface="Calibri" pitchFamily="34" charset="0"/>
                <a:ea typeface="Calibri" pitchFamily="34" charset="-122"/>
                <a:cs typeface="Calibri" pitchFamily="34" charset="-120"/>
              </a:rPr>
              <a:t>No benchmarked PSP has built a strong payroll or vendor-disbursement franchise — closer to actual PSP license scope than wallet competition.</a:t>
            </a:r>
            <a:endParaRPr lang="en-US" sz="1150" dirty="0"/>
          </a:p>
        </p:txBody>
      </p:sp>
      <p:sp>
        <p:nvSpPr>
          <p:cNvPr id="15" name="Shape 13"/>
          <p:cNvSpPr/>
          <p:nvPr/>
        </p:nvSpPr>
        <p:spPr>
          <a:xfrm>
            <a:off x="8046720" y="1965960"/>
            <a:ext cx="3520440" cy="3566160"/>
          </a:xfrm>
          <a:prstGeom prst="roundRect">
            <a:avLst>
              <a:gd name="adj" fmla="val 2078"/>
            </a:avLst>
          </a:prstGeom>
          <a:solidFill>
            <a:srgbClr val="F4F2ED"/>
          </a:solidFill>
          <a:ln w="9525">
            <a:solidFill>
              <a:srgbClr val="E4E0D6"/>
            </a:solidFill>
            <a:prstDash val="solid"/>
          </a:ln>
        </p:spPr>
      </p:sp>
      <p:sp>
        <p:nvSpPr>
          <p:cNvPr id="16" name="Shape 14"/>
          <p:cNvSpPr/>
          <p:nvPr/>
        </p:nvSpPr>
        <p:spPr>
          <a:xfrm>
            <a:off x="8275320" y="2240280"/>
            <a:ext cx="457200" cy="457200"/>
          </a:xfrm>
          <a:prstGeom prst="ellipse">
            <a:avLst/>
          </a:prstGeom>
          <a:solidFill>
            <a:srgbClr val="BA7517"/>
          </a:solidFill>
          <a:ln/>
        </p:spPr>
      </p:sp>
      <p:sp>
        <p:nvSpPr>
          <p:cNvPr id="17" name="Text 15"/>
          <p:cNvSpPr/>
          <p:nvPr/>
        </p:nvSpPr>
        <p:spPr>
          <a:xfrm>
            <a:off x="8275320" y="22402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8275320" y="2834640"/>
            <a:ext cx="3063240" cy="822960"/>
          </a:xfrm>
          <a:prstGeom prst="rect">
            <a:avLst/>
          </a:prstGeom>
          <a:noFill/>
          <a:ln/>
        </p:spPr>
        <p:txBody>
          <a:bodyPr wrap="square"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Underserved / rural inclusion credibility</a:t>
            </a:r>
            <a:endParaRPr lang="en-US" sz="1450" dirty="0"/>
          </a:p>
        </p:txBody>
      </p:sp>
      <p:sp>
        <p:nvSpPr>
          <p:cNvPr id="19" name="Text 17"/>
          <p:cNvSpPr/>
          <p:nvPr/>
        </p:nvSpPr>
        <p:spPr>
          <a:xfrm>
            <a:off x="8275320" y="3657600"/>
            <a:ext cx="3063240" cy="1737360"/>
          </a:xfrm>
          <a:prstGeom prst="rect">
            <a:avLst/>
          </a:prstGeom>
          <a:noFill/>
          <a:ln/>
        </p:spPr>
        <p:txBody>
          <a:bodyPr wrap="square" rtlCol="0" anchor="ctr"/>
          <a:lstStyle/>
          <a:p>
            <a:pPr indent="0" marL="0">
              <a:lnSpc>
                <a:spcPct val="115000"/>
              </a:lnSpc>
              <a:buNone/>
            </a:pPr>
            <a:r>
              <a:rPr lang="en-US" sz="1150" dirty="0">
                <a:solidFill>
                  <a:srgbClr val="222222"/>
                </a:solidFill>
                <a:latin typeface="Calibri" pitchFamily="34" charset="0"/>
                <a:ea typeface="Calibri" pitchFamily="34" charset="-122"/>
                <a:cs typeface="Calibri" pitchFamily="34" charset="-120"/>
              </a:rPr>
              <a:t>Growth among incumbents concentrates in urban, high-literacy segments — unaddressed as a core (not CSR) strategy.</a:t>
            </a:r>
            <a:endParaRPr lang="en-US" sz="1150" dirty="0"/>
          </a:p>
        </p:txBody>
      </p:sp>
      <p:sp>
        <p:nvSpPr>
          <p:cNvPr id="20" name="Shape 18"/>
          <p:cNvSpPr/>
          <p:nvPr/>
        </p:nvSpPr>
        <p:spPr>
          <a:xfrm>
            <a:off x="457200" y="5806440"/>
            <a:ext cx="11247120" cy="566928"/>
          </a:xfrm>
          <a:prstGeom prst="roundRect">
            <a:avLst>
              <a:gd name="adj" fmla="val 9677"/>
            </a:avLst>
          </a:prstGeom>
          <a:solidFill>
            <a:srgbClr val="F4F2ED"/>
          </a:solidFill>
          <a:ln w="9525">
            <a:solidFill>
              <a:srgbClr val="E4E0D6"/>
            </a:solidFill>
            <a:prstDash val="solid"/>
          </a:ln>
        </p:spPr>
      </p:sp>
      <p:sp>
        <p:nvSpPr>
          <p:cNvPr id="21" name="Text 19"/>
          <p:cNvSpPr/>
          <p:nvPr/>
        </p:nvSpPr>
        <p:spPr>
          <a:xfrm>
            <a:off x="685800" y="5806440"/>
            <a:ext cx="10789920" cy="566928"/>
          </a:xfrm>
          <a:prstGeom prst="rect">
            <a:avLst/>
          </a:prstGeom>
          <a:noFill/>
          <a:ln/>
        </p:spPr>
        <p:txBody>
          <a:bodyPr wrap="square" rtlCol="0" anchor="ctr"/>
          <a:lstStyle/>
          <a:p>
            <a:pPr indent="0" marL="0">
              <a:buNone/>
            </a:pPr>
            <a:r>
              <a:rPr lang="en-US" sz="1000" b="1" dirty="0">
                <a:solidFill>
                  <a:srgbClr val="D85A30"/>
                </a:solidFill>
                <a:latin typeface="Calibri" pitchFamily="34" charset="0"/>
                <a:ea typeface="Calibri" pitchFamily="34" charset="-122"/>
                <a:cs typeface="Calibri" pitchFamily="34" charset="-120"/>
              </a:rPr>
              <a:t>EXECUTIVE TAKEAWAY   </a:t>
            </a:r>
            <a:pPr indent="0" marL="0">
              <a:buNone/>
            </a:pPr>
            <a:r>
              <a:rPr lang="en-US" sz="1050" dirty="0">
                <a:solidFill>
                  <a:srgbClr val="222222"/>
                </a:solidFill>
                <a:latin typeface="Calibri" pitchFamily="34" charset="0"/>
                <a:ea typeface="Calibri" pitchFamily="34" charset="-122"/>
                <a:cs typeface="Calibri" pitchFamily="34" charset="-120"/>
              </a:rPr>
              <a:t>NEO PSP should not out-iPay iPay or out-bKash bKash — it should claim these three gaps first.</a:t>
            </a:r>
            <a:endParaRPr lang="en-US" sz="1000" dirty="0"/>
          </a:p>
        </p:txBody>
      </p:sp>
      <p:sp>
        <p:nvSpPr>
          <p:cNvPr id="22" name="Text 20"/>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6"/>
                </a:solidFill>
                <a:latin typeface="Calibri" pitchFamily="34" charset="0"/>
                <a:ea typeface="Calibri" pitchFamily="34" charset="-122"/>
                <a:cs typeface="Calibri" pitchFamily="34" charset="-120"/>
              </a:rPr>
              <a:t>6 / 12</a:t>
            </a:r>
            <a:endParaRPr lang="en-US" sz="900" dirty="0"/>
          </a:p>
        </p:txBody>
      </p:sp>
      <p:sp>
        <p:nvSpPr>
          <p:cNvPr id="23" name="Text 21"/>
          <p:cNvSpPr/>
          <p:nvPr/>
        </p:nvSpPr>
        <p:spPr>
          <a:xfrm>
            <a:off x="457200" y="6446520"/>
            <a:ext cx="5486400" cy="274320"/>
          </a:xfrm>
          <a:prstGeom prst="rect">
            <a:avLst/>
          </a:prstGeom>
          <a:noFill/>
          <a:ln/>
        </p:spPr>
        <p:txBody>
          <a:bodyPr wrap="square" rtlCol="0" anchor="ctr"/>
          <a:lstStyle/>
          <a:p>
            <a:pPr indent="0" marL="0">
              <a:buNone/>
            </a:pPr>
            <a:r>
              <a:rPr lang="en-US" sz="800" spc="100" kern="0" dirty="0">
                <a:solidFill>
                  <a:srgbClr val="AFAFAA"/>
                </a:solidFill>
                <a:latin typeface="Calibri" pitchFamily="34" charset="0"/>
                <a:ea typeface="Calibri" pitchFamily="34" charset="-122"/>
                <a:cs typeface="Calibri" pitchFamily="34" charset="-120"/>
              </a:rPr>
              <a:t>NEO PSP STRATEGIC GROWTH BLUEPRINT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274320"/>
          </a:xfrm>
          <a:prstGeom prst="rect">
            <a:avLst/>
          </a:prstGeom>
          <a:noFill/>
          <a:ln/>
        </p:spPr>
        <p:txBody>
          <a:bodyPr wrap="square" rtlCol="0" anchor="ctr"/>
          <a:lstStyle/>
          <a:p>
            <a:pPr indent="0" marL="0">
              <a:buNone/>
            </a:pPr>
            <a:r>
              <a:rPr lang="en-US" sz="1100" b="1" spc="120" kern="0" dirty="0">
                <a:solidFill>
                  <a:srgbClr val="D85A30"/>
                </a:solidFill>
                <a:latin typeface="Calibri" pitchFamily="34" charset="0"/>
                <a:ea typeface="Calibri" pitchFamily="34" charset="-122"/>
                <a:cs typeface="Calibri" pitchFamily="34" charset="-120"/>
              </a:rPr>
              <a:t>STRATEGIC THESIS</a:t>
            </a:r>
            <a:endParaRPr lang="en-US" sz="1100" dirty="0"/>
          </a:p>
        </p:txBody>
      </p:sp>
      <p:sp>
        <p:nvSpPr>
          <p:cNvPr id="3" name="Text 1"/>
          <p:cNvSpPr/>
          <p:nvPr/>
        </p:nvSpPr>
        <p:spPr>
          <a:xfrm>
            <a:off x="457200" y="566928"/>
            <a:ext cx="11247120" cy="45720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Recommendation: merchant/gateway-first PSP specialist</a:t>
            </a:r>
            <a:endParaRPr lang="en-US" sz="2200" dirty="0"/>
          </a:p>
        </p:txBody>
      </p:sp>
      <p:sp>
        <p:nvSpPr>
          <p:cNvPr id="4" name="Text 2"/>
          <p:cNvSpPr/>
          <p:nvPr/>
        </p:nvSpPr>
        <p:spPr>
          <a:xfrm>
            <a:off x="457200" y="1024128"/>
            <a:ext cx="11247120" cy="685800"/>
          </a:xfrm>
          <a:prstGeom prst="rect">
            <a:avLst/>
          </a:prstGeom>
          <a:noFill/>
          <a:ln/>
        </p:spPr>
        <p:txBody>
          <a:bodyPr wrap="square" rtlCol="0" anchor="ctr"/>
          <a:lstStyle/>
          <a:p>
            <a:pPr indent="0" marL="0">
              <a:lnSpc>
                <a:spcPct val="105000"/>
              </a:lnSpc>
              <a:buNone/>
            </a:pPr>
            <a:r>
              <a:rPr lang="en-US" sz="1550" i="1" dirty="0">
                <a:solidFill>
                  <a:srgbClr val="222222"/>
                </a:solidFill>
                <a:latin typeface="Calibri" pitchFamily="34" charset="0"/>
                <a:ea typeface="Calibri" pitchFamily="34" charset="-122"/>
                <a:cs typeface="Calibri" pitchFamily="34" charset="-120"/>
              </a:rPr>
              <a:t>Sequenced into SME/enterprise disbursement — not a consumer wallet challenger or pure disbursement-only play.</a:t>
            </a:r>
            <a:endParaRPr lang="en-US" sz="15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11247120" cy="3291840"/>
        </p:xfrm>
        <a:graphic>
          <a:graphicData uri="http://schemas.openxmlformats.org/drawingml/2006/table">
            <a:tbl>
              <a:tblPr/>
              <a:tblGrid>
                <a:gridCol w="2194560"/>
                <a:gridCol w="3017520"/>
                <a:gridCol w="3017520"/>
                <a:gridCol w="3017520"/>
              </a:tblGrid>
              <a:tr h="54864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Option</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solidFill>
                      <a:srgbClr val="1B2A4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Consumer wallet challenger</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solidFill>
                      <a:srgbClr val="1B2A4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Merchant/gateway-first specialist</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solidFill>
                      <a:srgbClr val="D85A3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B2B disbursement rail only</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solidFill>
                      <a:srgbClr val="1B2A4A"/>
                    </a:solidFill>
                  </a:tcPr>
                </a:tc>
              </a:tr>
              <a:tr h="548640">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Market size</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Largest, but locked</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c>
                  <a:txBody>
                    <a:bodyPr/>
                    <a:lstStyle/>
                    <a:p>
                      <a:pPr indent="0" marL="0">
                        <a:buNone/>
                      </a:pPr>
                      <a:r>
                        <a:rPr lang="en-US" sz="1150" b="1" dirty="0">
                          <a:solidFill>
                            <a:srgbClr val="1B2A4A"/>
                          </a:solidFill>
                          <a:latin typeface="Calibri" pitchFamily="34" charset="0"/>
                          <a:ea typeface="Calibri" pitchFamily="34" charset="-122"/>
                          <a:cs typeface="Calibri" pitchFamily="34" charset="-120"/>
                        </a:rPr>
                        <a:t>Large, fragmented, open</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solidFill>
                      <a:srgbClr val="FBEFE8"/>
                    </a:solidFill>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Narrower, high-margin</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r>
              <a:tr h="548640">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Time to scale</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Slow — trust deficit</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c>
                  <a:txBody>
                    <a:bodyPr/>
                    <a:lstStyle/>
                    <a:p>
                      <a:pPr indent="0" marL="0">
                        <a:buNone/>
                      </a:pPr>
                      <a:r>
                        <a:rPr lang="en-US" sz="1150" b="1" dirty="0">
                          <a:solidFill>
                            <a:srgbClr val="1B2A4A"/>
                          </a:solidFill>
                          <a:latin typeface="Calibri" pitchFamily="34" charset="0"/>
                          <a:ea typeface="Calibri" pitchFamily="34" charset="-122"/>
                          <a:cs typeface="Calibri" pitchFamily="34" charset="-120"/>
                        </a:rPr>
                        <a:t>Fast — regulatory tailwind</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solidFill>
                      <a:srgbClr val="FBEFE8"/>
                    </a:solidFill>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Medium — relationship-led</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r>
              <a:tr h="548640">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Capital intensity</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Very high</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c>
                  <a:txBody>
                    <a:bodyPr/>
                    <a:lstStyle/>
                    <a:p>
                      <a:pPr indent="0" marL="0">
                        <a:buNone/>
                      </a:pPr>
                      <a:r>
                        <a:rPr lang="en-US" sz="1150" b="1" dirty="0">
                          <a:solidFill>
                            <a:srgbClr val="1B2A4A"/>
                          </a:solidFill>
                          <a:latin typeface="Calibri" pitchFamily="34" charset="0"/>
                          <a:ea typeface="Calibri" pitchFamily="34" charset="-122"/>
                          <a:cs typeface="Calibri" pitchFamily="34" charset="-120"/>
                        </a:rPr>
                        <a:t>High, front-loaded</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solidFill>
                      <a:srgbClr val="FBEFE8"/>
                    </a:solidFill>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r>
              <a:tr h="548640">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Right to win</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Weak vs. bKash/Nagad</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c>
                  <a:txBody>
                    <a:bodyPr/>
                    <a:lstStyle/>
                    <a:p>
                      <a:pPr indent="0" marL="0">
                        <a:buNone/>
                      </a:pPr>
                      <a:r>
                        <a:rPr lang="en-US" sz="1150" b="1" dirty="0">
                          <a:solidFill>
                            <a:srgbClr val="1B2A4A"/>
                          </a:solidFill>
                          <a:latin typeface="Calibri" pitchFamily="34" charset="0"/>
                          <a:ea typeface="Calibri" pitchFamily="34" charset="-122"/>
                          <a:cs typeface="Calibri" pitchFamily="34" charset="-120"/>
                        </a:rPr>
                        <a:t>Strong — unique combination</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solidFill>
                      <a:srgbClr val="FBEFE8"/>
                    </a:solidFill>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Strong but narrow</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r>
              <a:tr h="548640">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Recommendation</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Reject</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c>
                  <a:txBody>
                    <a:bodyPr/>
                    <a:lstStyle/>
                    <a:p>
                      <a:pPr indent="0" marL="0">
                        <a:buNone/>
                      </a:pPr>
                      <a:r>
                        <a:rPr lang="en-US" sz="1150" b="1" dirty="0">
                          <a:solidFill>
                            <a:srgbClr val="1B2A4A"/>
                          </a:solidFill>
                          <a:latin typeface="Calibri" pitchFamily="34" charset="0"/>
                          <a:ea typeface="Calibri" pitchFamily="34" charset="-122"/>
                          <a:cs typeface="Calibri" pitchFamily="34" charset="-120"/>
                        </a:rPr>
                        <a:t>RECOMMENDED</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solidFill>
                      <a:srgbClr val="FBEFE8"/>
                    </a:solidFill>
                  </a:tcPr>
                </a:tc>
                <a:tc>
                  <a:txBody>
                    <a:bodyPr/>
                    <a:lstStyle/>
                    <a:p>
                      <a:pPr indent="0" marL="0">
                        <a:buNone/>
                      </a:pPr>
                      <a:r>
                        <a:rPr lang="en-US" sz="1150" dirty="0">
                          <a:solidFill>
                            <a:srgbClr val="222222"/>
                          </a:solidFill>
                          <a:latin typeface="Calibri" pitchFamily="34" charset="0"/>
                          <a:ea typeface="Calibri" pitchFamily="34" charset="-122"/>
                          <a:cs typeface="Calibri" pitchFamily="34" charset="-120"/>
                        </a:rPr>
                        <a:t>Fold in as Horizon 1–2 lever</a:t>
                      </a:r>
                      <a:endParaRPr lang="en-US" sz="1150" dirty="0">
                        <a:latin typeface="Calibri" charset="0"/>
                        <a:ea typeface="Calibri" charset="0"/>
                        <a:cs typeface="Calibri" charset="0"/>
                      </a:endParaRPr>
                    </a:p>
                  </a:txBody>
                  <a:tcPr marL="76200" marR="76200" marT="76200" marB="76200" anchor="ctr">
                    <a:lnL w="9525" cap="flat" cmpd="sng" algn="ctr">
                      <a:solidFill>
                        <a:srgbClr val="E4E0D6"/>
                      </a:solidFill>
                      <a:prstDash val="solid"/>
                      <a:round/>
                      <a:headEnd type="none" w="med" len="med"/>
                      <a:tailEnd type="none" w="med" len="med"/>
                    </a:lnL>
                    <a:lnR w="9525" cap="flat" cmpd="sng" algn="ctr">
                      <a:solidFill>
                        <a:srgbClr val="E4E0D6"/>
                      </a:solidFill>
                      <a:prstDash val="solid"/>
                      <a:round/>
                      <a:headEnd type="none" w="med" len="med"/>
                      <a:tailEnd type="none" w="med" len="med"/>
                    </a:lnR>
                    <a:lnT w="9525" cap="flat" cmpd="sng" algn="ctr">
                      <a:solidFill>
                        <a:srgbClr val="E4E0D6"/>
                      </a:solidFill>
                      <a:prstDash val="solid"/>
                      <a:round/>
                      <a:headEnd type="none" w="med" len="med"/>
                      <a:tailEnd type="none" w="med" len="med"/>
                    </a:lnT>
                    <a:lnB w="9525" cap="flat" cmpd="sng" algn="ctr">
                      <a:solidFill>
                        <a:srgbClr val="E4E0D6"/>
                      </a:solidFill>
                      <a:prstDash val="solid"/>
                      <a:round/>
                      <a:headEnd type="none" w="med" len="med"/>
                      <a:tailEnd type="none" w="med" len="med"/>
                    </a:lnB>
                  </a:tcPr>
                </a:tc>
              </a:tr>
            </a:tbl>
          </a:graphicData>
        </a:graphic>
      </p:graphicFrame>
      <p:sp>
        <p:nvSpPr>
          <p:cNvPr id="6" name="Shape 3"/>
          <p:cNvSpPr/>
          <p:nvPr/>
        </p:nvSpPr>
        <p:spPr>
          <a:xfrm>
            <a:off x="457200" y="5806440"/>
            <a:ext cx="11247120" cy="566928"/>
          </a:xfrm>
          <a:prstGeom prst="roundRect">
            <a:avLst>
              <a:gd name="adj" fmla="val 9677"/>
            </a:avLst>
          </a:prstGeom>
          <a:solidFill>
            <a:srgbClr val="F4F2ED"/>
          </a:solidFill>
          <a:ln w="9525">
            <a:solidFill>
              <a:srgbClr val="E4E0D6"/>
            </a:solidFill>
            <a:prstDash val="solid"/>
          </a:ln>
        </p:spPr>
      </p:sp>
      <p:sp>
        <p:nvSpPr>
          <p:cNvPr id="7" name="Text 4"/>
          <p:cNvSpPr/>
          <p:nvPr/>
        </p:nvSpPr>
        <p:spPr>
          <a:xfrm>
            <a:off x="685800" y="5806440"/>
            <a:ext cx="10789920" cy="566928"/>
          </a:xfrm>
          <a:prstGeom prst="rect">
            <a:avLst/>
          </a:prstGeom>
          <a:noFill/>
          <a:ln/>
        </p:spPr>
        <p:txBody>
          <a:bodyPr wrap="square" rtlCol="0" anchor="ctr"/>
          <a:lstStyle/>
          <a:p>
            <a:pPr indent="0" marL="0">
              <a:buNone/>
            </a:pPr>
            <a:r>
              <a:rPr lang="en-US" sz="1000" b="1" dirty="0">
                <a:solidFill>
                  <a:srgbClr val="D85A30"/>
                </a:solidFill>
                <a:latin typeface="Calibri" pitchFamily="34" charset="0"/>
                <a:ea typeface="Calibri" pitchFamily="34" charset="-122"/>
                <a:cs typeface="Calibri" pitchFamily="34" charset="-120"/>
              </a:rPr>
              <a:t>EXECUTIVE TAKEAWAY   </a:t>
            </a:r>
            <a:pPr indent="0" marL="0">
              <a:buNone/>
            </a:pPr>
            <a:r>
              <a:rPr lang="en-US" sz="1050" dirty="0">
                <a:solidFill>
                  <a:srgbClr val="222222"/>
                </a:solidFill>
                <a:latin typeface="Calibri" pitchFamily="34" charset="0"/>
                <a:ea typeface="Calibri" pitchFamily="34" charset="-122"/>
                <a:cs typeface="Calibri" pitchFamily="34" charset="-120"/>
              </a:rPr>
              <a:t>The SME disbursement gap strengthens — not contradicts — the merchant-first recommendation.</a:t>
            </a:r>
            <a:endParaRPr lang="en-US" sz="1000" dirty="0"/>
          </a:p>
        </p:txBody>
      </p:sp>
      <p:sp>
        <p:nvSpPr>
          <p:cNvPr id="8" name="Text 5"/>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6"/>
                </a:solidFill>
                <a:latin typeface="Calibri" pitchFamily="34" charset="0"/>
                <a:ea typeface="Calibri" pitchFamily="34" charset="-122"/>
                <a:cs typeface="Calibri" pitchFamily="34" charset="-120"/>
              </a:rPr>
              <a:t>7 / 12</a:t>
            </a:r>
            <a:endParaRPr lang="en-US" sz="900" dirty="0"/>
          </a:p>
        </p:txBody>
      </p:sp>
      <p:sp>
        <p:nvSpPr>
          <p:cNvPr id="9" name="Text 6"/>
          <p:cNvSpPr/>
          <p:nvPr/>
        </p:nvSpPr>
        <p:spPr>
          <a:xfrm>
            <a:off x="457200" y="6446520"/>
            <a:ext cx="5486400" cy="274320"/>
          </a:xfrm>
          <a:prstGeom prst="rect">
            <a:avLst/>
          </a:prstGeom>
          <a:noFill/>
          <a:ln/>
        </p:spPr>
        <p:txBody>
          <a:bodyPr wrap="square" rtlCol="0" anchor="ctr"/>
          <a:lstStyle/>
          <a:p>
            <a:pPr indent="0" marL="0">
              <a:buNone/>
            </a:pPr>
            <a:r>
              <a:rPr lang="en-US" sz="800" spc="100" kern="0" dirty="0">
                <a:solidFill>
                  <a:srgbClr val="AFAFAA"/>
                </a:solidFill>
                <a:latin typeface="Calibri" pitchFamily="34" charset="0"/>
                <a:ea typeface="Calibri" pitchFamily="34" charset="-122"/>
                <a:cs typeface="Calibri" pitchFamily="34" charset="-120"/>
              </a:rPr>
              <a:t>NEO PSP STRATEGIC GROWTH BLUEPRINT</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274320"/>
          </a:xfrm>
          <a:prstGeom prst="rect">
            <a:avLst/>
          </a:prstGeom>
          <a:noFill/>
          <a:ln/>
        </p:spPr>
        <p:txBody>
          <a:bodyPr wrap="square" rtlCol="0" anchor="ctr"/>
          <a:lstStyle/>
          <a:p>
            <a:pPr indent="0" marL="0">
              <a:buNone/>
            </a:pPr>
            <a:r>
              <a:rPr lang="en-US" sz="1100" b="1" spc="120" kern="0" dirty="0">
                <a:solidFill>
                  <a:srgbClr val="D85A30"/>
                </a:solidFill>
                <a:latin typeface="Calibri" pitchFamily="34" charset="0"/>
                <a:ea typeface="Calibri" pitchFamily="34" charset="-122"/>
                <a:cs typeface="Calibri" pitchFamily="34" charset="-120"/>
              </a:rPr>
              <a:t>GROWTH ROADMAP</a:t>
            </a:r>
            <a:endParaRPr lang="en-US" sz="1100" dirty="0"/>
          </a:p>
        </p:txBody>
      </p:sp>
      <p:sp>
        <p:nvSpPr>
          <p:cNvPr id="3" name="Text 1"/>
          <p:cNvSpPr/>
          <p:nvPr/>
        </p:nvSpPr>
        <p:spPr>
          <a:xfrm>
            <a:off x="457200" y="566928"/>
            <a:ext cx="11247120" cy="45720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A sequenced 36-month path — not three parallel bets</a:t>
            </a:r>
            <a:endParaRPr lang="en-US" sz="2200" dirty="0"/>
          </a:p>
        </p:txBody>
      </p:sp>
      <p:sp>
        <p:nvSpPr>
          <p:cNvPr id="4" name="Text 2"/>
          <p:cNvSpPr/>
          <p:nvPr/>
        </p:nvSpPr>
        <p:spPr>
          <a:xfrm>
            <a:off x="457200" y="1024128"/>
            <a:ext cx="11247120" cy="685800"/>
          </a:xfrm>
          <a:prstGeom prst="rect">
            <a:avLst/>
          </a:prstGeom>
          <a:noFill/>
          <a:ln/>
        </p:spPr>
        <p:txBody>
          <a:bodyPr wrap="square" rtlCol="0" anchor="ctr"/>
          <a:lstStyle/>
          <a:p>
            <a:pPr indent="0" marL="0">
              <a:lnSpc>
                <a:spcPct val="105000"/>
              </a:lnSpc>
              <a:buNone/>
            </a:pPr>
            <a:r>
              <a:rPr lang="en-US" sz="1550" i="1" dirty="0">
                <a:solidFill>
                  <a:srgbClr val="222222"/>
                </a:solidFill>
                <a:latin typeface="Calibri" pitchFamily="34" charset="0"/>
                <a:ea typeface="Calibri" pitchFamily="34" charset="-122"/>
                <a:cs typeface="Calibri" pitchFamily="34" charset="-120"/>
              </a:rPr>
              <a:t>Each horizon funds and de-risks the next; capital discipline in the first 18 months matters more than product breadth.</a:t>
            </a:r>
            <a:endParaRPr lang="en-US" sz="1550" dirty="0"/>
          </a:p>
        </p:txBody>
      </p:sp>
      <p:sp>
        <p:nvSpPr>
          <p:cNvPr id="5" name="Shape 3"/>
          <p:cNvSpPr/>
          <p:nvPr/>
        </p:nvSpPr>
        <p:spPr>
          <a:xfrm>
            <a:off x="685800" y="2743200"/>
            <a:ext cx="3541776" cy="1188720"/>
          </a:xfrm>
          <a:prstGeom prst="rect">
            <a:avLst/>
          </a:prstGeom>
          <a:solidFill>
            <a:srgbClr val="1B2A4A"/>
          </a:solidFill>
          <a:ln/>
        </p:spPr>
      </p:sp>
      <p:sp>
        <p:nvSpPr>
          <p:cNvPr id="6" name="Text 4"/>
          <p:cNvSpPr/>
          <p:nvPr/>
        </p:nvSpPr>
        <p:spPr>
          <a:xfrm>
            <a:off x="822960" y="2880360"/>
            <a:ext cx="32308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Horizon 1  ·  0–12 months</a:t>
            </a:r>
            <a:endParaRPr lang="en-US" sz="1250" dirty="0"/>
          </a:p>
        </p:txBody>
      </p:sp>
      <p:sp>
        <p:nvSpPr>
          <p:cNvPr id="7" name="Text 5"/>
          <p:cNvSpPr/>
          <p:nvPr/>
        </p:nvSpPr>
        <p:spPr>
          <a:xfrm>
            <a:off x="822960" y="3246120"/>
            <a:ext cx="3230880" cy="640080"/>
          </a:xfrm>
          <a:prstGeom prst="rect">
            <a:avLst/>
          </a:prstGeom>
          <a:noFill/>
          <a:ln/>
        </p:spPr>
        <p:txBody>
          <a:bodyPr wrap="square" rtlCol="0" anchor="ctr"/>
          <a:lstStyle/>
          <a:p>
            <a:pPr indent="0" marL="0">
              <a:lnSpc>
                <a:spcPct val="110000"/>
              </a:lnSpc>
              <a:buNone/>
            </a:pPr>
            <a:r>
              <a:rPr lang="en-US" sz="1050" dirty="0">
                <a:solidFill>
                  <a:srgbClr val="EDEBE3"/>
                </a:solidFill>
                <a:latin typeface="Calibri" pitchFamily="34" charset="0"/>
                <a:ea typeface="Calibri" pitchFamily="34" charset="-122"/>
                <a:cs typeface="Calibri" pitchFamily="34" charset="-120"/>
              </a:rPr>
              <a:t>Launch core rail: transfers, bill pay, merchant onboarding via Banglalink base</a:t>
            </a:r>
            <a:endParaRPr lang="en-US" sz="1050" dirty="0"/>
          </a:p>
        </p:txBody>
      </p:sp>
      <p:sp>
        <p:nvSpPr>
          <p:cNvPr id="8" name="Shape 6"/>
          <p:cNvSpPr/>
          <p:nvPr/>
        </p:nvSpPr>
        <p:spPr>
          <a:xfrm>
            <a:off x="4282440" y="2743200"/>
            <a:ext cx="3541776" cy="1188720"/>
          </a:xfrm>
          <a:prstGeom prst="rect">
            <a:avLst/>
          </a:prstGeom>
          <a:solidFill>
            <a:srgbClr val="0F6E56"/>
          </a:solidFill>
          <a:ln/>
        </p:spPr>
      </p:sp>
      <p:sp>
        <p:nvSpPr>
          <p:cNvPr id="9" name="Text 7"/>
          <p:cNvSpPr/>
          <p:nvPr/>
        </p:nvSpPr>
        <p:spPr>
          <a:xfrm>
            <a:off x="4419600" y="2880360"/>
            <a:ext cx="32308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Horizon 2  ·  12–24 months</a:t>
            </a:r>
            <a:endParaRPr lang="en-US" sz="1250" dirty="0"/>
          </a:p>
        </p:txBody>
      </p:sp>
      <p:sp>
        <p:nvSpPr>
          <p:cNvPr id="10" name="Text 8"/>
          <p:cNvSpPr/>
          <p:nvPr/>
        </p:nvSpPr>
        <p:spPr>
          <a:xfrm>
            <a:off x="4419600" y="3246120"/>
            <a:ext cx="3230880" cy="640080"/>
          </a:xfrm>
          <a:prstGeom prst="rect">
            <a:avLst/>
          </a:prstGeom>
          <a:noFill/>
          <a:ln/>
        </p:spPr>
        <p:txBody>
          <a:bodyPr wrap="square" rtlCol="0" anchor="ctr"/>
          <a:lstStyle/>
          <a:p>
            <a:pPr indent="0" marL="0">
              <a:lnSpc>
                <a:spcPct val="110000"/>
              </a:lnSpc>
              <a:buNone/>
            </a:pPr>
            <a:r>
              <a:rPr lang="en-US" sz="1050" dirty="0">
                <a:solidFill>
                  <a:srgbClr val="EDEBE3"/>
                </a:solidFill>
                <a:latin typeface="Calibri" pitchFamily="34" charset="0"/>
                <a:ea typeface="Calibri" pitchFamily="34" charset="-122"/>
                <a:cs typeface="Calibri" pitchFamily="34" charset="-120"/>
              </a:rPr>
              <a:t>Scale merchant network &amp; open B2B/enterprise disbursement</a:t>
            </a:r>
            <a:endParaRPr lang="en-US" sz="1050" dirty="0"/>
          </a:p>
        </p:txBody>
      </p:sp>
      <p:sp>
        <p:nvSpPr>
          <p:cNvPr id="11" name="Shape 9"/>
          <p:cNvSpPr/>
          <p:nvPr/>
        </p:nvSpPr>
        <p:spPr>
          <a:xfrm>
            <a:off x="7879080" y="2743200"/>
            <a:ext cx="3541776" cy="1188720"/>
          </a:xfrm>
          <a:prstGeom prst="rect">
            <a:avLst/>
          </a:prstGeom>
          <a:solidFill>
            <a:srgbClr val="D85A30"/>
          </a:solidFill>
          <a:ln/>
        </p:spPr>
      </p:sp>
      <p:sp>
        <p:nvSpPr>
          <p:cNvPr id="12" name="Text 10"/>
          <p:cNvSpPr/>
          <p:nvPr/>
        </p:nvSpPr>
        <p:spPr>
          <a:xfrm>
            <a:off x="8016240" y="2880360"/>
            <a:ext cx="32308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Horizon 3  ·  24–36 months</a:t>
            </a:r>
            <a:endParaRPr lang="en-US" sz="1250" dirty="0"/>
          </a:p>
        </p:txBody>
      </p:sp>
      <p:sp>
        <p:nvSpPr>
          <p:cNvPr id="13" name="Text 11"/>
          <p:cNvSpPr/>
          <p:nvPr/>
        </p:nvSpPr>
        <p:spPr>
          <a:xfrm>
            <a:off x="8016240" y="3246120"/>
            <a:ext cx="3230880" cy="640080"/>
          </a:xfrm>
          <a:prstGeom prst="rect">
            <a:avLst/>
          </a:prstGeom>
          <a:noFill/>
          <a:ln/>
        </p:spPr>
        <p:txBody>
          <a:bodyPr wrap="square" rtlCol="0" anchor="ctr"/>
          <a:lstStyle/>
          <a:p>
            <a:pPr indent="0" marL="0">
              <a:lnSpc>
                <a:spcPct val="110000"/>
              </a:lnSpc>
              <a:buNone/>
            </a:pPr>
            <a:r>
              <a:rPr lang="en-US" sz="1050" dirty="0">
                <a:solidFill>
                  <a:srgbClr val="EDEBE3"/>
                </a:solidFill>
                <a:latin typeface="Calibri" pitchFamily="34" charset="0"/>
                <a:ea typeface="Calibri" pitchFamily="34" charset="-122"/>
                <a:cs typeface="Calibri" pitchFamily="34" charset="-120"/>
              </a:rPr>
              <a:t>Adjacent services (savings, insurance) &amp; VEON regional leverage</a:t>
            </a:r>
            <a:endParaRPr lang="en-US" sz="1050" dirty="0"/>
          </a:p>
        </p:txBody>
      </p:sp>
      <p:sp>
        <p:nvSpPr>
          <p:cNvPr id="14" name="Text 12"/>
          <p:cNvSpPr/>
          <p:nvPr/>
        </p:nvSpPr>
        <p:spPr>
          <a:xfrm>
            <a:off x="502920" y="4023360"/>
            <a:ext cx="1097280" cy="274320"/>
          </a:xfrm>
          <a:prstGeom prst="rect">
            <a:avLst/>
          </a:prstGeom>
          <a:noFill/>
          <a:ln/>
        </p:spPr>
        <p:txBody>
          <a:bodyPr wrap="square" rtlCol="0" anchor="ctr"/>
          <a:lstStyle/>
          <a:p>
            <a:pPr indent="0" marL="0">
              <a:buNone/>
            </a:pPr>
            <a:r>
              <a:rPr lang="en-US" sz="950" dirty="0">
                <a:solidFill>
                  <a:srgbClr val="6B6B66"/>
                </a:solidFill>
              </a:rPr>
              <a:t>Month 0</a:t>
            </a:r>
            <a:endParaRPr lang="en-US" sz="950" dirty="0"/>
          </a:p>
        </p:txBody>
      </p:sp>
      <p:sp>
        <p:nvSpPr>
          <p:cNvPr id="15" name="Text 13"/>
          <p:cNvSpPr/>
          <p:nvPr/>
        </p:nvSpPr>
        <p:spPr>
          <a:xfrm>
            <a:off x="10424160" y="4023360"/>
            <a:ext cx="1097280" cy="274320"/>
          </a:xfrm>
          <a:prstGeom prst="rect">
            <a:avLst/>
          </a:prstGeom>
          <a:noFill/>
          <a:ln/>
        </p:spPr>
        <p:txBody>
          <a:bodyPr wrap="square" rtlCol="0" anchor="ctr"/>
          <a:lstStyle/>
          <a:p>
            <a:pPr algn="r" indent="0" marL="0">
              <a:buNone/>
            </a:pPr>
            <a:r>
              <a:rPr lang="en-US" sz="950" dirty="0">
                <a:solidFill>
                  <a:srgbClr val="6B6B66"/>
                </a:solidFill>
              </a:rPr>
              <a:t>Month 36</a:t>
            </a:r>
            <a:endParaRPr lang="en-US" sz="950" dirty="0"/>
          </a:p>
        </p:txBody>
      </p:sp>
      <p:sp>
        <p:nvSpPr>
          <p:cNvPr id="16" name="Text 14"/>
          <p:cNvSpPr/>
          <p:nvPr/>
        </p:nvSpPr>
        <p:spPr>
          <a:xfrm>
            <a:off x="457200" y="4480560"/>
            <a:ext cx="11247120" cy="1005840"/>
          </a:xfrm>
          <a:prstGeom prst="rect">
            <a:avLst/>
          </a:prstGeom>
          <a:noFill/>
          <a:ln/>
        </p:spPr>
        <p:txBody>
          <a:bodyPr wrap="square" rtlCol="0" anchor="t"/>
          <a:lstStyle/>
          <a:p>
            <a:pPr marL="177800" indent="-177800">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Governance gate at each phase boundary: capital for the next horizon releases only against clean metrics from the current one.</a:t>
            </a:r>
            <a:endParaRPr lang="en-US" sz="1250" dirty="0"/>
          </a:p>
          <a:p>
            <a:pPr marL="177800" indent="-177800">
              <a:spcAft>
                <a:spcPts val="1000"/>
              </a:spcAft>
              <a:buSzPct val="100000"/>
              <a:buChar char="●"/>
            </a:pPr>
            <a:r>
              <a:rPr lang="en-US" sz="1250" dirty="0">
                <a:solidFill>
                  <a:srgbClr val="222222"/>
                </a:solidFill>
                <a:latin typeface="Calibri" pitchFamily="34" charset="0"/>
                <a:ea typeface="Calibri" pitchFamily="34" charset="-122"/>
                <a:cs typeface="Calibri" pitchFamily="34" charset="-120"/>
              </a:rPr>
              <a:t>Full phase-by-phase objectives, dependencies, and risks are detailed in the companion Implementation Roadmap.</a:t>
            </a:r>
            <a:endParaRPr lang="en-US" sz="1250" dirty="0"/>
          </a:p>
        </p:txBody>
      </p:sp>
      <p:sp>
        <p:nvSpPr>
          <p:cNvPr id="17" name="Shape 15"/>
          <p:cNvSpPr/>
          <p:nvPr/>
        </p:nvSpPr>
        <p:spPr>
          <a:xfrm>
            <a:off x="457200" y="5806440"/>
            <a:ext cx="11247120" cy="566928"/>
          </a:xfrm>
          <a:prstGeom prst="roundRect">
            <a:avLst>
              <a:gd name="adj" fmla="val 9677"/>
            </a:avLst>
          </a:prstGeom>
          <a:solidFill>
            <a:srgbClr val="F4F2ED"/>
          </a:solidFill>
          <a:ln w="9525">
            <a:solidFill>
              <a:srgbClr val="E4E0D6"/>
            </a:solidFill>
            <a:prstDash val="solid"/>
          </a:ln>
        </p:spPr>
      </p:sp>
      <p:sp>
        <p:nvSpPr>
          <p:cNvPr id="18" name="Text 16"/>
          <p:cNvSpPr/>
          <p:nvPr/>
        </p:nvSpPr>
        <p:spPr>
          <a:xfrm>
            <a:off x="685800" y="5806440"/>
            <a:ext cx="10789920" cy="566928"/>
          </a:xfrm>
          <a:prstGeom prst="rect">
            <a:avLst/>
          </a:prstGeom>
          <a:noFill/>
          <a:ln/>
        </p:spPr>
        <p:txBody>
          <a:bodyPr wrap="square" rtlCol="0" anchor="ctr"/>
          <a:lstStyle/>
          <a:p>
            <a:pPr indent="0" marL="0">
              <a:buNone/>
            </a:pPr>
            <a:r>
              <a:rPr lang="en-US" sz="1000" b="1" dirty="0">
                <a:solidFill>
                  <a:srgbClr val="D85A30"/>
                </a:solidFill>
                <a:latin typeface="Calibri" pitchFamily="34" charset="0"/>
                <a:ea typeface="Calibri" pitchFamily="34" charset="-122"/>
                <a:cs typeface="Calibri" pitchFamily="34" charset="-120"/>
              </a:rPr>
              <a:t>EXECUTIVE TAKEAWAY   </a:t>
            </a:r>
            <a:pPr indent="0" marL="0">
              <a:buNone/>
            </a:pPr>
            <a:r>
              <a:rPr lang="en-US" sz="1050" dirty="0">
                <a:solidFill>
                  <a:srgbClr val="222222"/>
                </a:solidFill>
                <a:latin typeface="Calibri" pitchFamily="34" charset="0"/>
                <a:ea typeface="Calibri" pitchFamily="34" charset="-122"/>
                <a:cs typeface="Calibri" pitchFamily="34" charset="-120"/>
              </a:rPr>
              <a:t>Sequencing discipline is the risk control — not a separate contingency plan.</a:t>
            </a:r>
            <a:endParaRPr lang="en-US" sz="1000" dirty="0"/>
          </a:p>
        </p:txBody>
      </p:sp>
      <p:sp>
        <p:nvSpPr>
          <p:cNvPr id="19" name="Text 17"/>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6"/>
                </a:solidFill>
                <a:latin typeface="Calibri" pitchFamily="34" charset="0"/>
                <a:ea typeface="Calibri" pitchFamily="34" charset="-122"/>
                <a:cs typeface="Calibri" pitchFamily="34" charset="-120"/>
              </a:rPr>
              <a:t>8 / 12</a:t>
            </a:r>
            <a:endParaRPr lang="en-US" sz="900" dirty="0"/>
          </a:p>
        </p:txBody>
      </p:sp>
      <p:sp>
        <p:nvSpPr>
          <p:cNvPr id="20" name="Text 18"/>
          <p:cNvSpPr/>
          <p:nvPr/>
        </p:nvSpPr>
        <p:spPr>
          <a:xfrm>
            <a:off x="457200" y="6446520"/>
            <a:ext cx="5486400" cy="274320"/>
          </a:xfrm>
          <a:prstGeom prst="rect">
            <a:avLst/>
          </a:prstGeom>
          <a:noFill/>
          <a:ln/>
        </p:spPr>
        <p:txBody>
          <a:bodyPr wrap="square" rtlCol="0" anchor="ctr"/>
          <a:lstStyle/>
          <a:p>
            <a:pPr indent="0" marL="0">
              <a:buNone/>
            </a:pPr>
            <a:r>
              <a:rPr lang="en-US" sz="800" spc="100" kern="0" dirty="0">
                <a:solidFill>
                  <a:srgbClr val="AFAFAA"/>
                </a:solidFill>
                <a:latin typeface="Calibri" pitchFamily="34" charset="0"/>
                <a:ea typeface="Calibri" pitchFamily="34" charset="-122"/>
                <a:cs typeface="Calibri" pitchFamily="34" charset="-120"/>
              </a:rPr>
              <a:t>NEO PSP STRATEGIC GROWTH BLUEPRINT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274320"/>
          </a:xfrm>
          <a:prstGeom prst="rect">
            <a:avLst/>
          </a:prstGeom>
          <a:noFill/>
          <a:ln/>
        </p:spPr>
        <p:txBody>
          <a:bodyPr wrap="square" rtlCol="0" anchor="ctr"/>
          <a:lstStyle/>
          <a:p>
            <a:pPr indent="0" marL="0">
              <a:buNone/>
            </a:pPr>
            <a:r>
              <a:rPr lang="en-US" sz="1100" b="1" spc="120" kern="0" dirty="0">
                <a:solidFill>
                  <a:srgbClr val="D85A30"/>
                </a:solidFill>
                <a:latin typeface="Calibri" pitchFamily="34" charset="0"/>
                <a:ea typeface="Calibri" pitchFamily="34" charset="-122"/>
                <a:cs typeface="Calibri" pitchFamily="34" charset="-120"/>
              </a:rPr>
              <a:t>INITIATIVE PRIORITIZATION</a:t>
            </a:r>
            <a:endParaRPr lang="en-US" sz="1100" dirty="0"/>
          </a:p>
        </p:txBody>
      </p:sp>
      <p:sp>
        <p:nvSpPr>
          <p:cNvPr id="3" name="Text 1"/>
          <p:cNvSpPr/>
          <p:nvPr/>
        </p:nvSpPr>
        <p:spPr>
          <a:xfrm>
            <a:off x="457200" y="566928"/>
            <a:ext cx="11247120" cy="45720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9 of 17 growth initiatives are Year-1 executable</a:t>
            </a:r>
            <a:endParaRPr lang="en-US" sz="2200" dirty="0"/>
          </a:p>
        </p:txBody>
      </p:sp>
      <p:sp>
        <p:nvSpPr>
          <p:cNvPr id="4" name="Text 2"/>
          <p:cNvSpPr/>
          <p:nvPr/>
        </p:nvSpPr>
        <p:spPr>
          <a:xfrm>
            <a:off x="457200" y="1024128"/>
            <a:ext cx="11247120" cy="685800"/>
          </a:xfrm>
          <a:prstGeom prst="rect">
            <a:avLst/>
          </a:prstGeom>
          <a:noFill/>
          <a:ln/>
        </p:spPr>
        <p:txBody>
          <a:bodyPr wrap="square" rtlCol="0" anchor="ctr"/>
          <a:lstStyle/>
          <a:p>
            <a:pPr indent="0" marL="0">
              <a:lnSpc>
                <a:spcPct val="105000"/>
              </a:lnSpc>
              <a:buNone/>
            </a:pPr>
            <a:r>
              <a:rPr lang="en-US" sz="1550" i="1" dirty="0">
                <a:solidFill>
                  <a:srgbClr val="222222"/>
                </a:solidFill>
                <a:latin typeface="Calibri" pitchFamily="34" charset="0"/>
                <a:ea typeface="Calibri" pitchFamily="34" charset="-122"/>
                <a:cs typeface="Calibri" pitchFamily="34" charset="-120"/>
              </a:rPr>
              <a:t>No need to wait on scale, data volume, or regulatory maturity — these lean entirely on assets Banglalink already has.</a:t>
            </a:r>
            <a:endParaRPr lang="en-US" sz="1550" dirty="0"/>
          </a:p>
        </p:txBody>
      </p:sp>
      <p:sp>
        <p:nvSpPr>
          <p:cNvPr id="5" name="Shape 3"/>
          <p:cNvSpPr/>
          <p:nvPr/>
        </p:nvSpPr>
        <p:spPr>
          <a:xfrm>
            <a:off x="685800" y="1965960"/>
            <a:ext cx="0" cy="3794760"/>
          </a:xfrm>
          <a:prstGeom prst="line">
            <a:avLst/>
          </a:prstGeom>
          <a:noFill/>
          <a:ln w="12700">
            <a:solidFill>
              <a:srgbClr val="D8D4C8"/>
            </a:solidFill>
            <a:prstDash val="solid"/>
          </a:ln>
        </p:spPr>
      </p:sp>
      <p:sp>
        <p:nvSpPr>
          <p:cNvPr id="6" name="Shape 4"/>
          <p:cNvSpPr/>
          <p:nvPr/>
        </p:nvSpPr>
        <p:spPr>
          <a:xfrm>
            <a:off x="685800" y="5760720"/>
            <a:ext cx="6858000" cy="0"/>
          </a:xfrm>
          <a:prstGeom prst="line">
            <a:avLst/>
          </a:prstGeom>
          <a:noFill/>
          <a:ln w="12700">
            <a:solidFill>
              <a:srgbClr val="D8D4C8"/>
            </a:solidFill>
            <a:prstDash val="solid"/>
          </a:ln>
        </p:spPr>
      </p:sp>
      <p:sp>
        <p:nvSpPr>
          <p:cNvPr id="7" name="Shape 5"/>
          <p:cNvSpPr/>
          <p:nvPr/>
        </p:nvSpPr>
        <p:spPr>
          <a:xfrm>
            <a:off x="685800" y="3863340"/>
            <a:ext cx="6858000" cy="0"/>
          </a:xfrm>
          <a:prstGeom prst="line">
            <a:avLst/>
          </a:prstGeom>
          <a:noFill/>
          <a:ln w="9525">
            <a:solidFill>
              <a:srgbClr val="EFEDE6"/>
            </a:solidFill>
            <a:prstDash val="dash"/>
          </a:ln>
        </p:spPr>
      </p:sp>
      <p:sp>
        <p:nvSpPr>
          <p:cNvPr id="8" name="Shape 6"/>
          <p:cNvSpPr/>
          <p:nvPr/>
        </p:nvSpPr>
        <p:spPr>
          <a:xfrm>
            <a:off x="4114800" y="1965960"/>
            <a:ext cx="0" cy="3794760"/>
          </a:xfrm>
          <a:prstGeom prst="line">
            <a:avLst/>
          </a:prstGeom>
          <a:noFill/>
          <a:ln w="9525">
            <a:solidFill>
              <a:srgbClr val="EFEDE6"/>
            </a:solidFill>
            <a:prstDash val="dash"/>
          </a:ln>
        </p:spPr>
      </p:sp>
      <p:sp>
        <p:nvSpPr>
          <p:cNvPr id="9" name="Text 7"/>
          <p:cNvSpPr/>
          <p:nvPr/>
        </p:nvSpPr>
        <p:spPr>
          <a:xfrm>
            <a:off x="685800" y="5833872"/>
            <a:ext cx="6858000" cy="274320"/>
          </a:xfrm>
          <a:prstGeom prst="rect">
            <a:avLst/>
          </a:prstGeom>
          <a:noFill/>
          <a:ln/>
        </p:spPr>
        <p:txBody>
          <a:bodyPr wrap="square"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Implementation complexity →</a:t>
            </a:r>
            <a:endParaRPr lang="en-US" sz="1000" dirty="0"/>
          </a:p>
        </p:txBody>
      </p:sp>
      <p:sp>
        <p:nvSpPr>
          <p:cNvPr id="10" name="Text 8"/>
          <p:cNvSpPr/>
          <p:nvPr/>
        </p:nvSpPr>
        <p:spPr>
          <a:xfrm rot="16200000">
            <a:off x="-1691640" y="3726180"/>
            <a:ext cx="2286000" cy="274320"/>
          </a:xfrm>
          <a:prstGeom prst="rect">
            <a:avLst/>
          </a:prstGeom>
          <a:noFill/>
          <a:ln/>
        </p:spPr>
        <p:txBody>
          <a:bodyPr wrap="square"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Strategic impact →</a:t>
            </a:r>
            <a:endParaRPr lang="en-US" sz="1000" dirty="0"/>
          </a:p>
        </p:txBody>
      </p:sp>
      <p:sp>
        <p:nvSpPr>
          <p:cNvPr id="11" name="Shape 9"/>
          <p:cNvSpPr/>
          <p:nvPr/>
        </p:nvSpPr>
        <p:spPr>
          <a:xfrm>
            <a:off x="1819656" y="2358695"/>
            <a:ext cx="201168" cy="201168"/>
          </a:xfrm>
          <a:prstGeom prst="ellipse">
            <a:avLst/>
          </a:prstGeom>
          <a:solidFill>
            <a:srgbClr val="D85A30"/>
          </a:solidFill>
          <a:ln w="15875">
            <a:solidFill>
              <a:srgbClr val="FFFFFF"/>
            </a:solidFill>
            <a:prstDash val="solid"/>
          </a:ln>
        </p:spPr>
      </p:sp>
      <p:sp>
        <p:nvSpPr>
          <p:cNvPr id="12" name="Text 10"/>
          <p:cNvSpPr/>
          <p:nvPr/>
        </p:nvSpPr>
        <p:spPr>
          <a:xfrm>
            <a:off x="813816" y="2587295"/>
            <a:ext cx="2212848" cy="365760"/>
          </a:xfrm>
          <a:prstGeom prst="rect">
            <a:avLst/>
          </a:prstGeom>
          <a:noFill/>
          <a:ln/>
        </p:spPr>
        <p:txBody>
          <a:bodyPr wrap="square" rtlCol="0" anchor="ctr"/>
          <a:lstStyle/>
          <a:p>
            <a:pPr algn="ctr" indent="0" marL="0">
              <a:buNone/>
            </a:pPr>
            <a:endParaRPr lang="en-US" sz="950" dirty="0"/>
          </a:p>
        </p:txBody>
      </p:sp>
      <p:sp>
        <p:nvSpPr>
          <p:cNvPr id="13" name="Shape 11"/>
          <p:cNvSpPr/>
          <p:nvPr/>
        </p:nvSpPr>
        <p:spPr>
          <a:xfrm>
            <a:off x="1682496" y="2510485"/>
            <a:ext cx="201168" cy="201168"/>
          </a:xfrm>
          <a:prstGeom prst="ellipse">
            <a:avLst/>
          </a:prstGeom>
          <a:solidFill>
            <a:srgbClr val="D85A30"/>
          </a:solidFill>
          <a:ln w="15875">
            <a:solidFill>
              <a:srgbClr val="FFFFFF"/>
            </a:solidFill>
            <a:prstDash val="solid"/>
          </a:ln>
        </p:spPr>
      </p:sp>
      <p:sp>
        <p:nvSpPr>
          <p:cNvPr id="14" name="Text 12"/>
          <p:cNvSpPr/>
          <p:nvPr/>
        </p:nvSpPr>
        <p:spPr>
          <a:xfrm>
            <a:off x="676656" y="2739085"/>
            <a:ext cx="2212848" cy="365760"/>
          </a:xfrm>
          <a:prstGeom prst="rect">
            <a:avLst/>
          </a:prstGeom>
          <a:noFill/>
          <a:ln/>
        </p:spPr>
        <p:txBody>
          <a:bodyPr wrap="square" rtlCol="0" anchor="ctr"/>
          <a:lstStyle/>
          <a:p>
            <a:pPr algn="ctr" indent="0" marL="0">
              <a:buNone/>
            </a:pPr>
            <a:endParaRPr lang="en-US" sz="950" dirty="0"/>
          </a:p>
        </p:txBody>
      </p:sp>
      <p:sp>
        <p:nvSpPr>
          <p:cNvPr id="15" name="Shape 13"/>
          <p:cNvSpPr/>
          <p:nvPr/>
        </p:nvSpPr>
        <p:spPr>
          <a:xfrm>
            <a:off x="2231136" y="3383280"/>
            <a:ext cx="201168" cy="201168"/>
          </a:xfrm>
          <a:prstGeom prst="ellipse">
            <a:avLst/>
          </a:prstGeom>
          <a:solidFill>
            <a:srgbClr val="D85A30"/>
          </a:solidFill>
          <a:ln w="15875">
            <a:solidFill>
              <a:srgbClr val="FFFFFF"/>
            </a:solidFill>
            <a:prstDash val="solid"/>
          </a:ln>
        </p:spPr>
      </p:sp>
      <p:sp>
        <p:nvSpPr>
          <p:cNvPr id="16" name="Text 14"/>
          <p:cNvSpPr/>
          <p:nvPr/>
        </p:nvSpPr>
        <p:spPr>
          <a:xfrm>
            <a:off x="1225296" y="3611880"/>
            <a:ext cx="2212848" cy="365760"/>
          </a:xfrm>
          <a:prstGeom prst="rect">
            <a:avLst/>
          </a:prstGeom>
          <a:noFill/>
          <a:ln/>
        </p:spPr>
        <p:txBody>
          <a:bodyPr wrap="square" rtlCol="0" anchor="ctr"/>
          <a:lstStyle/>
          <a:p>
            <a:pPr algn="ctr" indent="0" marL="0">
              <a:buNone/>
            </a:pPr>
            <a:endParaRPr lang="en-US" sz="950" dirty="0"/>
          </a:p>
        </p:txBody>
      </p:sp>
      <p:sp>
        <p:nvSpPr>
          <p:cNvPr id="17" name="Shape 15"/>
          <p:cNvSpPr/>
          <p:nvPr/>
        </p:nvSpPr>
        <p:spPr>
          <a:xfrm>
            <a:off x="1956816" y="3535070"/>
            <a:ext cx="201168" cy="201168"/>
          </a:xfrm>
          <a:prstGeom prst="ellipse">
            <a:avLst/>
          </a:prstGeom>
          <a:solidFill>
            <a:srgbClr val="D85A30"/>
          </a:solidFill>
          <a:ln w="15875">
            <a:solidFill>
              <a:srgbClr val="FFFFFF"/>
            </a:solidFill>
            <a:prstDash val="solid"/>
          </a:ln>
        </p:spPr>
      </p:sp>
      <p:sp>
        <p:nvSpPr>
          <p:cNvPr id="18" name="Text 16"/>
          <p:cNvSpPr/>
          <p:nvPr/>
        </p:nvSpPr>
        <p:spPr>
          <a:xfrm>
            <a:off x="950976" y="3763670"/>
            <a:ext cx="2212848" cy="365760"/>
          </a:xfrm>
          <a:prstGeom prst="rect">
            <a:avLst/>
          </a:prstGeom>
          <a:noFill/>
          <a:ln/>
        </p:spPr>
        <p:txBody>
          <a:bodyPr wrap="square" rtlCol="0" anchor="ctr"/>
          <a:lstStyle/>
          <a:p>
            <a:pPr algn="ctr" indent="0" marL="0">
              <a:buNone/>
            </a:pPr>
            <a:endParaRPr lang="en-US" sz="950" dirty="0"/>
          </a:p>
        </p:txBody>
      </p:sp>
      <p:sp>
        <p:nvSpPr>
          <p:cNvPr id="19" name="Shape 17"/>
          <p:cNvSpPr/>
          <p:nvPr/>
        </p:nvSpPr>
        <p:spPr>
          <a:xfrm>
            <a:off x="4014216" y="2700223"/>
            <a:ext cx="201168" cy="201168"/>
          </a:xfrm>
          <a:prstGeom prst="ellipse">
            <a:avLst/>
          </a:prstGeom>
          <a:solidFill>
            <a:srgbClr val="BA7517"/>
          </a:solidFill>
          <a:ln w="15875">
            <a:solidFill>
              <a:srgbClr val="FFFFFF"/>
            </a:solidFill>
            <a:prstDash val="solid"/>
          </a:ln>
        </p:spPr>
      </p:sp>
      <p:sp>
        <p:nvSpPr>
          <p:cNvPr id="20" name="Text 18"/>
          <p:cNvSpPr/>
          <p:nvPr/>
        </p:nvSpPr>
        <p:spPr>
          <a:xfrm>
            <a:off x="3008376" y="2928823"/>
            <a:ext cx="2212848" cy="365760"/>
          </a:xfrm>
          <a:prstGeom prst="rect">
            <a:avLst/>
          </a:prstGeom>
          <a:noFill/>
          <a:ln/>
        </p:spPr>
        <p:txBody>
          <a:bodyPr wrap="square" rtlCol="0" anchor="ctr"/>
          <a:lstStyle/>
          <a:p>
            <a:pPr algn="ctr" indent="0" marL="0">
              <a:buNone/>
            </a:pPr>
            <a:endParaRPr lang="en-US" sz="950" dirty="0"/>
          </a:p>
        </p:txBody>
      </p:sp>
      <p:sp>
        <p:nvSpPr>
          <p:cNvPr id="21" name="Shape 19"/>
          <p:cNvSpPr/>
          <p:nvPr/>
        </p:nvSpPr>
        <p:spPr>
          <a:xfrm>
            <a:off x="4425696" y="2548433"/>
            <a:ext cx="201168" cy="201168"/>
          </a:xfrm>
          <a:prstGeom prst="ellipse">
            <a:avLst/>
          </a:prstGeom>
          <a:solidFill>
            <a:srgbClr val="BA7517"/>
          </a:solidFill>
          <a:ln w="15875">
            <a:solidFill>
              <a:srgbClr val="FFFFFF"/>
            </a:solidFill>
            <a:prstDash val="solid"/>
          </a:ln>
        </p:spPr>
      </p:sp>
      <p:sp>
        <p:nvSpPr>
          <p:cNvPr id="22" name="Text 20"/>
          <p:cNvSpPr/>
          <p:nvPr/>
        </p:nvSpPr>
        <p:spPr>
          <a:xfrm>
            <a:off x="3419856" y="2777033"/>
            <a:ext cx="2212848" cy="365760"/>
          </a:xfrm>
          <a:prstGeom prst="rect">
            <a:avLst/>
          </a:prstGeom>
          <a:noFill/>
          <a:ln/>
        </p:spPr>
        <p:txBody>
          <a:bodyPr wrap="square" rtlCol="0" anchor="ctr"/>
          <a:lstStyle/>
          <a:p>
            <a:pPr algn="ctr" indent="0" marL="0">
              <a:buNone/>
            </a:pPr>
            <a:endParaRPr lang="en-US" sz="950" dirty="0"/>
          </a:p>
        </p:txBody>
      </p:sp>
      <p:sp>
        <p:nvSpPr>
          <p:cNvPr id="23" name="Shape 21"/>
          <p:cNvSpPr/>
          <p:nvPr/>
        </p:nvSpPr>
        <p:spPr>
          <a:xfrm>
            <a:off x="4288536" y="2776118"/>
            <a:ext cx="201168" cy="201168"/>
          </a:xfrm>
          <a:prstGeom prst="ellipse">
            <a:avLst/>
          </a:prstGeom>
          <a:solidFill>
            <a:srgbClr val="BA7517"/>
          </a:solidFill>
          <a:ln w="15875">
            <a:solidFill>
              <a:srgbClr val="FFFFFF"/>
            </a:solidFill>
            <a:prstDash val="solid"/>
          </a:ln>
        </p:spPr>
      </p:sp>
      <p:sp>
        <p:nvSpPr>
          <p:cNvPr id="24" name="Text 22"/>
          <p:cNvSpPr/>
          <p:nvPr/>
        </p:nvSpPr>
        <p:spPr>
          <a:xfrm>
            <a:off x="3282696" y="3004718"/>
            <a:ext cx="2212848" cy="365760"/>
          </a:xfrm>
          <a:prstGeom prst="rect">
            <a:avLst/>
          </a:prstGeom>
          <a:noFill/>
          <a:ln/>
        </p:spPr>
        <p:txBody>
          <a:bodyPr wrap="square" rtlCol="0" anchor="ctr"/>
          <a:lstStyle/>
          <a:p>
            <a:pPr algn="ctr" indent="0" marL="0">
              <a:buNone/>
            </a:pPr>
            <a:endParaRPr lang="en-US" sz="950" dirty="0"/>
          </a:p>
        </p:txBody>
      </p:sp>
      <p:sp>
        <p:nvSpPr>
          <p:cNvPr id="25" name="Shape 23"/>
          <p:cNvSpPr/>
          <p:nvPr/>
        </p:nvSpPr>
        <p:spPr>
          <a:xfrm>
            <a:off x="4151376" y="3459175"/>
            <a:ext cx="201168" cy="201168"/>
          </a:xfrm>
          <a:prstGeom prst="ellipse">
            <a:avLst/>
          </a:prstGeom>
          <a:solidFill>
            <a:srgbClr val="BA7517"/>
          </a:solidFill>
          <a:ln w="15875">
            <a:solidFill>
              <a:srgbClr val="FFFFFF"/>
            </a:solidFill>
            <a:prstDash val="solid"/>
          </a:ln>
        </p:spPr>
      </p:sp>
      <p:sp>
        <p:nvSpPr>
          <p:cNvPr id="26" name="Text 24"/>
          <p:cNvSpPr/>
          <p:nvPr/>
        </p:nvSpPr>
        <p:spPr>
          <a:xfrm>
            <a:off x="3145536" y="3687775"/>
            <a:ext cx="2212848" cy="365760"/>
          </a:xfrm>
          <a:prstGeom prst="rect">
            <a:avLst/>
          </a:prstGeom>
          <a:noFill/>
          <a:ln/>
        </p:spPr>
        <p:txBody>
          <a:bodyPr wrap="square" rtlCol="0" anchor="ctr"/>
          <a:lstStyle/>
          <a:p>
            <a:pPr algn="ctr" indent="0" marL="0">
              <a:buNone/>
            </a:pPr>
            <a:endParaRPr lang="en-US" sz="950" dirty="0"/>
          </a:p>
        </p:txBody>
      </p:sp>
      <p:sp>
        <p:nvSpPr>
          <p:cNvPr id="27" name="Shape 25"/>
          <p:cNvSpPr/>
          <p:nvPr/>
        </p:nvSpPr>
        <p:spPr>
          <a:xfrm>
            <a:off x="6071616" y="3610966"/>
            <a:ext cx="201168" cy="201168"/>
          </a:xfrm>
          <a:prstGeom prst="ellipse">
            <a:avLst/>
          </a:prstGeom>
          <a:solidFill>
            <a:srgbClr val="6B6B66"/>
          </a:solidFill>
          <a:ln w="15875">
            <a:solidFill>
              <a:srgbClr val="FFFFFF"/>
            </a:solidFill>
            <a:prstDash val="solid"/>
          </a:ln>
        </p:spPr>
      </p:sp>
      <p:sp>
        <p:nvSpPr>
          <p:cNvPr id="28" name="Text 26"/>
          <p:cNvSpPr/>
          <p:nvPr/>
        </p:nvSpPr>
        <p:spPr>
          <a:xfrm>
            <a:off x="5065776" y="3839566"/>
            <a:ext cx="2212848" cy="365760"/>
          </a:xfrm>
          <a:prstGeom prst="rect">
            <a:avLst/>
          </a:prstGeom>
          <a:noFill/>
          <a:ln/>
        </p:spPr>
        <p:txBody>
          <a:bodyPr wrap="square" rtlCol="0" anchor="ctr"/>
          <a:lstStyle/>
          <a:p>
            <a:pPr algn="ctr" indent="0" marL="0">
              <a:buNone/>
            </a:pPr>
            <a:endParaRPr lang="en-US" sz="950" dirty="0"/>
          </a:p>
        </p:txBody>
      </p:sp>
      <p:sp>
        <p:nvSpPr>
          <p:cNvPr id="29" name="Shape 27"/>
          <p:cNvSpPr/>
          <p:nvPr/>
        </p:nvSpPr>
        <p:spPr>
          <a:xfrm>
            <a:off x="6345936" y="3535070"/>
            <a:ext cx="201168" cy="201168"/>
          </a:xfrm>
          <a:prstGeom prst="ellipse">
            <a:avLst/>
          </a:prstGeom>
          <a:solidFill>
            <a:srgbClr val="6B6B66"/>
          </a:solidFill>
          <a:ln w="15875">
            <a:solidFill>
              <a:srgbClr val="FFFFFF"/>
            </a:solidFill>
            <a:prstDash val="solid"/>
          </a:ln>
        </p:spPr>
      </p:sp>
      <p:sp>
        <p:nvSpPr>
          <p:cNvPr id="30" name="Text 28"/>
          <p:cNvSpPr/>
          <p:nvPr/>
        </p:nvSpPr>
        <p:spPr>
          <a:xfrm>
            <a:off x="5340096" y="3763670"/>
            <a:ext cx="2212848" cy="365760"/>
          </a:xfrm>
          <a:prstGeom prst="rect">
            <a:avLst/>
          </a:prstGeom>
          <a:noFill/>
          <a:ln/>
        </p:spPr>
        <p:txBody>
          <a:bodyPr wrap="square" rtlCol="0" anchor="ctr"/>
          <a:lstStyle/>
          <a:p>
            <a:pPr algn="ctr" indent="0" marL="0">
              <a:buNone/>
            </a:pPr>
            <a:endParaRPr lang="en-US" sz="950" dirty="0"/>
          </a:p>
        </p:txBody>
      </p:sp>
      <p:sp>
        <p:nvSpPr>
          <p:cNvPr id="31" name="Shape 29"/>
          <p:cNvSpPr/>
          <p:nvPr/>
        </p:nvSpPr>
        <p:spPr>
          <a:xfrm>
            <a:off x="5934456" y="3686861"/>
            <a:ext cx="201168" cy="201168"/>
          </a:xfrm>
          <a:prstGeom prst="ellipse">
            <a:avLst/>
          </a:prstGeom>
          <a:solidFill>
            <a:srgbClr val="6B6B66"/>
          </a:solidFill>
          <a:ln w="15875">
            <a:solidFill>
              <a:srgbClr val="FFFFFF"/>
            </a:solidFill>
            <a:prstDash val="solid"/>
          </a:ln>
        </p:spPr>
      </p:sp>
      <p:sp>
        <p:nvSpPr>
          <p:cNvPr id="32" name="Text 30"/>
          <p:cNvSpPr/>
          <p:nvPr/>
        </p:nvSpPr>
        <p:spPr>
          <a:xfrm>
            <a:off x="4928616" y="3915461"/>
            <a:ext cx="2212848" cy="365760"/>
          </a:xfrm>
          <a:prstGeom prst="rect">
            <a:avLst/>
          </a:prstGeom>
          <a:noFill/>
          <a:ln/>
        </p:spPr>
        <p:txBody>
          <a:bodyPr wrap="square" rtlCol="0" anchor="ctr"/>
          <a:lstStyle/>
          <a:p>
            <a:pPr algn="ctr" indent="0" marL="0">
              <a:buNone/>
            </a:pPr>
            <a:endParaRPr lang="en-US" sz="950" dirty="0"/>
          </a:p>
        </p:txBody>
      </p:sp>
      <p:sp>
        <p:nvSpPr>
          <p:cNvPr id="33" name="Shape 31"/>
          <p:cNvSpPr/>
          <p:nvPr/>
        </p:nvSpPr>
        <p:spPr>
          <a:xfrm>
            <a:off x="4014216" y="4597603"/>
            <a:ext cx="201168" cy="201168"/>
          </a:xfrm>
          <a:prstGeom prst="ellipse">
            <a:avLst/>
          </a:prstGeom>
          <a:solidFill>
            <a:srgbClr val="0F6E56"/>
          </a:solidFill>
          <a:ln w="15875">
            <a:solidFill>
              <a:srgbClr val="FFFFFF"/>
            </a:solidFill>
            <a:prstDash val="solid"/>
          </a:ln>
        </p:spPr>
      </p:sp>
      <p:sp>
        <p:nvSpPr>
          <p:cNvPr id="34" name="Text 32"/>
          <p:cNvSpPr/>
          <p:nvPr/>
        </p:nvSpPr>
        <p:spPr>
          <a:xfrm>
            <a:off x="3008376" y="4826203"/>
            <a:ext cx="2212848" cy="365760"/>
          </a:xfrm>
          <a:prstGeom prst="rect">
            <a:avLst/>
          </a:prstGeom>
          <a:noFill/>
          <a:ln/>
        </p:spPr>
        <p:txBody>
          <a:bodyPr wrap="square" rtlCol="0" anchor="ctr"/>
          <a:lstStyle/>
          <a:p>
            <a:pPr algn="ctr" indent="0" marL="0">
              <a:buNone/>
            </a:pPr>
            <a:endParaRPr lang="en-US" sz="950" dirty="0"/>
          </a:p>
        </p:txBody>
      </p:sp>
      <p:sp>
        <p:nvSpPr>
          <p:cNvPr id="35" name="Shape 33"/>
          <p:cNvSpPr/>
          <p:nvPr/>
        </p:nvSpPr>
        <p:spPr>
          <a:xfrm>
            <a:off x="2779776" y="4445813"/>
            <a:ext cx="201168" cy="201168"/>
          </a:xfrm>
          <a:prstGeom prst="ellipse">
            <a:avLst/>
          </a:prstGeom>
          <a:solidFill>
            <a:srgbClr val="0F6E56"/>
          </a:solidFill>
          <a:ln w="15875">
            <a:solidFill>
              <a:srgbClr val="FFFFFF"/>
            </a:solidFill>
            <a:prstDash val="solid"/>
          </a:ln>
        </p:spPr>
      </p:sp>
      <p:sp>
        <p:nvSpPr>
          <p:cNvPr id="36" name="Text 34"/>
          <p:cNvSpPr/>
          <p:nvPr/>
        </p:nvSpPr>
        <p:spPr>
          <a:xfrm>
            <a:off x="1773936" y="4674413"/>
            <a:ext cx="2212848" cy="365760"/>
          </a:xfrm>
          <a:prstGeom prst="rect">
            <a:avLst/>
          </a:prstGeom>
          <a:noFill/>
          <a:ln/>
        </p:spPr>
        <p:txBody>
          <a:bodyPr wrap="square" rtlCol="0" anchor="ctr"/>
          <a:lstStyle/>
          <a:p>
            <a:pPr algn="ctr" indent="0" marL="0">
              <a:buNone/>
            </a:pPr>
            <a:endParaRPr lang="en-US" sz="950" dirty="0"/>
          </a:p>
        </p:txBody>
      </p:sp>
      <p:sp>
        <p:nvSpPr>
          <p:cNvPr id="37" name="Text 35"/>
          <p:cNvSpPr/>
          <p:nvPr/>
        </p:nvSpPr>
        <p:spPr>
          <a:xfrm>
            <a:off x="777240" y="2057400"/>
            <a:ext cx="1828800" cy="274320"/>
          </a:xfrm>
          <a:prstGeom prst="rect">
            <a:avLst/>
          </a:prstGeom>
          <a:noFill/>
          <a:ln/>
        </p:spPr>
        <p:txBody>
          <a:bodyPr wrap="square" rtlCol="0" anchor="ctr"/>
          <a:lstStyle/>
          <a:p>
            <a:pPr indent="0" marL="0">
              <a:buNone/>
            </a:pPr>
            <a:r>
              <a:rPr lang="en-US" sz="1000" b="1" dirty="0">
                <a:solidFill>
                  <a:srgbClr val="D85A30"/>
                </a:solidFill>
              </a:rPr>
              <a:t>QUICK WINS</a:t>
            </a:r>
            <a:endParaRPr lang="en-US" sz="1000" dirty="0"/>
          </a:p>
        </p:txBody>
      </p:sp>
      <p:sp>
        <p:nvSpPr>
          <p:cNvPr id="38" name="Text 36"/>
          <p:cNvSpPr/>
          <p:nvPr/>
        </p:nvSpPr>
        <p:spPr>
          <a:xfrm>
            <a:off x="4663440" y="2057400"/>
            <a:ext cx="2011680" cy="274320"/>
          </a:xfrm>
          <a:prstGeom prst="rect">
            <a:avLst/>
          </a:prstGeom>
          <a:noFill/>
          <a:ln/>
        </p:spPr>
        <p:txBody>
          <a:bodyPr wrap="square" rtlCol="0" anchor="ctr"/>
          <a:lstStyle/>
          <a:p>
            <a:pPr indent="0" marL="0">
              <a:buNone/>
            </a:pPr>
            <a:r>
              <a:rPr lang="en-US" sz="1000" b="1" dirty="0">
                <a:solidFill>
                  <a:srgbClr val="BA7517"/>
                </a:solidFill>
              </a:rPr>
              <a:t>MAJOR PROJECTS</a:t>
            </a:r>
            <a:endParaRPr lang="en-US" sz="1000" dirty="0"/>
          </a:p>
        </p:txBody>
      </p:sp>
      <p:sp>
        <p:nvSpPr>
          <p:cNvPr id="39" name="Text 37"/>
          <p:cNvSpPr/>
          <p:nvPr/>
        </p:nvSpPr>
        <p:spPr>
          <a:xfrm>
            <a:off x="777240" y="5486400"/>
            <a:ext cx="1828800" cy="274320"/>
          </a:xfrm>
          <a:prstGeom prst="rect">
            <a:avLst/>
          </a:prstGeom>
          <a:noFill/>
          <a:ln/>
        </p:spPr>
        <p:txBody>
          <a:bodyPr wrap="square" rtlCol="0" anchor="ctr"/>
          <a:lstStyle/>
          <a:p>
            <a:pPr indent="0" marL="0">
              <a:buNone/>
            </a:pPr>
            <a:r>
              <a:rPr lang="en-US" sz="1000" b="1" dirty="0">
                <a:solidFill>
                  <a:srgbClr val="0F6E56"/>
                </a:solidFill>
              </a:rPr>
              <a:t>FILL-IN</a:t>
            </a:r>
            <a:endParaRPr lang="en-US" sz="1000" dirty="0"/>
          </a:p>
        </p:txBody>
      </p:sp>
      <p:sp>
        <p:nvSpPr>
          <p:cNvPr id="40" name="Text 38"/>
          <p:cNvSpPr/>
          <p:nvPr/>
        </p:nvSpPr>
        <p:spPr>
          <a:xfrm>
            <a:off x="5074920" y="5486400"/>
            <a:ext cx="2377440" cy="274320"/>
          </a:xfrm>
          <a:prstGeom prst="rect">
            <a:avLst/>
          </a:prstGeom>
          <a:noFill/>
          <a:ln/>
        </p:spPr>
        <p:txBody>
          <a:bodyPr wrap="square" rtlCol="0" anchor="ctr"/>
          <a:lstStyle/>
          <a:p>
            <a:pPr indent="0" marL="0">
              <a:buNone/>
            </a:pPr>
            <a:r>
              <a:rPr lang="en-US" sz="1000" b="1" dirty="0">
                <a:solidFill>
                  <a:srgbClr val="6B6B66"/>
                </a:solidFill>
              </a:rPr>
              <a:t>RECONSIDER / DEFER</a:t>
            </a:r>
            <a:endParaRPr lang="en-US" sz="1000" dirty="0"/>
          </a:p>
        </p:txBody>
      </p:sp>
      <p:sp>
        <p:nvSpPr>
          <p:cNvPr id="41" name="Text 39"/>
          <p:cNvSpPr/>
          <p:nvPr/>
        </p:nvSpPr>
        <p:spPr>
          <a:xfrm>
            <a:off x="8138160" y="2103120"/>
            <a:ext cx="3566160" cy="3474720"/>
          </a:xfrm>
          <a:prstGeom prst="rect">
            <a:avLst/>
          </a:prstGeom>
          <a:noFill/>
          <a:ln/>
        </p:spPr>
        <p:txBody>
          <a:bodyPr wrap="square" rtlCol="0" anchor="t"/>
          <a:lstStyle/>
          <a:p>
            <a:pPr marL="177800" indent="-177800">
              <a:spcAft>
                <a:spcPts val="1000"/>
              </a:spcAft>
              <a:buSzPct val="100000"/>
              <a:buChar char="●"/>
            </a:pPr>
            <a:r>
              <a:rPr lang="en-US" sz="1150" dirty="0">
                <a:solidFill>
                  <a:srgbClr val="222222"/>
                </a:solidFill>
                <a:latin typeface="Calibri" pitchFamily="34" charset="0"/>
                <a:ea typeface="Calibri" pitchFamily="34" charset="-122"/>
                <a:cs typeface="Calibri" pitchFamily="34" charset="-120"/>
              </a:rPr>
              <a:t>Quick wins: SME acquisition via Banglalink base, Bangla QR compliance bundling, SIM-linked onboarding.</a:t>
            </a:r>
            <a:endParaRPr lang="en-US" sz="1150" dirty="0"/>
          </a:p>
          <a:p>
            <a:pPr marL="177800" indent="-177800">
              <a:spcAft>
                <a:spcPts val="1000"/>
              </a:spcAft>
              <a:buSzPct val="100000"/>
              <a:buChar char="●"/>
            </a:pPr>
            <a:r>
              <a:rPr lang="en-US" sz="1150" dirty="0">
                <a:solidFill>
                  <a:srgbClr val="222222"/>
                </a:solidFill>
                <a:latin typeface="Calibri" pitchFamily="34" charset="0"/>
                <a:ea typeface="Calibri" pitchFamily="34" charset="-122"/>
                <a:cs typeface="Calibri" pitchFamily="34" charset="-120"/>
              </a:rPr>
              <a:t>Deferred items aren't lower-value — they're sequence-dependent (data scale, regulatory maturity).</a:t>
            </a:r>
            <a:endParaRPr lang="en-US" sz="1150" dirty="0"/>
          </a:p>
          <a:p>
            <a:pPr marL="177800" indent="-177800">
              <a:spcAft>
                <a:spcPts val="1000"/>
              </a:spcAft>
              <a:buSzPct val="100000"/>
              <a:buChar char="●"/>
            </a:pPr>
            <a:r>
              <a:rPr lang="en-US" sz="1150" dirty="0">
                <a:solidFill>
                  <a:srgbClr val="222222"/>
                </a:solidFill>
                <a:latin typeface="Calibri" pitchFamily="34" charset="0"/>
                <a:ea typeface="Calibri" pitchFamily="34" charset="-122"/>
                <a:cs typeface="Calibri" pitchFamily="34" charset="-120"/>
              </a:rPr>
              <a:t>Nine Quick Win + boundary items should absorb the bulk of Horizon 1 management bandwidth.</a:t>
            </a:r>
            <a:endParaRPr lang="en-US" sz="1150" dirty="0"/>
          </a:p>
        </p:txBody>
      </p:sp>
      <p:sp>
        <p:nvSpPr>
          <p:cNvPr id="42" name="Shape 40"/>
          <p:cNvSpPr/>
          <p:nvPr/>
        </p:nvSpPr>
        <p:spPr>
          <a:xfrm>
            <a:off x="457200" y="5806440"/>
            <a:ext cx="11247120" cy="566928"/>
          </a:xfrm>
          <a:prstGeom prst="roundRect">
            <a:avLst>
              <a:gd name="adj" fmla="val 9677"/>
            </a:avLst>
          </a:prstGeom>
          <a:solidFill>
            <a:srgbClr val="F4F2ED"/>
          </a:solidFill>
          <a:ln w="9525">
            <a:solidFill>
              <a:srgbClr val="E4E0D6"/>
            </a:solidFill>
            <a:prstDash val="solid"/>
          </a:ln>
        </p:spPr>
      </p:sp>
      <p:sp>
        <p:nvSpPr>
          <p:cNvPr id="43" name="Text 41"/>
          <p:cNvSpPr/>
          <p:nvPr/>
        </p:nvSpPr>
        <p:spPr>
          <a:xfrm>
            <a:off x="685800" y="5806440"/>
            <a:ext cx="10789920" cy="566928"/>
          </a:xfrm>
          <a:prstGeom prst="rect">
            <a:avLst/>
          </a:prstGeom>
          <a:noFill/>
          <a:ln/>
        </p:spPr>
        <p:txBody>
          <a:bodyPr wrap="square" rtlCol="0" anchor="ctr"/>
          <a:lstStyle/>
          <a:p>
            <a:pPr indent="0" marL="0">
              <a:buNone/>
            </a:pPr>
            <a:r>
              <a:rPr lang="en-US" sz="1000" b="1" dirty="0">
                <a:solidFill>
                  <a:srgbClr val="D85A30"/>
                </a:solidFill>
                <a:latin typeface="Calibri" pitchFamily="34" charset="0"/>
                <a:ea typeface="Calibri" pitchFamily="34" charset="-122"/>
                <a:cs typeface="Calibri" pitchFamily="34" charset="-120"/>
              </a:rPr>
              <a:t>EXECUTIVE TAKEAWAY   </a:t>
            </a:r>
            <a:pPr indent="0" marL="0">
              <a:buNone/>
            </a:pPr>
            <a:r>
              <a:rPr lang="en-US" sz="1050" dirty="0">
                <a:solidFill>
                  <a:srgbClr val="222222"/>
                </a:solidFill>
                <a:latin typeface="Calibri" pitchFamily="34" charset="0"/>
                <a:ea typeface="Calibri" pitchFamily="34" charset="-122"/>
                <a:cs typeface="Calibri" pitchFamily="34" charset="-120"/>
              </a:rPr>
              <a:t>Year 1 is an activation exercise on existing assets — not a startup build from zero.</a:t>
            </a:r>
            <a:endParaRPr lang="en-US" sz="1000" dirty="0"/>
          </a:p>
        </p:txBody>
      </p:sp>
      <p:sp>
        <p:nvSpPr>
          <p:cNvPr id="44" name="Text 42"/>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6"/>
                </a:solidFill>
                <a:latin typeface="Calibri" pitchFamily="34" charset="0"/>
                <a:ea typeface="Calibri" pitchFamily="34" charset="-122"/>
                <a:cs typeface="Calibri" pitchFamily="34" charset="-120"/>
              </a:rPr>
              <a:t>9 / 12</a:t>
            </a:r>
            <a:endParaRPr lang="en-US" sz="900" dirty="0"/>
          </a:p>
        </p:txBody>
      </p:sp>
      <p:sp>
        <p:nvSpPr>
          <p:cNvPr id="45" name="Text 43"/>
          <p:cNvSpPr/>
          <p:nvPr/>
        </p:nvSpPr>
        <p:spPr>
          <a:xfrm>
            <a:off x="457200" y="6446520"/>
            <a:ext cx="5486400" cy="274320"/>
          </a:xfrm>
          <a:prstGeom prst="rect">
            <a:avLst/>
          </a:prstGeom>
          <a:noFill/>
          <a:ln/>
        </p:spPr>
        <p:txBody>
          <a:bodyPr wrap="square" rtlCol="0" anchor="ctr"/>
          <a:lstStyle/>
          <a:p>
            <a:pPr indent="0" marL="0">
              <a:buNone/>
            </a:pPr>
            <a:r>
              <a:rPr lang="en-US" sz="800" spc="100" kern="0" dirty="0">
                <a:solidFill>
                  <a:srgbClr val="AFAFAA"/>
                </a:solidFill>
                <a:latin typeface="Calibri" pitchFamily="34" charset="0"/>
                <a:ea typeface="Calibri" pitchFamily="34" charset="-122"/>
                <a:cs typeface="Calibri" pitchFamily="34" charset="-120"/>
              </a:rPr>
              <a:t>NEO PSP STRATEGIC GROWTH BLUEPRINT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274320"/>
          </a:xfrm>
          <a:prstGeom prst="rect">
            <a:avLst/>
          </a:prstGeom>
          <a:noFill/>
          <a:ln/>
        </p:spPr>
        <p:txBody>
          <a:bodyPr wrap="square" rtlCol="0" anchor="ctr"/>
          <a:lstStyle/>
          <a:p>
            <a:pPr indent="0" marL="0">
              <a:buNone/>
            </a:pPr>
            <a:r>
              <a:rPr lang="en-US" sz="1100" b="1" spc="120" kern="0" dirty="0">
                <a:solidFill>
                  <a:srgbClr val="D85A30"/>
                </a:solidFill>
                <a:latin typeface="Calibri" pitchFamily="34" charset="0"/>
                <a:ea typeface="Calibri" pitchFamily="34" charset="-122"/>
                <a:cs typeface="Calibri" pitchFamily="34" charset="-120"/>
              </a:rPr>
              <a:t>BUSINESS CASE</a:t>
            </a:r>
            <a:endParaRPr lang="en-US" sz="1100" dirty="0"/>
          </a:p>
        </p:txBody>
      </p:sp>
      <p:sp>
        <p:nvSpPr>
          <p:cNvPr id="3" name="Text 1"/>
          <p:cNvSpPr/>
          <p:nvPr/>
        </p:nvSpPr>
        <p:spPr>
          <a:xfrm>
            <a:off x="457200" y="566928"/>
            <a:ext cx="11247120" cy="45720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Distribution execution — not pricing — determines breakeven</a:t>
            </a:r>
            <a:endParaRPr lang="en-US" sz="2200" dirty="0"/>
          </a:p>
        </p:txBody>
      </p:sp>
      <p:sp>
        <p:nvSpPr>
          <p:cNvPr id="4" name="Text 2"/>
          <p:cNvSpPr/>
          <p:nvPr/>
        </p:nvSpPr>
        <p:spPr>
          <a:xfrm>
            <a:off x="457200" y="1024128"/>
            <a:ext cx="11247120" cy="685800"/>
          </a:xfrm>
          <a:prstGeom prst="rect">
            <a:avLst/>
          </a:prstGeom>
          <a:noFill/>
          <a:ln/>
        </p:spPr>
        <p:txBody>
          <a:bodyPr wrap="square" rtlCol="0" anchor="ctr"/>
          <a:lstStyle/>
          <a:p>
            <a:pPr indent="0" marL="0">
              <a:lnSpc>
                <a:spcPct val="105000"/>
              </a:lnSpc>
              <a:buNone/>
            </a:pPr>
            <a:r>
              <a:rPr lang="en-US" sz="1550" i="1" dirty="0">
                <a:solidFill>
                  <a:srgbClr val="222222"/>
                </a:solidFill>
                <a:latin typeface="Calibri" pitchFamily="34" charset="0"/>
                <a:ea typeface="Calibri" pitchFamily="34" charset="-122"/>
                <a:cs typeface="Calibri" pitchFamily="34" charset="-120"/>
              </a:rPr>
              <a:t>MDR is regulator-anchored and predictable; the real leverage is merchant and agent acquisition pace.</a:t>
            </a:r>
            <a:endParaRPr lang="en-US" sz="1550" dirty="0"/>
          </a:p>
        </p:txBody>
      </p:sp>
      <p:graphicFrame>
        <p:nvGraphicFramePr>
          <p:cNvPr id="5" name="Chart 0" descr=""/>
          <p:cNvGraphicFramePr/>
          <p:nvPr/>
        </p:nvGraphicFramePr>
        <p:xfrm>
          <a:off x="457200" y="1920240"/>
          <a:ext cx="667512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360920" y="2057400"/>
            <a:ext cx="4343400" cy="3291840"/>
          </a:xfrm>
          <a:prstGeom prst="rect">
            <a:avLst/>
          </a:prstGeom>
          <a:noFill/>
          <a:ln/>
        </p:spPr>
        <p:txBody>
          <a:bodyPr wrap="square" rtlCol="0" anchor="t"/>
          <a:lstStyle/>
          <a:p>
            <a:pPr marL="177800" indent="-177800">
              <a:spcAft>
                <a:spcPts val="1000"/>
              </a:spcAft>
              <a:buSzPct val="100000"/>
              <a:buChar char="●"/>
            </a:pPr>
            <a:r>
              <a:rPr lang="en-US" sz="1180" dirty="0">
                <a:solidFill>
                  <a:srgbClr val="222222"/>
                </a:solidFill>
                <a:latin typeface="Calibri" pitchFamily="34" charset="0"/>
                <a:ea typeface="Calibri" pitchFamily="34" charset="-122"/>
                <a:cs typeface="Calibri" pitchFamily="34" charset="-120"/>
              </a:rPr>
              <a:t>Revenue: MDR (1% floor) + B2B disbursement fees + remittance + gateway fees.</a:t>
            </a:r>
            <a:endParaRPr lang="en-US" sz="1180" dirty="0"/>
          </a:p>
          <a:p>
            <a:pPr marL="177800" indent="-177800">
              <a:spcAft>
                <a:spcPts val="1000"/>
              </a:spcAft>
              <a:buSzPct val="100000"/>
              <a:buChar char="●"/>
            </a:pPr>
            <a:r>
              <a:rPr lang="en-US" sz="1180" dirty="0">
                <a:solidFill>
                  <a:srgbClr val="222222"/>
                </a:solidFill>
                <a:latin typeface="Calibri" pitchFamily="34" charset="0"/>
                <a:ea typeface="Calibri" pitchFamily="34" charset="-122"/>
                <a:cs typeface="Calibri" pitchFamily="34" charset="-120"/>
              </a:rPr>
              <a:t>Cost: merchant acquisition dominates Horizon 1–2; shifts to volume-driven by Horizon 3.</a:t>
            </a:r>
            <a:endParaRPr lang="en-US" sz="1180" dirty="0"/>
          </a:p>
          <a:p>
            <a:pPr marL="177800" indent="-177800">
              <a:spcAft>
                <a:spcPts val="1000"/>
              </a:spcAft>
              <a:buSzPct val="100000"/>
              <a:buChar char="●"/>
            </a:pPr>
            <a:r>
              <a:rPr lang="en-US" sz="1180" dirty="0">
                <a:solidFill>
                  <a:srgbClr val="222222"/>
                </a:solidFill>
                <a:latin typeface="Calibri" pitchFamily="34" charset="0"/>
                <a:ea typeface="Calibri" pitchFamily="34" charset="-122"/>
                <a:cs typeface="Calibri" pitchFamily="34" charset="-120"/>
              </a:rPr>
              <a:t>Breakeven modeled at 3–5 years, contingent on merchant/agent acquisition pace — not take-rate assumptions.</a:t>
            </a:r>
            <a:endParaRPr lang="en-US" sz="1180" dirty="0"/>
          </a:p>
          <a:p>
            <a:pPr marL="177800" indent="-177800">
              <a:spcAft>
                <a:spcPts val="1000"/>
              </a:spcAft>
              <a:buSzPct val="100000"/>
              <a:buChar char="●"/>
            </a:pPr>
            <a:r>
              <a:rPr lang="en-US" sz="1180" dirty="0">
                <a:solidFill>
                  <a:srgbClr val="222222"/>
                </a:solidFill>
                <a:latin typeface="Calibri" pitchFamily="34" charset="0"/>
                <a:ea typeface="Calibri" pitchFamily="34" charset="-122"/>
                <a:cs typeface="Calibri" pitchFamily="34" charset="-120"/>
              </a:rPr>
              <a:t>Full driver-level model with scenario and sensitivity analysis in the companion Excel workbook.</a:t>
            </a:r>
            <a:endParaRPr lang="en-US" sz="1180" dirty="0"/>
          </a:p>
        </p:txBody>
      </p:sp>
      <p:sp>
        <p:nvSpPr>
          <p:cNvPr id="7" name="Shape 4"/>
          <p:cNvSpPr/>
          <p:nvPr/>
        </p:nvSpPr>
        <p:spPr>
          <a:xfrm>
            <a:off x="457200" y="5806440"/>
            <a:ext cx="11247120" cy="566928"/>
          </a:xfrm>
          <a:prstGeom prst="roundRect">
            <a:avLst>
              <a:gd name="adj" fmla="val 9677"/>
            </a:avLst>
          </a:prstGeom>
          <a:solidFill>
            <a:srgbClr val="F4F2ED"/>
          </a:solidFill>
          <a:ln w="9525">
            <a:solidFill>
              <a:srgbClr val="E4E0D6"/>
            </a:solidFill>
            <a:prstDash val="solid"/>
          </a:ln>
        </p:spPr>
      </p:sp>
      <p:sp>
        <p:nvSpPr>
          <p:cNvPr id="8" name="Text 5"/>
          <p:cNvSpPr/>
          <p:nvPr/>
        </p:nvSpPr>
        <p:spPr>
          <a:xfrm>
            <a:off x="685800" y="5806440"/>
            <a:ext cx="10789920" cy="566928"/>
          </a:xfrm>
          <a:prstGeom prst="rect">
            <a:avLst/>
          </a:prstGeom>
          <a:noFill/>
          <a:ln/>
        </p:spPr>
        <p:txBody>
          <a:bodyPr wrap="square" rtlCol="0" anchor="ctr"/>
          <a:lstStyle/>
          <a:p>
            <a:pPr indent="0" marL="0">
              <a:buNone/>
            </a:pPr>
            <a:r>
              <a:rPr lang="en-US" sz="1000" b="1" dirty="0">
                <a:solidFill>
                  <a:srgbClr val="D85A30"/>
                </a:solidFill>
                <a:latin typeface="Calibri" pitchFamily="34" charset="0"/>
                <a:ea typeface="Calibri" pitchFamily="34" charset="-122"/>
                <a:cs typeface="Calibri" pitchFamily="34" charset="-120"/>
              </a:rPr>
              <a:t>EXECUTIVE TAKEAWAY   </a:t>
            </a:r>
            <a:pPr indent="0" marL="0">
              <a:buNone/>
            </a:pPr>
            <a:r>
              <a:rPr lang="en-US" sz="1050" dirty="0">
                <a:solidFill>
                  <a:srgbClr val="222222"/>
                </a:solidFill>
                <a:latin typeface="Calibri" pitchFamily="34" charset="0"/>
                <a:ea typeface="Calibri" pitchFamily="34" charset="-122"/>
                <a:cs typeface="Calibri" pitchFamily="34" charset="-120"/>
              </a:rPr>
              <a:t>Govern this business against merchant acquisition velocity, not pricing levers.</a:t>
            </a:r>
            <a:endParaRPr lang="en-US" sz="1000" dirty="0"/>
          </a:p>
        </p:txBody>
      </p:sp>
      <p:sp>
        <p:nvSpPr>
          <p:cNvPr id="9" name="Text 6"/>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6"/>
                </a:solidFill>
                <a:latin typeface="Calibri" pitchFamily="34" charset="0"/>
                <a:ea typeface="Calibri" pitchFamily="34" charset="-122"/>
                <a:cs typeface="Calibri" pitchFamily="34" charset="-120"/>
              </a:rPr>
              <a:t>10 / 12</a:t>
            </a:r>
            <a:endParaRPr lang="en-US" sz="900" dirty="0"/>
          </a:p>
        </p:txBody>
      </p:sp>
      <p:sp>
        <p:nvSpPr>
          <p:cNvPr id="10" name="Text 7"/>
          <p:cNvSpPr/>
          <p:nvPr/>
        </p:nvSpPr>
        <p:spPr>
          <a:xfrm>
            <a:off x="457200" y="6446520"/>
            <a:ext cx="5486400" cy="274320"/>
          </a:xfrm>
          <a:prstGeom prst="rect">
            <a:avLst/>
          </a:prstGeom>
          <a:noFill/>
          <a:ln/>
        </p:spPr>
        <p:txBody>
          <a:bodyPr wrap="square" rtlCol="0" anchor="ctr"/>
          <a:lstStyle/>
          <a:p>
            <a:pPr indent="0" marL="0">
              <a:buNone/>
            </a:pPr>
            <a:r>
              <a:rPr lang="en-US" sz="800" spc="100" kern="0" dirty="0">
                <a:solidFill>
                  <a:srgbClr val="AFAFAA"/>
                </a:solidFill>
                <a:latin typeface="Calibri" pitchFamily="34" charset="0"/>
                <a:ea typeface="Calibri" pitchFamily="34" charset="-122"/>
                <a:cs typeface="Calibri" pitchFamily="34" charset="-120"/>
              </a:rPr>
              <a:t>NEO PSP STRATEGIC GROWTH BLUEPRINT</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274320"/>
          </a:xfrm>
          <a:prstGeom prst="rect">
            <a:avLst/>
          </a:prstGeom>
          <a:noFill/>
          <a:ln/>
        </p:spPr>
        <p:txBody>
          <a:bodyPr wrap="square" rtlCol="0" anchor="ctr"/>
          <a:lstStyle/>
          <a:p>
            <a:pPr indent="0" marL="0">
              <a:buNone/>
            </a:pPr>
            <a:r>
              <a:rPr lang="en-US" sz="1100" b="1" spc="120" kern="0" dirty="0">
                <a:solidFill>
                  <a:srgbClr val="D85A30"/>
                </a:solidFill>
                <a:latin typeface="Calibri" pitchFamily="34" charset="0"/>
                <a:ea typeface="Calibri" pitchFamily="34" charset="-122"/>
                <a:cs typeface="Calibri" pitchFamily="34" charset="-120"/>
              </a:rPr>
              <a:t>IMPLEMENTATION &amp; GOVERNANCE</a:t>
            </a:r>
            <a:endParaRPr lang="en-US" sz="1100" dirty="0"/>
          </a:p>
        </p:txBody>
      </p:sp>
      <p:sp>
        <p:nvSpPr>
          <p:cNvPr id="3" name="Text 1"/>
          <p:cNvSpPr/>
          <p:nvPr/>
        </p:nvSpPr>
        <p:spPr>
          <a:xfrm>
            <a:off x="457200" y="566928"/>
            <a:ext cx="11247120" cy="45720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Capital-gated phases, not calendar-gated ones</a:t>
            </a:r>
            <a:endParaRPr lang="en-US" sz="2200" dirty="0"/>
          </a:p>
        </p:txBody>
      </p:sp>
      <p:sp>
        <p:nvSpPr>
          <p:cNvPr id="4" name="Text 2"/>
          <p:cNvSpPr/>
          <p:nvPr/>
        </p:nvSpPr>
        <p:spPr>
          <a:xfrm>
            <a:off x="457200" y="1024128"/>
            <a:ext cx="11247120" cy="685800"/>
          </a:xfrm>
          <a:prstGeom prst="rect">
            <a:avLst/>
          </a:prstGeom>
          <a:noFill/>
          <a:ln/>
        </p:spPr>
        <p:txBody>
          <a:bodyPr wrap="square" rtlCol="0" anchor="ctr"/>
          <a:lstStyle/>
          <a:p>
            <a:pPr indent="0" marL="0">
              <a:lnSpc>
                <a:spcPct val="105000"/>
              </a:lnSpc>
              <a:buNone/>
            </a:pPr>
            <a:r>
              <a:rPr lang="en-US" sz="1550" i="1" dirty="0">
                <a:solidFill>
                  <a:srgbClr val="222222"/>
                </a:solidFill>
                <a:latin typeface="Calibri" pitchFamily="34" charset="0"/>
                <a:ea typeface="Calibri" pitchFamily="34" charset="-122"/>
                <a:cs typeface="Calibri" pitchFamily="34" charset="-120"/>
              </a:rPr>
              <a:t>Funding for the next phase releases only when the current phase's success metrics are clean.</a:t>
            </a:r>
            <a:endParaRPr lang="en-US" sz="1550" dirty="0"/>
          </a:p>
        </p:txBody>
      </p:sp>
      <p:sp>
        <p:nvSpPr>
          <p:cNvPr id="5" name="Shape 3"/>
          <p:cNvSpPr/>
          <p:nvPr/>
        </p:nvSpPr>
        <p:spPr>
          <a:xfrm>
            <a:off x="457200" y="1965960"/>
            <a:ext cx="3520440" cy="3291840"/>
          </a:xfrm>
          <a:prstGeom prst="roundRect">
            <a:avLst>
              <a:gd name="adj" fmla="val 2222"/>
            </a:avLst>
          </a:prstGeom>
          <a:solidFill>
            <a:srgbClr val="F4F2ED"/>
          </a:solidFill>
          <a:ln w="9525">
            <a:solidFill>
              <a:srgbClr val="E4E0D6"/>
            </a:solidFill>
            <a:prstDash val="solid"/>
          </a:ln>
        </p:spPr>
      </p:sp>
      <p:sp>
        <p:nvSpPr>
          <p:cNvPr id="6" name="Shape 4"/>
          <p:cNvSpPr/>
          <p:nvPr/>
        </p:nvSpPr>
        <p:spPr>
          <a:xfrm>
            <a:off x="457200" y="1965960"/>
            <a:ext cx="3520440" cy="502920"/>
          </a:xfrm>
          <a:prstGeom prst="rect">
            <a:avLst/>
          </a:prstGeom>
          <a:solidFill>
            <a:srgbClr val="1B2A4A"/>
          </a:solidFill>
          <a:ln/>
        </p:spPr>
      </p:sp>
      <p:sp>
        <p:nvSpPr>
          <p:cNvPr id="7" name="Text 5"/>
          <p:cNvSpPr/>
          <p:nvPr/>
        </p:nvSpPr>
        <p:spPr>
          <a:xfrm>
            <a:off x="457200" y="1965960"/>
            <a:ext cx="35204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1  ·  0–6 mo</a:t>
            </a:r>
            <a:endParaRPr lang="en-US" sz="1300" dirty="0"/>
          </a:p>
        </p:txBody>
      </p:sp>
      <p:sp>
        <p:nvSpPr>
          <p:cNvPr id="8" name="Text 6"/>
          <p:cNvSpPr/>
          <p:nvPr/>
        </p:nvSpPr>
        <p:spPr>
          <a:xfrm>
            <a:off x="685800" y="2697480"/>
            <a:ext cx="3063240" cy="457200"/>
          </a:xfrm>
          <a:prstGeom prst="rect">
            <a:avLst/>
          </a:prstGeom>
          <a:noFill/>
          <a:ln/>
        </p:spPr>
        <p:txBody>
          <a:bodyPr wrap="square"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Prove the rail</a:t>
            </a:r>
            <a:endParaRPr lang="en-US" sz="1500" dirty="0"/>
          </a:p>
        </p:txBody>
      </p:sp>
      <p:sp>
        <p:nvSpPr>
          <p:cNvPr id="9" name="Text 7"/>
          <p:cNvSpPr/>
          <p:nvPr/>
        </p:nvSpPr>
        <p:spPr>
          <a:xfrm>
            <a:off x="685800" y="3200400"/>
            <a:ext cx="3063240" cy="1828800"/>
          </a:xfrm>
          <a:prstGeom prst="rect">
            <a:avLst/>
          </a:prstGeom>
          <a:noFill/>
          <a:ln/>
        </p:spPr>
        <p:txBody>
          <a:bodyPr wrap="square" rtlCol="0" anchor="ctr"/>
          <a:lstStyle/>
          <a:p>
            <a:pPr indent="0" marL="0">
              <a:lnSpc>
                <a:spcPct val="115000"/>
              </a:lnSpc>
              <a:buNone/>
            </a:pPr>
            <a:r>
              <a:rPr lang="en-US" sz="1150" dirty="0">
                <a:solidFill>
                  <a:srgbClr val="222222"/>
                </a:solidFill>
                <a:latin typeface="Calibri" pitchFamily="34" charset="0"/>
                <a:ea typeface="Calibri" pitchFamily="34" charset="-122"/>
                <a:cs typeface="Calibri" pitchFamily="34" charset="-120"/>
              </a:rPr>
              <a:t>Commercial launch, first merchant wave, settlement reliability ≥99%</a:t>
            </a:r>
            <a:endParaRPr lang="en-US" sz="1150" dirty="0"/>
          </a:p>
        </p:txBody>
      </p:sp>
      <p:sp>
        <p:nvSpPr>
          <p:cNvPr id="10" name="Shape 8"/>
          <p:cNvSpPr/>
          <p:nvPr/>
        </p:nvSpPr>
        <p:spPr>
          <a:xfrm>
            <a:off x="4251960" y="1965960"/>
            <a:ext cx="3520440" cy="3291840"/>
          </a:xfrm>
          <a:prstGeom prst="roundRect">
            <a:avLst>
              <a:gd name="adj" fmla="val 2222"/>
            </a:avLst>
          </a:prstGeom>
          <a:solidFill>
            <a:srgbClr val="F4F2ED"/>
          </a:solidFill>
          <a:ln w="9525">
            <a:solidFill>
              <a:srgbClr val="E4E0D6"/>
            </a:solidFill>
            <a:prstDash val="solid"/>
          </a:ln>
        </p:spPr>
      </p:sp>
      <p:sp>
        <p:nvSpPr>
          <p:cNvPr id="11" name="Shape 9"/>
          <p:cNvSpPr/>
          <p:nvPr/>
        </p:nvSpPr>
        <p:spPr>
          <a:xfrm>
            <a:off x="4251960" y="1965960"/>
            <a:ext cx="3520440" cy="502920"/>
          </a:xfrm>
          <a:prstGeom prst="rect">
            <a:avLst/>
          </a:prstGeom>
          <a:solidFill>
            <a:srgbClr val="0F6E56"/>
          </a:solidFill>
          <a:ln/>
        </p:spPr>
      </p:sp>
      <p:sp>
        <p:nvSpPr>
          <p:cNvPr id="12" name="Text 10"/>
          <p:cNvSpPr/>
          <p:nvPr/>
        </p:nvSpPr>
        <p:spPr>
          <a:xfrm>
            <a:off x="4251960" y="1965960"/>
            <a:ext cx="35204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2  ·  6–18 mo</a:t>
            </a:r>
            <a:endParaRPr lang="en-US" sz="1300" dirty="0"/>
          </a:p>
        </p:txBody>
      </p:sp>
      <p:sp>
        <p:nvSpPr>
          <p:cNvPr id="13" name="Text 11"/>
          <p:cNvSpPr/>
          <p:nvPr/>
        </p:nvSpPr>
        <p:spPr>
          <a:xfrm>
            <a:off x="4480560" y="2697480"/>
            <a:ext cx="3063240" cy="457200"/>
          </a:xfrm>
          <a:prstGeom prst="rect">
            <a:avLst/>
          </a:prstGeom>
          <a:noFill/>
          <a:ln/>
        </p:spPr>
        <p:txBody>
          <a:bodyPr wrap="square"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Scale the network</a:t>
            </a:r>
            <a:endParaRPr lang="en-US" sz="1500" dirty="0"/>
          </a:p>
        </p:txBody>
      </p:sp>
      <p:sp>
        <p:nvSpPr>
          <p:cNvPr id="14" name="Text 12"/>
          <p:cNvSpPr/>
          <p:nvPr/>
        </p:nvSpPr>
        <p:spPr>
          <a:xfrm>
            <a:off x="4480560" y="3200400"/>
            <a:ext cx="3063240" cy="1828800"/>
          </a:xfrm>
          <a:prstGeom prst="rect">
            <a:avLst/>
          </a:prstGeom>
          <a:noFill/>
          <a:ln/>
        </p:spPr>
        <p:txBody>
          <a:bodyPr wrap="square" rtlCol="0" anchor="ctr"/>
          <a:lstStyle/>
          <a:p>
            <a:pPr indent="0" marL="0">
              <a:lnSpc>
                <a:spcPct val="115000"/>
              </a:lnSpc>
              <a:buNone/>
            </a:pPr>
            <a:r>
              <a:rPr lang="en-US" sz="1150" dirty="0">
                <a:solidFill>
                  <a:srgbClr val="222222"/>
                </a:solidFill>
                <a:latin typeface="Calibri" pitchFamily="34" charset="0"/>
                <a:ea typeface="Calibri" pitchFamily="34" charset="-122"/>
                <a:cs typeface="Calibri" pitchFamily="34" charset="-120"/>
              </a:rPr>
              <a:t>Agent-assisted merchant growth, B2B disbursement launch, bundled loyalty</a:t>
            </a:r>
            <a:endParaRPr lang="en-US" sz="1150" dirty="0"/>
          </a:p>
        </p:txBody>
      </p:sp>
      <p:sp>
        <p:nvSpPr>
          <p:cNvPr id="15" name="Shape 13"/>
          <p:cNvSpPr/>
          <p:nvPr/>
        </p:nvSpPr>
        <p:spPr>
          <a:xfrm>
            <a:off x="8046720" y="1965960"/>
            <a:ext cx="3520440" cy="3291840"/>
          </a:xfrm>
          <a:prstGeom prst="roundRect">
            <a:avLst>
              <a:gd name="adj" fmla="val 2222"/>
            </a:avLst>
          </a:prstGeom>
          <a:solidFill>
            <a:srgbClr val="F4F2ED"/>
          </a:solidFill>
          <a:ln w="9525">
            <a:solidFill>
              <a:srgbClr val="E4E0D6"/>
            </a:solidFill>
            <a:prstDash val="solid"/>
          </a:ln>
        </p:spPr>
      </p:sp>
      <p:sp>
        <p:nvSpPr>
          <p:cNvPr id="16" name="Shape 14"/>
          <p:cNvSpPr/>
          <p:nvPr/>
        </p:nvSpPr>
        <p:spPr>
          <a:xfrm>
            <a:off x="8046720" y="1965960"/>
            <a:ext cx="3520440" cy="502920"/>
          </a:xfrm>
          <a:prstGeom prst="rect">
            <a:avLst/>
          </a:prstGeom>
          <a:solidFill>
            <a:srgbClr val="D85A30"/>
          </a:solidFill>
          <a:ln/>
        </p:spPr>
      </p:sp>
      <p:sp>
        <p:nvSpPr>
          <p:cNvPr id="17" name="Text 15"/>
          <p:cNvSpPr/>
          <p:nvPr/>
        </p:nvSpPr>
        <p:spPr>
          <a:xfrm>
            <a:off x="8046720" y="1965960"/>
            <a:ext cx="35204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3  ·  18–36 mo</a:t>
            </a:r>
            <a:endParaRPr lang="en-US" sz="1300" dirty="0"/>
          </a:p>
        </p:txBody>
      </p:sp>
      <p:sp>
        <p:nvSpPr>
          <p:cNvPr id="18" name="Text 16"/>
          <p:cNvSpPr/>
          <p:nvPr/>
        </p:nvSpPr>
        <p:spPr>
          <a:xfrm>
            <a:off x="8275320" y="2697480"/>
            <a:ext cx="3063240" cy="457200"/>
          </a:xfrm>
          <a:prstGeom prst="rect">
            <a:avLst/>
          </a:prstGeom>
          <a:noFill/>
          <a:ln/>
        </p:spPr>
        <p:txBody>
          <a:bodyPr wrap="square"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Compound the ecosystem</a:t>
            </a:r>
            <a:endParaRPr lang="en-US" sz="1500" dirty="0"/>
          </a:p>
        </p:txBody>
      </p:sp>
      <p:sp>
        <p:nvSpPr>
          <p:cNvPr id="19" name="Text 17"/>
          <p:cNvSpPr/>
          <p:nvPr/>
        </p:nvSpPr>
        <p:spPr>
          <a:xfrm>
            <a:off x="8275320" y="3200400"/>
            <a:ext cx="3063240" cy="1828800"/>
          </a:xfrm>
          <a:prstGeom prst="rect">
            <a:avLst/>
          </a:prstGeom>
          <a:noFill/>
          <a:ln/>
        </p:spPr>
        <p:txBody>
          <a:bodyPr wrap="square" rtlCol="0" anchor="ctr"/>
          <a:lstStyle/>
          <a:p>
            <a:pPr indent="0" marL="0">
              <a:lnSpc>
                <a:spcPct val="115000"/>
              </a:lnSpc>
              <a:buNone/>
            </a:pPr>
            <a:r>
              <a:rPr lang="en-US" sz="1150" dirty="0">
                <a:solidFill>
                  <a:srgbClr val="222222"/>
                </a:solidFill>
                <a:latin typeface="Calibri" pitchFamily="34" charset="0"/>
                <a:ea typeface="Calibri" pitchFamily="34" charset="-122"/>
                <a:cs typeface="Calibri" pitchFamily="34" charset="-120"/>
              </a:rPr>
              <a:t>Consumer personalization, open banking/PISP, VEON cross-market playbook</a:t>
            </a:r>
            <a:endParaRPr lang="en-US" sz="1150" dirty="0"/>
          </a:p>
        </p:txBody>
      </p:sp>
      <p:sp>
        <p:nvSpPr>
          <p:cNvPr id="20" name="Shape 18"/>
          <p:cNvSpPr/>
          <p:nvPr/>
        </p:nvSpPr>
        <p:spPr>
          <a:xfrm>
            <a:off x="457200" y="5806440"/>
            <a:ext cx="11247120" cy="566928"/>
          </a:xfrm>
          <a:prstGeom prst="roundRect">
            <a:avLst>
              <a:gd name="adj" fmla="val 9677"/>
            </a:avLst>
          </a:prstGeom>
          <a:solidFill>
            <a:srgbClr val="F4F2ED"/>
          </a:solidFill>
          <a:ln w="9525">
            <a:solidFill>
              <a:srgbClr val="E4E0D6"/>
            </a:solidFill>
            <a:prstDash val="solid"/>
          </a:ln>
        </p:spPr>
      </p:sp>
      <p:sp>
        <p:nvSpPr>
          <p:cNvPr id="21" name="Text 19"/>
          <p:cNvSpPr/>
          <p:nvPr/>
        </p:nvSpPr>
        <p:spPr>
          <a:xfrm>
            <a:off x="685800" y="5806440"/>
            <a:ext cx="10789920" cy="566928"/>
          </a:xfrm>
          <a:prstGeom prst="rect">
            <a:avLst/>
          </a:prstGeom>
          <a:noFill/>
          <a:ln/>
        </p:spPr>
        <p:txBody>
          <a:bodyPr wrap="square" rtlCol="0" anchor="ctr"/>
          <a:lstStyle/>
          <a:p>
            <a:pPr indent="0" marL="0">
              <a:buNone/>
            </a:pPr>
            <a:r>
              <a:rPr lang="en-US" sz="1000" b="1" dirty="0">
                <a:solidFill>
                  <a:srgbClr val="D85A30"/>
                </a:solidFill>
                <a:latin typeface="Calibri" pitchFamily="34" charset="0"/>
                <a:ea typeface="Calibri" pitchFamily="34" charset="-122"/>
                <a:cs typeface="Calibri" pitchFamily="34" charset="-120"/>
              </a:rPr>
              <a:t>EXECUTIVE TAKEAWAY   </a:t>
            </a:r>
            <a:pPr indent="0" marL="0">
              <a:buNone/>
            </a:pPr>
            <a:r>
              <a:rPr lang="en-US" sz="1050" dirty="0">
                <a:solidFill>
                  <a:srgbClr val="222222"/>
                </a:solidFill>
                <a:latin typeface="Calibri" pitchFamily="34" charset="0"/>
                <a:ea typeface="Calibri" pitchFamily="34" charset="-122"/>
                <a:cs typeface="Calibri" pitchFamily="34" charset="-120"/>
              </a:rPr>
              <a:t>Each phase concludes with a formal steering-committee gate review — not automatic progression.</a:t>
            </a:r>
            <a:endParaRPr lang="en-US" sz="1000" dirty="0"/>
          </a:p>
        </p:txBody>
      </p:sp>
      <p:sp>
        <p:nvSpPr>
          <p:cNvPr id="22" name="Text 20"/>
          <p:cNvSpPr/>
          <p:nvPr/>
        </p:nvSpPr>
        <p:spPr>
          <a:xfrm>
            <a:off x="11183112" y="6446520"/>
            <a:ext cx="822960" cy="274320"/>
          </a:xfrm>
          <a:prstGeom prst="rect">
            <a:avLst/>
          </a:prstGeom>
          <a:noFill/>
          <a:ln/>
        </p:spPr>
        <p:txBody>
          <a:bodyPr wrap="square" rtlCol="0" anchor="ctr"/>
          <a:lstStyle/>
          <a:p>
            <a:pPr algn="r" indent="0" marL="0">
              <a:buNone/>
            </a:pPr>
            <a:r>
              <a:rPr lang="en-US" sz="900" dirty="0">
                <a:solidFill>
                  <a:srgbClr val="6B6B66"/>
                </a:solidFill>
                <a:latin typeface="Calibri" pitchFamily="34" charset="0"/>
                <a:ea typeface="Calibri" pitchFamily="34" charset="-122"/>
                <a:cs typeface="Calibri" pitchFamily="34" charset="-120"/>
              </a:rPr>
              <a:t>11 / 12</a:t>
            </a:r>
            <a:endParaRPr lang="en-US" sz="900" dirty="0"/>
          </a:p>
        </p:txBody>
      </p:sp>
      <p:sp>
        <p:nvSpPr>
          <p:cNvPr id="23" name="Text 21"/>
          <p:cNvSpPr/>
          <p:nvPr/>
        </p:nvSpPr>
        <p:spPr>
          <a:xfrm>
            <a:off x="457200" y="6446520"/>
            <a:ext cx="5486400" cy="274320"/>
          </a:xfrm>
          <a:prstGeom prst="rect">
            <a:avLst/>
          </a:prstGeom>
          <a:noFill/>
          <a:ln/>
        </p:spPr>
        <p:txBody>
          <a:bodyPr wrap="square" rtlCol="0" anchor="ctr"/>
          <a:lstStyle/>
          <a:p>
            <a:pPr indent="0" marL="0">
              <a:buNone/>
            </a:pPr>
            <a:r>
              <a:rPr lang="en-US" sz="800" spc="100" kern="0" dirty="0">
                <a:solidFill>
                  <a:srgbClr val="AFAFAA"/>
                </a:solidFill>
                <a:latin typeface="Calibri" pitchFamily="34" charset="0"/>
                <a:ea typeface="Calibri" pitchFamily="34" charset="-122"/>
                <a:cs typeface="Calibri" pitchFamily="34" charset="-120"/>
              </a:rPr>
              <a:t>NEO PSP STRATEGIC GROWTH BLUEPRINT</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rtlCol="0" anchor="ctr"/>
          <a:lstStyle/>
          <a:p>
            <a:pPr indent="0" marL="0">
              <a:buNone/>
            </a:pPr>
            <a:r>
              <a:rPr lang="en-US" sz="1200" b="1" spc="120" kern="0" dirty="0">
                <a:solidFill>
                  <a:srgbClr val="D85A30"/>
                </a:solidFill>
                <a:latin typeface="Calibri" pitchFamily="34" charset="0"/>
                <a:ea typeface="Calibri" pitchFamily="34" charset="-122"/>
                <a:cs typeface="Calibri" pitchFamily="34" charset="-120"/>
              </a:rPr>
              <a:t>BOARD DECISION</a:t>
            </a:r>
            <a:endParaRPr lang="en-US" sz="1200" dirty="0"/>
          </a:p>
        </p:txBody>
      </p:sp>
      <p:sp>
        <p:nvSpPr>
          <p:cNvPr id="3" name="Text 1"/>
          <p:cNvSpPr/>
          <p:nvPr/>
        </p:nvSpPr>
        <p:spPr>
          <a:xfrm>
            <a:off x="640080" y="777240"/>
            <a:ext cx="105156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Approve NEO PSP as a funded strategic priority</a:t>
            </a:r>
            <a:endParaRPr lang="en-US" sz="2800" dirty="0"/>
          </a:p>
        </p:txBody>
      </p:sp>
      <p:sp>
        <p:nvSpPr>
          <p:cNvPr id="4" name="Text 2"/>
          <p:cNvSpPr/>
          <p:nvPr/>
        </p:nvSpPr>
        <p:spPr>
          <a:xfrm>
            <a:off x="640080" y="1417320"/>
            <a:ext cx="10515600" cy="457200"/>
          </a:xfrm>
          <a:prstGeom prst="rect">
            <a:avLst/>
          </a:prstGeom>
          <a:noFill/>
          <a:ln/>
        </p:spPr>
        <p:txBody>
          <a:bodyPr wrap="square" rtlCol="0" anchor="ctr"/>
          <a:lstStyle/>
          <a:p>
            <a:pPr indent="0" marL="0">
              <a:buNone/>
            </a:pPr>
            <a:r>
              <a:rPr lang="en-US" sz="1400" i="1" dirty="0">
                <a:solidFill>
                  <a:srgbClr val="B9C2D6"/>
                </a:solidFill>
                <a:latin typeface="Calibri" pitchFamily="34" charset="0"/>
                <a:ea typeface="Calibri" pitchFamily="34" charset="-122"/>
                <a:cs typeface="Calibri" pitchFamily="34" charset="-120"/>
              </a:rPr>
              <a:t>With capital and executive attention proportional to a genuine second growth engine — not an incubated side project.</a:t>
            </a:r>
            <a:endParaRPr lang="en-US" sz="1400" dirty="0"/>
          </a:p>
        </p:txBody>
      </p:sp>
      <p:sp>
        <p:nvSpPr>
          <p:cNvPr id="5" name="Text 3"/>
          <p:cNvSpPr/>
          <p:nvPr/>
        </p:nvSpPr>
        <p:spPr>
          <a:xfrm>
            <a:off x="640080" y="2103120"/>
            <a:ext cx="5120640" cy="320040"/>
          </a:xfrm>
          <a:prstGeom prst="rect">
            <a:avLst/>
          </a:prstGeom>
          <a:noFill/>
          <a:ln/>
        </p:spPr>
        <p:txBody>
          <a:bodyPr wrap="square" rtlCol="0" anchor="ctr"/>
          <a:lstStyle/>
          <a:p>
            <a:pPr indent="0" marL="0">
              <a:buNone/>
            </a:pPr>
            <a:r>
              <a:rPr lang="en-US" sz="1150" b="1" spc="100" kern="0" dirty="0">
                <a:solidFill>
                  <a:srgbClr val="D85A30"/>
                </a:solidFill>
              </a:rPr>
              <a:t>KEY RISKS</a:t>
            </a:r>
            <a:endParaRPr lang="en-US" sz="1150" dirty="0"/>
          </a:p>
        </p:txBody>
      </p:sp>
      <p:sp>
        <p:nvSpPr>
          <p:cNvPr id="6" name="Text 4"/>
          <p:cNvSpPr/>
          <p:nvPr/>
        </p:nvSpPr>
        <p:spPr>
          <a:xfrm>
            <a:off x="640080" y="2468880"/>
            <a:ext cx="5212080" cy="2194560"/>
          </a:xfrm>
          <a:prstGeom prst="rect">
            <a:avLst/>
          </a:prstGeom>
          <a:noFill/>
          <a:ln/>
        </p:spPr>
        <p:txBody>
          <a:bodyPr wrap="square" rtlCol="0" anchor="t"/>
          <a:lstStyle/>
          <a:p>
            <a:pPr marL="177800" indent="-177800">
              <a:spcAft>
                <a:spcPts val="1000"/>
              </a:spcAft>
              <a:buSzPct val="100000"/>
              <a:buChar char="●"/>
            </a:pPr>
            <a:r>
              <a:rPr lang="en-US" sz="1250" dirty="0">
                <a:solidFill>
                  <a:srgbClr val="E8E9EC"/>
                </a:solidFill>
                <a:latin typeface="Calibri" pitchFamily="34" charset="0"/>
                <a:ea typeface="Calibri" pitchFamily="34" charset="-122"/>
                <a:cs typeface="Calibri" pitchFamily="34" charset="-120"/>
              </a:rPr>
              <a:t>Regulatory pacing — delay between NOC and full launch compounds against faster movers</a:t>
            </a:r>
            <a:endParaRPr lang="en-US" sz="1250" dirty="0"/>
          </a:p>
          <a:p>
            <a:pPr marL="177800" indent="-177800">
              <a:spcAft>
                <a:spcPts val="1000"/>
              </a:spcAft>
              <a:buSzPct val="100000"/>
              <a:buChar char="●"/>
            </a:pPr>
            <a:r>
              <a:rPr lang="en-US" sz="1250" dirty="0">
                <a:solidFill>
                  <a:srgbClr val="E8E9EC"/>
                </a:solidFill>
                <a:latin typeface="Calibri" pitchFamily="34" charset="0"/>
                <a:ea typeface="Calibri" pitchFamily="34" charset="-122"/>
                <a:cs typeface="Calibri" pitchFamily="34" charset="-120"/>
              </a:rPr>
              <a:t>Execution, not technology — merchant acquisition velocity is an unproven muscle for Banglalink</a:t>
            </a:r>
            <a:endParaRPr lang="en-US" sz="1250" dirty="0"/>
          </a:p>
          <a:p>
            <a:pPr marL="177800" indent="-177800">
              <a:spcAft>
                <a:spcPts val="1000"/>
              </a:spcAft>
              <a:buSzPct val="100000"/>
              <a:buChar char="●"/>
            </a:pPr>
            <a:r>
              <a:rPr lang="en-US" sz="1250" dirty="0">
                <a:solidFill>
                  <a:srgbClr val="E8E9EC"/>
                </a:solidFill>
                <a:latin typeface="Calibri" pitchFamily="34" charset="0"/>
                <a:ea typeface="Calibri" pitchFamily="34" charset="-122"/>
                <a:cs typeface="Calibri" pitchFamily="34" charset="-120"/>
              </a:rPr>
              <a:t>Incumbent response — bKash/Nagad have capital and motive to extend into merchant payments defensively</a:t>
            </a:r>
            <a:endParaRPr lang="en-US" sz="1250" dirty="0"/>
          </a:p>
        </p:txBody>
      </p:sp>
      <p:sp>
        <p:nvSpPr>
          <p:cNvPr id="7" name="Text 5"/>
          <p:cNvSpPr/>
          <p:nvPr/>
        </p:nvSpPr>
        <p:spPr>
          <a:xfrm>
            <a:off x="6309360" y="2103120"/>
            <a:ext cx="5120640" cy="320040"/>
          </a:xfrm>
          <a:prstGeom prst="rect">
            <a:avLst/>
          </a:prstGeom>
          <a:noFill/>
          <a:ln/>
        </p:spPr>
        <p:txBody>
          <a:bodyPr wrap="square" rtlCol="0" anchor="ctr"/>
          <a:lstStyle/>
          <a:p>
            <a:pPr indent="0" marL="0">
              <a:buNone/>
            </a:pPr>
            <a:r>
              <a:rPr lang="en-US" sz="1150" b="1" spc="100" kern="0" dirty="0">
                <a:solidFill>
                  <a:srgbClr val="D85A30"/>
                </a:solidFill>
              </a:rPr>
              <a:t>BOARD ASKS</a:t>
            </a:r>
            <a:endParaRPr lang="en-US" sz="1150" dirty="0"/>
          </a:p>
        </p:txBody>
      </p:sp>
      <p:sp>
        <p:nvSpPr>
          <p:cNvPr id="8" name="Shape 6"/>
          <p:cNvSpPr/>
          <p:nvPr/>
        </p:nvSpPr>
        <p:spPr>
          <a:xfrm>
            <a:off x="6309360" y="2487168"/>
            <a:ext cx="292608" cy="292608"/>
          </a:xfrm>
          <a:prstGeom prst="ellipse">
            <a:avLst/>
          </a:prstGeom>
          <a:solidFill>
            <a:srgbClr val="D85A30"/>
          </a:solidFill>
          <a:ln/>
        </p:spPr>
      </p:sp>
      <p:sp>
        <p:nvSpPr>
          <p:cNvPr id="9" name="Text 7"/>
          <p:cNvSpPr/>
          <p:nvPr/>
        </p:nvSpPr>
        <p:spPr>
          <a:xfrm>
            <a:off x="6309360" y="2487168"/>
            <a:ext cx="292608"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6720840" y="2432304"/>
            <a:ext cx="4846320" cy="685800"/>
          </a:xfrm>
          <a:prstGeom prst="rect">
            <a:avLst/>
          </a:prstGeom>
          <a:noFill/>
          <a:ln/>
        </p:spPr>
        <p:txBody>
          <a:bodyPr wrap="square" rtlCol="0" anchor="ctr"/>
          <a:lstStyle/>
          <a:p>
            <a:pPr indent="0" marL="0">
              <a:lnSpc>
                <a:spcPct val="105000"/>
              </a:lnSpc>
              <a:buNone/>
            </a:pPr>
            <a:r>
              <a:rPr lang="en-US" sz="1180" dirty="0">
                <a:solidFill>
                  <a:srgbClr val="E8E9EC"/>
                </a:solidFill>
                <a:latin typeface="Calibri" pitchFamily="34" charset="0"/>
                <a:ea typeface="Calibri" pitchFamily="34" charset="-122"/>
                <a:cs typeface="Calibri" pitchFamily="34" charset="-120"/>
              </a:rPr>
              <a:t>Commit Horizon 1 funding to merchant acquisition and core-rail reliability ahead of product breadth</a:t>
            </a:r>
            <a:endParaRPr lang="en-US" sz="1180" dirty="0"/>
          </a:p>
        </p:txBody>
      </p:sp>
      <p:sp>
        <p:nvSpPr>
          <p:cNvPr id="11" name="Shape 9"/>
          <p:cNvSpPr/>
          <p:nvPr/>
        </p:nvSpPr>
        <p:spPr>
          <a:xfrm>
            <a:off x="6309360" y="3264408"/>
            <a:ext cx="292608" cy="292608"/>
          </a:xfrm>
          <a:prstGeom prst="ellipse">
            <a:avLst/>
          </a:prstGeom>
          <a:solidFill>
            <a:srgbClr val="D85A30"/>
          </a:solidFill>
          <a:ln/>
        </p:spPr>
      </p:sp>
      <p:sp>
        <p:nvSpPr>
          <p:cNvPr id="12" name="Text 10"/>
          <p:cNvSpPr/>
          <p:nvPr/>
        </p:nvSpPr>
        <p:spPr>
          <a:xfrm>
            <a:off x="6309360" y="3264408"/>
            <a:ext cx="292608"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720840" y="3209544"/>
            <a:ext cx="4846320" cy="685800"/>
          </a:xfrm>
          <a:prstGeom prst="rect">
            <a:avLst/>
          </a:prstGeom>
          <a:noFill/>
          <a:ln/>
        </p:spPr>
        <p:txBody>
          <a:bodyPr wrap="square" rtlCol="0" anchor="ctr"/>
          <a:lstStyle/>
          <a:p>
            <a:pPr indent="0" marL="0">
              <a:lnSpc>
                <a:spcPct val="105000"/>
              </a:lnSpc>
              <a:buNone/>
            </a:pPr>
            <a:r>
              <a:rPr lang="en-US" sz="1180" dirty="0">
                <a:solidFill>
                  <a:srgbClr val="E8E9EC"/>
                </a:solidFill>
                <a:latin typeface="Calibri" pitchFamily="34" charset="0"/>
                <a:ea typeface="Calibri" pitchFamily="34" charset="-122"/>
                <a:cs typeface="Calibri" pitchFamily="34" charset="-120"/>
              </a:rPr>
              <a:t>Establish a dedicated steering committee cadence to compress decision latency</a:t>
            </a:r>
            <a:endParaRPr lang="en-US" sz="1180" dirty="0"/>
          </a:p>
        </p:txBody>
      </p:sp>
      <p:sp>
        <p:nvSpPr>
          <p:cNvPr id="14" name="Shape 12"/>
          <p:cNvSpPr/>
          <p:nvPr/>
        </p:nvSpPr>
        <p:spPr>
          <a:xfrm>
            <a:off x="6309360" y="4041648"/>
            <a:ext cx="292608" cy="292608"/>
          </a:xfrm>
          <a:prstGeom prst="ellipse">
            <a:avLst/>
          </a:prstGeom>
          <a:solidFill>
            <a:srgbClr val="D85A30"/>
          </a:solidFill>
          <a:ln/>
        </p:spPr>
      </p:sp>
      <p:sp>
        <p:nvSpPr>
          <p:cNvPr id="15" name="Text 13"/>
          <p:cNvSpPr/>
          <p:nvPr/>
        </p:nvSpPr>
        <p:spPr>
          <a:xfrm>
            <a:off x="6309360" y="4041648"/>
            <a:ext cx="292608"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6720840" y="3986784"/>
            <a:ext cx="4846320" cy="685800"/>
          </a:xfrm>
          <a:prstGeom prst="rect">
            <a:avLst/>
          </a:prstGeom>
          <a:noFill/>
          <a:ln/>
        </p:spPr>
        <p:txBody>
          <a:bodyPr wrap="square" rtlCol="0" anchor="ctr"/>
          <a:lstStyle/>
          <a:p>
            <a:pPr indent="0" marL="0">
              <a:lnSpc>
                <a:spcPct val="105000"/>
              </a:lnSpc>
              <a:buNone/>
            </a:pPr>
            <a:r>
              <a:rPr lang="en-US" sz="1180" dirty="0">
                <a:solidFill>
                  <a:srgbClr val="E8E9EC"/>
                </a:solidFill>
                <a:latin typeface="Calibri" pitchFamily="34" charset="0"/>
                <a:ea typeface="Calibri" pitchFamily="34" charset="-122"/>
                <a:cs typeface="Calibri" pitchFamily="34" charset="-120"/>
              </a:rPr>
              <a:t>Mandate a 100-day post-approval execution plan so the launch gap doesn't become the constraint</a:t>
            </a:r>
            <a:endParaRPr lang="en-US" sz="1180" dirty="0"/>
          </a:p>
        </p:txBody>
      </p:sp>
      <p:sp>
        <p:nvSpPr>
          <p:cNvPr id="17" name="Text 15"/>
          <p:cNvSpPr/>
          <p:nvPr/>
        </p:nvSpPr>
        <p:spPr>
          <a:xfrm>
            <a:off x="640080" y="6355080"/>
            <a:ext cx="5486400" cy="274320"/>
          </a:xfrm>
          <a:prstGeom prst="rect">
            <a:avLst/>
          </a:prstGeom>
          <a:noFill/>
          <a:ln/>
        </p:spPr>
        <p:txBody>
          <a:bodyPr wrap="square" rtlCol="0" anchor="ctr"/>
          <a:lstStyle/>
          <a:p>
            <a:pPr indent="0" marL="0">
              <a:buNone/>
            </a:pPr>
            <a:r>
              <a:rPr lang="en-US" sz="900" dirty="0">
                <a:solidFill>
                  <a:srgbClr val="5E6C87"/>
                </a:solidFill>
                <a:latin typeface="Calibri" pitchFamily="34" charset="0"/>
                <a:ea typeface="Calibri" pitchFamily="34" charset="-122"/>
                <a:cs typeface="Calibri" pitchFamily="34" charset="-120"/>
              </a:rPr>
              <a:t>NEO PSP — Strategic Growth Blueprint</a:t>
            </a:r>
            <a:endParaRPr lang="en-US" sz="900" dirty="0"/>
          </a:p>
        </p:txBody>
      </p:sp>
      <p:sp>
        <p:nvSpPr>
          <p:cNvPr id="18" name="Text 16"/>
          <p:cNvSpPr/>
          <p:nvPr/>
        </p:nvSpPr>
        <p:spPr>
          <a:xfrm>
            <a:off x="11000232" y="6355080"/>
            <a:ext cx="822960" cy="274320"/>
          </a:xfrm>
          <a:prstGeom prst="rect">
            <a:avLst/>
          </a:prstGeom>
          <a:noFill/>
          <a:ln/>
        </p:spPr>
        <p:txBody>
          <a:bodyPr wrap="square" rtlCol="0" anchor="ctr"/>
          <a:lstStyle/>
          <a:p>
            <a:pPr algn="r" indent="0" marL="0">
              <a:buNone/>
            </a:pPr>
            <a:r>
              <a:rPr lang="en-US" sz="900" dirty="0">
                <a:solidFill>
                  <a:srgbClr val="5E6C87"/>
                </a:solidFill>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2026-08-04T12:04:22Z</dcterms:created>
  <dcterms:modified xsi:type="dcterms:W3CDTF">2026-08-04T12:04:22Z</dcterms:modified>
</cp:coreProperties>
</file>