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Sheet9.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title>
      <c:tx>
        <c:rich>
          <a:bodyPr/>
          <a:lstStyle/>
          <a:p>
            <a:r>
              <a:rPr sz="1300" b="1">
                <a:solidFill>
                  <a:srgbClr val="1B2A4A"/>
                </a:solidFill>
              </a:rPr>
              <a:t>FY2025 Revenue by Geography</a:t>
            </a:r>
          </a:p>
        </c:rich>
      </c:tx>
      <c:layout/>
      <c:overlay val="0"/>
    </c:title>
    <c:autoTitleDeleted val="0"/>
    <c:plotArea>
      <c:layout/>
      <c:doughnutChart>
        <c:varyColors val="1"/>
        <c:ser>
          <c:idx val="0"/>
          <c:order val="0"/>
          <c:tx>
            <c:strRef>
              <c:f>Sheet1!$B$1</c:f>
              <c:strCache>
                <c:ptCount val="1"/>
                <c:pt idx="0">
                  <c:v>FY2025 Revenue</c:v>
                </c:pt>
              </c:strCache>
            </c:strRef>
          </c:tx>
          <c:dPt>
            <c:idx val="0"/>
            <c:spPr>
              <a:solidFill>
                <a:srgbClr val="1B2A4A"/>
              </a:solidFill>
              <a:ln w="19050">
                <a:solidFill>
                  <a:srgbClr val="FFFFFF"/>
                </a:solidFill>
              </a:ln>
            </c:spPr>
          </c:dPt>
          <c:dPt>
            <c:idx val="1"/>
            <c:spPr>
              <a:solidFill>
                <a:srgbClr val="4C6FA5"/>
              </a:solidFill>
              <a:ln w="19050">
                <a:solidFill>
                  <a:srgbClr val="FFFFFF"/>
                </a:solidFill>
              </a:ln>
            </c:spPr>
          </c:dPt>
          <c:dPt>
            <c:idx val="2"/>
            <c:spPr>
              <a:solidFill>
                <a:srgbClr val="B08D57"/>
              </a:solidFill>
              <a:ln w="19050">
                <a:solidFill>
                  <a:srgbClr val="FFFFFF"/>
                </a:solidFill>
              </a:ln>
            </c:spPr>
          </c:dPt>
          <c:dPt>
            <c:idx val="3"/>
            <c:spPr>
              <a:solidFill>
                <a:srgbClr val="7A8B99"/>
              </a:solidFill>
              <a:ln w="19050">
                <a:solidFill>
                  <a:srgbClr val="FFFFFF"/>
                </a:solidFill>
              </a:ln>
            </c:spPr>
          </c:dPt>
          <c:dPt>
            <c:idx val="4"/>
            <c:spPr>
              <a:solidFill>
                <a:srgbClr val="C7A15A"/>
              </a:solidFill>
              <a:ln w="19050">
                <a:solidFill>
                  <a:srgbClr val="FFFFFF"/>
                </a:solidFill>
              </a:ln>
            </c:spPr>
          </c:dPt>
          <c:dPt>
            <c:idx val="5"/>
            <c:spPr>
              <a:solidFill>
                <a:srgbClr val="D9D9D9"/>
              </a:solidFill>
              <a:ln w="19050">
                <a:solidFill>
                  <a:srgbClr val="FFFFFF"/>
                </a:solidFill>
              </a:ln>
            </c:spPr>
          </c:dPt>
          <c:cat>
            <c:strRef>
              <c:f>Sheet1!$A$2:$A$7</c:f>
              <c:strCache>
                <c:ptCount val="6"/>
                <c:pt idx="0">
                  <c:v>Pakistan</c:v>
                </c:pt>
                <c:pt idx="1">
                  <c:v>Ukraine</c:v>
                </c:pt>
                <c:pt idx="2">
                  <c:v>Kazakhstan</c:v>
                </c:pt>
                <c:pt idx="3">
                  <c:v>Bangladesh</c:v>
                </c:pt>
                <c:pt idx="4">
                  <c:v>Uzbekistan</c:v>
                </c:pt>
                <c:pt idx="5">
                  <c:v>Other/HQ</c:v>
                </c:pt>
              </c:strCache>
            </c:strRef>
          </c:cat>
          <c:val>
            <c:numRef>
              <c:f>Sheet1!$B$2:$B$7</c:f>
              <c:numCache>
                <c:formatCode>General</c:formatCode>
                <c:ptCount val="6"/>
                <c:pt idx="0">
                  <c:v>1624</c:v>
                </c:pt>
                <c:pt idx="1">
                  <c:v>1164</c:v>
                </c:pt>
                <c:pt idx="2">
                  <c:v>816</c:v>
                </c:pt>
                <c:pt idx="3">
                  <c:v>460</c:v>
                </c:pt>
                <c:pt idx="4">
                  <c:v>308</c:v>
                </c:pt>
                <c:pt idx="5">
                  <c:v>27</c:v>
                </c:pt>
              </c:numCache>
            </c:numRef>
          </c:val>
        </c:ser>
        <c:dLbls>
          <c:numFmt formatCode="0%" sourceLinked="0"/>
          <c:txPr>
            <a:bodyPr/>
            <a:lstStyle/>
            <a:p>
              <a:pPr>
                <a:defRPr sz="900" b="1">
                  <a:solidFill>
                    <a:srgbClr val="FFFFFF"/>
                  </a:solidFill>
                </a:defRPr>
              </a:pPr>
            </a:p>
          </c:txPr>
          <c:showLegendKey val="0"/>
          <c:showVal val="0"/>
          <c:showCatName val="0"/>
          <c:showSerName val="0"/>
          <c:showPercent val="0"/>
          <c:showBubbleSize val="0"/>
          <c:showLeaderLines val="1"/>
        </c:dLbls>
        <c:firstSliceAng val="0"/>
        <c:holeSize val="50"/>
      </c:doughnutChart>
    </c:plotArea>
    <c:legend>
      <c:legendPos val="b"/>
      <c:layout/>
      <c:overlay val="0"/>
      <c:txPr>
        <a:bodyPr/>
        <a:lstStyle/>
        <a:p>
          <a:pPr>
            <a:defRPr sz="950"/>
          </a:pPr>
        </a:p>
      </c:txPr>
    </c:legend>
    <c:plotVisOnly val="1"/>
    <c:dispBlanksAs val="gap"/>
    <c:showDLblsOverMax val="0"/>
  </c:chart>
  <c:txPr>
    <a:bodyPr/>
    <a:lstStyle/>
    <a:p>
      <a:pPr>
        <a:defRPr sz="1800"/>
      </a:pPr>
      <a:endParaR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200" b="1">
                <a:solidFill>
                  <a:srgbClr val="1B2A4A"/>
                </a:solidFill>
              </a:rPr>
              <a:t>Toffee Platform Engagement</a:t>
            </a:r>
          </a:p>
        </c:rich>
      </c:tx>
      <c:layout/>
      <c:overlay val="0"/>
    </c:title>
    <c:autoTitleDeleted val="0"/>
    <c:plotArea>
      <c:barChart>
        <c:barDir val="col"/>
        <c:grouping val="clustered"/>
        <c:ser>
          <c:idx val="0"/>
          <c:order val="0"/>
          <c:tx>
            <c:strRef>
              <c:f>Sheet1!$B$1</c:f>
              <c:strCache>
                <c:ptCount val="1"/>
                <c:pt idx="0">
                  <c:v>Viewers/MAU (M)</c:v>
                </c:pt>
              </c:strCache>
            </c:strRef>
          </c:tx>
          <c:spPr>
            <a:solidFill>
              <a:srgbClr val="1B2A4A"/>
            </a:solidFill>
            <a:ln>
              <a:noFill/>
            </a:ln>
          </c:spPr>
          <c:cat>
            <c:strRef>
              <c:f>Sheet1!$A$2:$A$3</c:f>
              <c:strCache>
                <c:ptCount val="2"/>
                <c:pt idx="0">
                  <c:v>WC2022 Final
(single match)</c:v>
                </c:pt>
                <c:pt idx="1">
                  <c:v>WC2026
(39-day, MAU)</c:v>
                </c:pt>
              </c:strCache>
            </c:strRef>
          </c:cat>
          <c:val>
            <c:numRef>
              <c:f>Sheet1!$B$2:$B$3</c:f>
              <c:numCache>
                <c:formatCode>General</c:formatCode>
                <c:ptCount val="2"/>
                <c:pt idx="0">
                  <c:v>15</c:v>
                </c:pt>
                <c:pt idx="1">
                  <c:v>20</c:v>
                </c:pt>
              </c:numCache>
            </c:numRef>
          </c:val>
        </c:ser>
        <c:dLbls>
          <c:txPr>
            <a:bodyPr/>
            <a:lstStyle/>
            <a:p>
              <a:pPr>
                <a:defRPr sz="1000" b="1"/>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spPr>
          <a:ln>
            <a:solidFill>
              <a:srgbClr val="D9D9D9"/>
            </a:solidFill>
          </a:ln>
        </c:spPr>
        <c:txPr>
          <a:bodyPr/>
          <a:lstStyle/>
          <a:p>
            <a:pPr>
              <a:defRPr sz="900">
                <a:solidFill>
                  <a:srgbClr val="6E6E6E"/>
                </a:solidFill>
              </a:defRPr>
            </a:pPr>
          </a:p>
        </c:txPr>
        <c:crossAx val="-2113994440"/>
        <c:crosses val="autoZero"/>
        <c:auto val="1"/>
        <c:lblAlgn val="ctr"/>
        <c:lblOffset val="100"/>
        <c:noMultiLvlLbl val="0"/>
      </c:catAx>
      <c:valAx>
        <c:axId val="-2113994440"/>
        <c:scaling/>
        <c:delete val="0"/>
        <c:axPos val="l"/>
        <c:majorGridlines>
          <c:spPr>
            <a:ln w="6350">
              <a:solidFill>
                <a:srgbClr val="D9D9D9"/>
              </a:solidFill>
            </a:ln>
          </c:spPr>
        </c:majorGridlines>
        <c:majorTickMark val="out"/>
        <c:minorTickMark val="none"/>
        <c:tickLblPos val="nextTo"/>
        <c:spPr>
          <a:ln>
            <a:solidFill>
              <a:srgbClr val="D9D9D9"/>
            </a:solidFill>
          </a:ln>
        </c:spPr>
        <c:txPr>
          <a:bodyPr/>
          <a:lstStyle/>
          <a:p>
            <a:pPr>
              <a:defRPr sz="900">
                <a:solidFill>
                  <a:srgbClr val="6E6E6E"/>
                </a:solidFill>
              </a:defRPr>
            </a:pPr>
          </a:p>
        </c:txPr>
        <c:crossAx val="-2068027336"/>
        <c:crosses val="autoZero"/>
      </c:valAx>
    </c:plotArea>
    <c:dispBlanksAs val="gap"/>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200" b="1">
                <a:solidFill>
                  <a:srgbClr val="1B2A4A"/>
                </a:solidFill>
              </a:rPr>
              <a:t>Revenue &amp; EBITDA ($M)</a:t>
            </a:r>
          </a:p>
        </c:rich>
      </c:tx>
      <c:layout/>
      <c:overlay val="0"/>
    </c:title>
    <c:autoTitleDeleted val="0"/>
    <c:plotArea>
      <c:barChart>
        <c:barDir val="col"/>
        <c:grouping val="clustered"/>
        <c:ser>
          <c:idx val="0"/>
          <c:order val="0"/>
          <c:tx>
            <c:strRef>
              <c:f>Sheet1!$B$1</c:f>
              <c:strCache>
                <c:ptCount val="1"/>
                <c:pt idx="0">
                  <c:v>Revenue</c:v>
                </c:pt>
              </c:strCache>
            </c:strRef>
          </c:tx>
          <c:spPr>
            <a:solidFill>
              <a:srgbClr val="1B2A4A"/>
            </a:solidFill>
            <a:ln>
              <a:noFill/>
            </a:ln>
          </c:spPr>
          <c:cat>
            <c:strRef>
              <c:f>Sheet1!$A$2:$A$6</c:f>
              <c:strCache>
                <c:ptCount val="5"/>
                <c:pt idx="0">
                  <c:v>FY21</c:v>
                </c:pt>
                <c:pt idx="1">
                  <c:v>FY22</c:v>
                </c:pt>
                <c:pt idx="2">
                  <c:v>FY23</c:v>
                </c:pt>
                <c:pt idx="3">
                  <c:v>FY24</c:v>
                </c:pt>
                <c:pt idx="4">
                  <c:v>FY25</c:v>
                </c:pt>
              </c:strCache>
            </c:strRef>
          </c:cat>
          <c:val>
            <c:numRef>
              <c:f>Sheet1!$B$2:$B$6</c:f>
              <c:numCache>
                <c:formatCode>General</c:formatCode>
                <c:ptCount val="5"/>
                <c:pt idx="0">
                  <c:v>3850</c:v>
                </c:pt>
                <c:pt idx="1">
                  <c:v>3755</c:v>
                </c:pt>
                <c:pt idx="2">
                  <c:v>3698</c:v>
                </c:pt>
                <c:pt idx="3">
                  <c:v>4004</c:v>
                </c:pt>
                <c:pt idx="4">
                  <c:v>4399</c:v>
                </c:pt>
              </c:numCache>
            </c:numRef>
          </c:val>
        </c:ser>
        <c:dLbls>
          <c:txPr>
            <a:bodyPr/>
            <a:lstStyle/>
            <a:p>
              <a:pPr>
                <a:defRPr sz="800">
                  <a:solidFill>
                    <a:srgbClr val="6E6E6E"/>
                  </a:solidFill>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D9D9D9"/>
            </a:solidFill>
          </a:ln>
        </c:spPr>
        <c:txPr>
          <a:bodyPr/>
          <a:lstStyle/>
          <a:p>
            <a:pPr>
              <a:defRPr sz="900">
                <a:solidFill>
                  <a:srgbClr val="6E6E6E"/>
                </a:solidFill>
              </a:defRPr>
            </a:pPr>
          </a:p>
        </c:txPr>
        <c:crossAx val="-2113994440"/>
        <c:crosses val="autoZero"/>
        <c:auto val="1"/>
        <c:lblAlgn val="ctr"/>
        <c:lblOffset val="100"/>
        <c:noMultiLvlLbl val="0"/>
      </c:catAx>
      <c:valAx>
        <c:axId val="-2113994440"/>
        <c:scaling/>
        <c:delete val="0"/>
        <c:axPos val="l"/>
        <c:majorGridlines>
          <c:spPr>
            <a:ln w="6350">
              <a:solidFill>
                <a:srgbClr val="D9D9D9"/>
              </a:solidFill>
            </a:ln>
          </c:spPr>
        </c:majorGridlines>
        <c:majorTickMark val="out"/>
        <c:minorTickMark val="none"/>
        <c:tickLblPos val="nextTo"/>
        <c:spPr>
          <a:ln>
            <a:solidFill>
              <a:srgbClr val="D9D9D9"/>
            </a:solidFill>
          </a:ln>
        </c:spPr>
        <c:txPr>
          <a:bodyPr/>
          <a:lstStyle/>
          <a:p>
            <a:pPr>
              <a:defRPr sz="900">
                <a:solidFill>
                  <a:srgbClr val="6E6E6E"/>
                </a:solidFill>
              </a:defRPr>
            </a:pPr>
          </a:p>
        </c:txPr>
        <c:crossAx val="-2068027336"/>
        <c:crosses val="autoZero"/>
      </c:valAx>
    </c:plotArea>
    <c:legend>
      <c:legendPos val="b"/>
      <c:overlay val="0"/>
      <c:txPr>
        <a:bodyPr/>
        <a:lstStyle/>
        <a:p>
          <a:pPr>
            <a:defRPr sz="900">
              <a:solidFill>
                <a:srgbClr val="6E6E6E"/>
              </a:solidFill>
            </a:defRPr>
          </a:pPr>
        </a:p>
      </c:txPr>
    </c:legend>
    <c:dispBlanksAs val="gap"/>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200" b="1">
                <a:solidFill>
                  <a:srgbClr val="1B2A4A"/>
                </a:solidFill>
              </a:rPr>
              <a:t>EBITDA Margin (%)</a:t>
            </a:r>
          </a:p>
        </c:rich>
      </c:tx>
      <c:layout/>
      <c:overlay val="0"/>
    </c:title>
    <c:autoTitleDeleted val="0"/>
    <c:plotArea>
      <c:barChart>
        <c:barDir val="col"/>
        <c:grouping val="clustered"/>
        <c:ser>
          <c:idx val="0"/>
          <c:order val="0"/>
          <c:tx>
            <c:strRef>
              <c:f>Sheet1!$B$1</c:f>
              <c:strCache>
                <c:ptCount val="1"/>
                <c:pt idx="0">
                  <c:v>EBITDA Margin %</c:v>
                </c:pt>
              </c:strCache>
            </c:strRef>
          </c:tx>
          <c:spPr>
            <a:solidFill>
              <a:srgbClr val="B08D57"/>
            </a:solidFill>
            <a:ln>
              <a:noFill/>
            </a:ln>
          </c:spPr>
          <c:cat>
            <c:strRef>
              <c:f>Sheet1!$A$2:$A$6</c:f>
              <c:strCache>
                <c:ptCount val="5"/>
                <c:pt idx="0">
                  <c:v>FY21</c:v>
                </c:pt>
                <c:pt idx="1">
                  <c:v>FY22</c:v>
                </c:pt>
                <c:pt idx="2">
                  <c:v>FY23</c:v>
                </c:pt>
                <c:pt idx="3">
                  <c:v>FY24</c:v>
                </c:pt>
                <c:pt idx="4">
                  <c:v>FY25</c:v>
                </c:pt>
              </c:strCache>
            </c:strRef>
          </c:cat>
          <c:val>
            <c:numRef>
              <c:f>Sheet1!$B$2:$B$6</c:f>
              <c:numCache>
                <c:formatCode>General</c:formatCode>
                <c:ptCount val="5"/>
                <c:pt idx="0">
                  <c:v>47.8</c:v>
                </c:pt>
                <c:pt idx="1">
                  <c:v>46.5</c:v>
                </c:pt>
                <c:pt idx="2">
                  <c:v>43.6</c:v>
                </c:pt>
                <c:pt idx="3">
                  <c:v>42.2</c:v>
                </c:pt>
                <c:pt idx="4">
                  <c:v>45.7</c:v>
                </c:pt>
              </c:numCache>
            </c:numRef>
          </c:val>
        </c:ser>
        <c:dLbls>
          <c:txPr>
            <a:bodyPr/>
            <a:lstStyle/>
            <a:p>
              <a:pPr>
                <a:defRPr sz="800">
                  <a:solidFill>
                    <a:srgbClr val="6E6E6E"/>
                  </a:solidFill>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D9D9D9"/>
            </a:solidFill>
          </a:ln>
        </c:spPr>
        <c:txPr>
          <a:bodyPr/>
          <a:lstStyle/>
          <a:p>
            <a:pPr>
              <a:defRPr sz="900">
                <a:solidFill>
                  <a:srgbClr val="6E6E6E"/>
                </a:solidFill>
              </a:defRPr>
            </a:pPr>
          </a:p>
        </c:txPr>
        <c:crossAx val="-2113994440"/>
        <c:crosses val="autoZero"/>
        <c:auto val="1"/>
        <c:lblAlgn val="ctr"/>
        <c:lblOffset val="100"/>
        <c:noMultiLvlLbl val="0"/>
      </c:catAx>
      <c:valAx>
        <c:axId val="-2113994440"/>
        <c:scaling/>
        <c:delete val="0"/>
        <c:axPos val="l"/>
        <c:majorGridlines>
          <c:spPr>
            <a:ln w="6350">
              <a:solidFill>
                <a:srgbClr val="D9D9D9"/>
              </a:solidFill>
            </a:ln>
          </c:spPr>
        </c:majorGridlines>
        <c:majorTickMark val="out"/>
        <c:minorTickMark val="none"/>
        <c:tickLblPos val="nextTo"/>
        <c:spPr>
          <a:ln>
            <a:solidFill>
              <a:srgbClr val="D9D9D9"/>
            </a:solidFill>
          </a:ln>
        </c:spPr>
        <c:txPr>
          <a:bodyPr/>
          <a:lstStyle/>
          <a:p>
            <a:pPr>
              <a:defRPr sz="900">
                <a:solidFill>
                  <a:srgbClr val="6E6E6E"/>
                </a:solidFill>
              </a:defRPr>
            </a:pPr>
          </a:p>
        </c:txPr>
        <c:crossAx val="-2068027336"/>
        <c:crosses val="autoZero"/>
      </c:valAx>
    </c:plotArea>
    <c:legend>
      <c:legendPos val="b"/>
      <c:overlay val="0"/>
      <c:txPr>
        <a:bodyPr/>
        <a:lstStyle/>
        <a:p>
          <a:pPr>
            <a:defRPr sz="900">
              <a:solidFill>
                <a:srgbClr val="6E6E6E"/>
              </a:solidFill>
            </a:defRPr>
          </a:pPr>
        </a:p>
      </c:txPr>
    </c:legend>
    <c:dispBlanksAs val="gap"/>
  </c:chart>
  <c:txPr>
    <a:bodyPr/>
    <a:lstStyle/>
    <a:p>
      <a:pPr>
        <a:defRPr sz="18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200" b="1">
                <a:solidFill>
                  <a:srgbClr val="1B2A4A"/>
                </a:solidFill>
              </a:rPr>
              <a:t>Free Cash Flow ($M)</a:t>
            </a:r>
          </a:p>
        </c:rich>
      </c:tx>
      <c:layout/>
      <c:overlay val="0"/>
    </c:title>
    <c:autoTitleDeleted val="0"/>
    <c:plotArea>
      <c:barChart>
        <c:barDir val="col"/>
        <c:grouping val="clustered"/>
        <c:ser>
          <c:idx val="0"/>
          <c:order val="0"/>
          <c:tx>
            <c:strRef>
              <c:f>Sheet1!$B$1</c:f>
              <c:strCache>
                <c:ptCount val="1"/>
                <c:pt idx="0">
                  <c:v>Free Cash Flow</c:v>
                </c:pt>
              </c:strCache>
            </c:strRef>
          </c:tx>
          <c:spPr>
            <a:solidFill>
              <a:srgbClr val="1B2A4A"/>
            </a:solidFill>
            <a:ln>
              <a:noFill/>
            </a:ln>
          </c:spPr>
          <c:cat>
            <c:strRef>
              <c:f>Sheet1!$A$2:$A$6</c:f>
              <c:strCache>
                <c:ptCount val="5"/>
                <c:pt idx="0">
                  <c:v>FY21</c:v>
                </c:pt>
                <c:pt idx="1">
                  <c:v>FY22</c:v>
                </c:pt>
                <c:pt idx="2">
                  <c:v>FY23</c:v>
                </c:pt>
                <c:pt idx="3">
                  <c:v>FY24</c:v>
                </c:pt>
                <c:pt idx="4">
                  <c:v>FY25</c:v>
                </c:pt>
              </c:strCache>
            </c:strRef>
          </c:cat>
          <c:val>
            <c:numRef>
              <c:f>Sheet1!$B$2:$B$6</c:f>
              <c:numCache>
                <c:formatCode>General</c:formatCode>
                <c:ptCount val="5"/>
                <c:pt idx="0">
                  <c:v>1939</c:v>
                </c:pt>
                <c:pt idx="1">
                  <c:v>1923</c:v>
                </c:pt>
                <c:pt idx="2">
                  <c:v>1580</c:v>
                </c:pt>
                <c:pt idx="3">
                  <c:v>523</c:v>
                </c:pt>
                <c:pt idx="4">
                  <c:v>620</c:v>
                </c:pt>
              </c:numCache>
            </c:numRef>
          </c:val>
        </c:ser>
        <c:dLbls>
          <c:txPr>
            <a:bodyPr/>
            <a:lstStyle/>
            <a:p>
              <a:pPr>
                <a:defRPr sz="800">
                  <a:solidFill>
                    <a:srgbClr val="6E6E6E"/>
                  </a:solidFill>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D9D9D9"/>
            </a:solidFill>
          </a:ln>
        </c:spPr>
        <c:txPr>
          <a:bodyPr/>
          <a:lstStyle/>
          <a:p>
            <a:pPr>
              <a:defRPr sz="900">
                <a:solidFill>
                  <a:srgbClr val="6E6E6E"/>
                </a:solidFill>
              </a:defRPr>
            </a:pPr>
          </a:p>
        </c:txPr>
        <c:crossAx val="-2113994440"/>
        <c:crosses val="autoZero"/>
        <c:auto val="1"/>
        <c:lblAlgn val="ctr"/>
        <c:lblOffset val="100"/>
        <c:noMultiLvlLbl val="0"/>
      </c:catAx>
      <c:valAx>
        <c:axId val="-2113994440"/>
        <c:scaling/>
        <c:delete val="0"/>
        <c:axPos val="l"/>
        <c:majorGridlines>
          <c:spPr>
            <a:ln w="6350">
              <a:solidFill>
                <a:srgbClr val="D9D9D9"/>
              </a:solidFill>
            </a:ln>
          </c:spPr>
        </c:majorGridlines>
        <c:majorTickMark val="out"/>
        <c:minorTickMark val="none"/>
        <c:tickLblPos val="nextTo"/>
        <c:spPr>
          <a:ln>
            <a:solidFill>
              <a:srgbClr val="D9D9D9"/>
            </a:solidFill>
          </a:ln>
        </c:spPr>
        <c:txPr>
          <a:bodyPr/>
          <a:lstStyle/>
          <a:p>
            <a:pPr>
              <a:defRPr sz="900">
                <a:solidFill>
                  <a:srgbClr val="6E6E6E"/>
                </a:solidFill>
              </a:defRPr>
            </a:pPr>
          </a:p>
        </c:txPr>
        <c:crossAx val="-2068027336"/>
        <c:crosses val="autoZero"/>
      </c:valAx>
    </c:plotArea>
    <c:legend>
      <c:legendPos val="b"/>
      <c:overlay val="0"/>
      <c:txPr>
        <a:bodyPr/>
        <a:lstStyle/>
        <a:p>
          <a:pPr>
            <a:defRPr sz="900">
              <a:solidFill>
                <a:srgbClr val="6E6E6E"/>
              </a:solidFill>
            </a:defRPr>
          </a:pPr>
        </a:p>
      </c:txPr>
    </c:legend>
    <c:dispBlanksAs val="gap"/>
  </c:chart>
  <c:txPr>
    <a:bodyPr/>
    <a:lstStyle/>
    <a:p>
      <a:pPr>
        <a:defRPr sz="1800"/>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200" b="1">
                <a:solidFill>
                  <a:srgbClr val="1B2A4A"/>
                </a:solidFill>
              </a:rPr>
              <a:t>CapEx ($M)</a:t>
            </a:r>
          </a:p>
        </c:rich>
      </c:tx>
      <c:layout/>
      <c:overlay val="0"/>
    </c:title>
    <c:autoTitleDeleted val="0"/>
    <c:plotArea>
      <c:barChart>
        <c:barDir val="col"/>
        <c:grouping val="clustered"/>
        <c:ser>
          <c:idx val="0"/>
          <c:order val="0"/>
          <c:tx>
            <c:strRef>
              <c:f>Sheet1!$B$1</c:f>
              <c:strCache>
                <c:ptCount val="1"/>
                <c:pt idx="0">
                  <c:v>CapEx</c:v>
                </c:pt>
              </c:strCache>
            </c:strRef>
          </c:tx>
          <c:spPr>
            <a:solidFill>
              <a:srgbClr val="B08D57"/>
            </a:solidFill>
            <a:ln>
              <a:noFill/>
            </a:ln>
          </c:spPr>
          <c:cat>
            <c:strRef>
              <c:f>Sheet1!$A$2:$A$6</c:f>
              <c:strCache>
                <c:ptCount val="5"/>
                <c:pt idx="0">
                  <c:v>FY21</c:v>
                </c:pt>
                <c:pt idx="1">
                  <c:v>FY22</c:v>
                </c:pt>
                <c:pt idx="2">
                  <c:v>FY23</c:v>
                </c:pt>
                <c:pt idx="3">
                  <c:v>FY24</c:v>
                </c:pt>
                <c:pt idx="4">
                  <c:v>FY25</c:v>
                </c:pt>
              </c:strCache>
            </c:strRef>
          </c:cat>
          <c:val>
            <c:numRef>
              <c:f>Sheet1!$B$2:$B$6</c:f>
              <c:numCache>
                <c:formatCode>General</c:formatCode>
                <c:ptCount val="5"/>
                <c:pt idx="0">
                  <c:v>699</c:v>
                </c:pt>
                <c:pt idx="1">
                  <c:v>634</c:v>
                </c:pt>
                <c:pt idx="2">
                  <c:v>531</c:v>
                </c:pt>
                <c:pt idx="3">
                  <c:v>627</c:v>
                </c:pt>
                <c:pt idx="4">
                  <c:v>733</c:v>
                </c:pt>
              </c:numCache>
            </c:numRef>
          </c:val>
        </c:ser>
        <c:dLbls>
          <c:txPr>
            <a:bodyPr/>
            <a:lstStyle/>
            <a:p>
              <a:pPr>
                <a:defRPr sz="800">
                  <a:solidFill>
                    <a:srgbClr val="6E6E6E"/>
                  </a:solidFill>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D9D9D9"/>
            </a:solidFill>
          </a:ln>
        </c:spPr>
        <c:txPr>
          <a:bodyPr/>
          <a:lstStyle/>
          <a:p>
            <a:pPr>
              <a:defRPr sz="900">
                <a:solidFill>
                  <a:srgbClr val="6E6E6E"/>
                </a:solidFill>
              </a:defRPr>
            </a:pPr>
          </a:p>
        </c:txPr>
        <c:crossAx val="-2113994440"/>
        <c:crosses val="autoZero"/>
        <c:auto val="1"/>
        <c:lblAlgn val="ctr"/>
        <c:lblOffset val="100"/>
        <c:noMultiLvlLbl val="0"/>
      </c:catAx>
      <c:valAx>
        <c:axId val="-2113994440"/>
        <c:scaling/>
        <c:delete val="0"/>
        <c:axPos val="l"/>
        <c:majorGridlines>
          <c:spPr>
            <a:ln w="6350">
              <a:solidFill>
                <a:srgbClr val="D9D9D9"/>
              </a:solidFill>
            </a:ln>
          </c:spPr>
        </c:majorGridlines>
        <c:majorTickMark val="out"/>
        <c:minorTickMark val="none"/>
        <c:tickLblPos val="nextTo"/>
        <c:spPr>
          <a:ln>
            <a:solidFill>
              <a:srgbClr val="D9D9D9"/>
            </a:solidFill>
          </a:ln>
        </c:spPr>
        <c:txPr>
          <a:bodyPr/>
          <a:lstStyle/>
          <a:p>
            <a:pPr>
              <a:defRPr sz="900">
                <a:solidFill>
                  <a:srgbClr val="6E6E6E"/>
                </a:solidFill>
              </a:defRPr>
            </a:pPr>
          </a:p>
        </c:txPr>
        <c:crossAx val="-2068027336"/>
        <c:crosses val="autoZero"/>
      </c:valAx>
    </c:plotArea>
    <c:legend>
      <c:legendPos val="b"/>
      <c:overlay val="0"/>
      <c:txPr>
        <a:bodyPr/>
        <a:lstStyle/>
        <a:p>
          <a:pPr>
            <a:defRPr sz="900">
              <a:solidFill>
                <a:srgbClr val="6E6E6E"/>
              </a:solidFill>
            </a:defRPr>
          </a:pPr>
        </a:p>
      </c:txPr>
    </c:legend>
    <c:dispBlanksAs val="gap"/>
  </c:chart>
  <c:txPr>
    <a:bodyPr/>
    <a:lstStyle/>
    <a:p>
      <a:pPr>
        <a:defRPr sz="1800"/>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200" b="1">
                <a:solidFill>
                  <a:srgbClr val="1B2A4A"/>
                </a:solidFill>
              </a:rPr>
              <a:t>Net Debt ($M)</a:t>
            </a:r>
          </a:p>
        </c:rich>
      </c:tx>
      <c:layout/>
      <c:overlay val="0"/>
    </c:title>
    <c:autoTitleDeleted val="0"/>
    <c:plotArea>
      <c:barChart>
        <c:barDir val="col"/>
        <c:grouping val="clustered"/>
        <c:ser>
          <c:idx val="0"/>
          <c:order val="0"/>
          <c:tx>
            <c:strRef>
              <c:f>Sheet1!$B$1</c:f>
              <c:strCache>
                <c:ptCount val="1"/>
                <c:pt idx="0">
                  <c:v>Net Debt</c:v>
                </c:pt>
              </c:strCache>
            </c:strRef>
          </c:tx>
          <c:spPr>
            <a:solidFill>
              <a:srgbClr val="1B2A4A"/>
            </a:solidFill>
            <a:ln>
              <a:noFill/>
            </a:ln>
          </c:spPr>
          <c:cat>
            <c:strRef>
              <c:f>Sheet1!$A$2:$A$6</c:f>
              <c:strCache>
                <c:ptCount val="5"/>
                <c:pt idx="0">
                  <c:v>FY21</c:v>
                </c:pt>
                <c:pt idx="1">
                  <c:v>FY22</c:v>
                </c:pt>
                <c:pt idx="2">
                  <c:v>FY23</c:v>
                </c:pt>
                <c:pt idx="3">
                  <c:v>FY24</c:v>
                </c:pt>
                <c:pt idx="4">
                  <c:v>FY25</c:v>
                </c:pt>
              </c:strCache>
            </c:strRef>
          </c:cat>
          <c:val>
            <c:numRef>
              <c:f>Sheet1!$B$2:$B$6</c:f>
              <c:numCache>
                <c:formatCode>General</c:formatCode>
                <c:ptCount val="5"/>
                <c:pt idx="0">
                  <c:v>8394</c:v>
                </c:pt>
                <c:pt idx="1">
                  <c:v>5073</c:v>
                </c:pt>
                <c:pt idx="2">
                  <c:v>3254</c:v>
                </c:pt>
                <c:pt idx="3">
                  <c:v>3005</c:v>
                </c:pt>
                <c:pt idx="4">
                  <c:v>3413</c:v>
                </c:pt>
              </c:numCache>
            </c:numRef>
          </c:val>
        </c:ser>
        <c:dLbls>
          <c:txPr>
            <a:bodyPr/>
            <a:lstStyle/>
            <a:p>
              <a:pPr>
                <a:defRPr sz="800">
                  <a:solidFill>
                    <a:srgbClr val="6E6E6E"/>
                  </a:solidFill>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D9D9D9"/>
            </a:solidFill>
          </a:ln>
        </c:spPr>
        <c:txPr>
          <a:bodyPr/>
          <a:lstStyle/>
          <a:p>
            <a:pPr>
              <a:defRPr sz="900">
                <a:solidFill>
                  <a:srgbClr val="6E6E6E"/>
                </a:solidFill>
              </a:defRPr>
            </a:pPr>
          </a:p>
        </c:txPr>
        <c:crossAx val="-2113994440"/>
        <c:crosses val="autoZero"/>
        <c:auto val="1"/>
        <c:lblAlgn val="ctr"/>
        <c:lblOffset val="100"/>
        <c:noMultiLvlLbl val="0"/>
      </c:catAx>
      <c:valAx>
        <c:axId val="-2113994440"/>
        <c:scaling/>
        <c:delete val="0"/>
        <c:axPos val="l"/>
        <c:majorGridlines>
          <c:spPr>
            <a:ln w="6350">
              <a:solidFill>
                <a:srgbClr val="D9D9D9"/>
              </a:solidFill>
            </a:ln>
          </c:spPr>
        </c:majorGridlines>
        <c:majorTickMark val="out"/>
        <c:minorTickMark val="none"/>
        <c:tickLblPos val="nextTo"/>
        <c:spPr>
          <a:ln>
            <a:solidFill>
              <a:srgbClr val="D9D9D9"/>
            </a:solidFill>
          </a:ln>
        </c:spPr>
        <c:txPr>
          <a:bodyPr/>
          <a:lstStyle/>
          <a:p>
            <a:pPr>
              <a:defRPr sz="900">
                <a:solidFill>
                  <a:srgbClr val="6E6E6E"/>
                </a:solidFill>
              </a:defRPr>
            </a:pPr>
          </a:p>
        </c:txPr>
        <c:crossAx val="-2068027336"/>
        <c:crosses val="autoZero"/>
      </c:valAx>
    </c:plotArea>
    <c:legend>
      <c:legendPos val="b"/>
      <c:overlay val="0"/>
      <c:txPr>
        <a:bodyPr/>
        <a:lstStyle/>
        <a:p>
          <a:pPr>
            <a:defRPr sz="900">
              <a:solidFill>
                <a:srgbClr val="6E6E6E"/>
              </a:solidFill>
            </a:defRPr>
          </a:pPr>
        </a:p>
      </c:txPr>
    </c:legend>
    <c:dispBlanksAs val="gap"/>
  </c:chart>
  <c:txPr>
    <a:bodyPr/>
    <a:lstStyle/>
    <a:p>
      <a:pPr>
        <a:defRPr sz="1800"/>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200" b="1">
                <a:solidFill>
                  <a:srgbClr val="1B2A4A"/>
                </a:solidFill>
              </a:rPr>
              <a:t>Net Debt / EBITDA (x)</a:t>
            </a:r>
          </a:p>
        </c:rich>
      </c:tx>
      <c:layout/>
      <c:overlay val="0"/>
    </c:title>
    <c:autoTitleDeleted val="0"/>
    <c:plotArea>
      <c:barChart>
        <c:barDir val="col"/>
        <c:grouping val="clustered"/>
        <c:ser>
          <c:idx val="0"/>
          <c:order val="0"/>
          <c:tx>
            <c:strRef>
              <c:f>Sheet1!$B$1</c:f>
              <c:strCache>
                <c:ptCount val="1"/>
                <c:pt idx="0">
                  <c:v>Leverage</c:v>
                </c:pt>
              </c:strCache>
            </c:strRef>
          </c:tx>
          <c:spPr>
            <a:solidFill>
              <a:srgbClr val="B08D57"/>
            </a:solidFill>
            <a:ln>
              <a:noFill/>
            </a:ln>
          </c:spPr>
          <c:cat>
            <c:strRef>
              <c:f>Sheet1!$A$2:$A$6</c:f>
              <c:strCache>
                <c:ptCount val="5"/>
                <c:pt idx="0">
                  <c:v>FY21</c:v>
                </c:pt>
                <c:pt idx="1">
                  <c:v>FY22</c:v>
                </c:pt>
                <c:pt idx="2">
                  <c:v>FY23</c:v>
                </c:pt>
                <c:pt idx="3">
                  <c:v>FY24</c:v>
                </c:pt>
                <c:pt idx="4">
                  <c:v>FY25</c:v>
                </c:pt>
              </c:strCache>
            </c:strRef>
          </c:cat>
          <c:val>
            <c:numRef>
              <c:f>Sheet1!$B$2:$B$6</c:f>
              <c:numCache>
                <c:formatCode>General</c:formatCode>
                <c:ptCount val="5"/>
                <c:pt idx="0">
                  <c:v>4.56</c:v>
                </c:pt>
                <c:pt idx="1">
                  <c:v>2.9</c:v>
                </c:pt>
                <c:pt idx="2">
                  <c:v>2.02</c:v>
                </c:pt>
                <c:pt idx="3">
                  <c:v>1.78</c:v>
                </c:pt>
                <c:pt idx="4">
                  <c:v>1.7</c:v>
                </c:pt>
              </c:numCache>
            </c:numRef>
          </c:val>
        </c:ser>
        <c:dLbls>
          <c:txPr>
            <a:bodyPr/>
            <a:lstStyle/>
            <a:p>
              <a:pPr>
                <a:defRPr sz="800">
                  <a:solidFill>
                    <a:srgbClr val="6E6E6E"/>
                  </a:solidFill>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D9D9D9"/>
            </a:solidFill>
          </a:ln>
        </c:spPr>
        <c:txPr>
          <a:bodyPr/>
          <a:lstStyle/>
          <a:p>
            <a:pPr>
              <a:defRPr sz="900">
                <a:solidFill>
                  <a:srgbClr val="6E6E6E"/>
                </a:solidFill>
              </a:defRPr>
            </a:pPr>
          </a:p>
        </c:txPr>
        <c:crossAx val="-2113994440"/>
        <c:crosses val="autoZero"/>
        <c:auto val="1"/>
        <c:lblAlgn val="ctr"/>
        <c:lblOffset val="100"/>
        <c:noMultiLvlLbl val="0"/>
      </c:catAx>
      <c:valAx>
        <c:axId val="-2113994440"/>
        <c:scaling/>
        <c:delete val="0"/>
        <c:axPos val="l"/>
        <c:majorGridlines>
          <c:spPr>
            <a:ln w="6350">
              <a:solidFill>
                <a:srgbClr val="D9D9D9"/>
              </a:solidFill>
            </a:ln>
          </c:spPr>
        </c:majorGridlines>
        <c:majorTickMark val="out"/>
        <c:minorTickMark val="none"/>
        <c:tickLblPos val="nextTo"/>
        <c:spPr>
          <a:ln>
            <a:solidFill>
              <a:srgbClr val="D9D9D9"/>
            </a:solidFill>
          </a:ln>
        </c:spPr>
        <c:txPr>
          <a:bodyPr/>
          <a:lstStyle/>
          <a:p>
            <a:pPr>
              <a:defRPr sz="900">
                <a:solidFill>
                  <a:srgbClr val="6E6E6E"/>
                </a:solidFill>
              </a:defRPr>
            </a:pPr>
          </a:p>
        </c:txPr>
        <c:crossAx val="-2068027336"/>
        <c:crosses val="autoZero"/>
      </c:valAx>
    </c:plotArea>
    <c:legend>
      <c:legendPos val="b"/>
      <c:overlay val="0"/>
      <c:txPr>
        <a:bodyPr/>
        <a:lstStyle/>
        <a:p>
          <a:pPr>
            <a:defRPr sz="900">
              <a:solidFill>
                <a:srgbClr val="6E6E6E"/>
              </a:solidFill>
            </a:defRPr>
          </a:pPr>
        </a:p>
      </c:txPr>
    </c:legend>
    <c:dispBlanksAs val="gap"/>
  </c:chart>
  <c:txPr>
    <a:bodyPr/>
    <a:lstStyle/>
    <a:p>
      <a:pPr>
        <a:defRPr sz="1800"/>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ser>
          <c:idx val="0"/>
          <c:order val="0"/>
          <c:tx>
            <c:strRef>
              <c:f>Sheet1!$B$1</c:f>
              <c:strCache>
                <c:ptCount val="1"/>
                <c:pt idx="0">
                  <c:v>Base (invisible)</c:v>
                </c:pt>
              </c:strCache>
            </c:strRef>
          </c:tx>
          <c:spPr>
            <a:noFill/>
          </c:spPr>
          <c:cat>
            <c:strRef>
              <c:f>Sheet1!$A$2:$A$5</c:f>
              <c:strCache>
                <c:ptCount val="4"/>
                <c:pt idx="0">
                  <c:v>52-Wk Trading Range</c:v>
                </c:pt>
                <c:pt idx="1">
                  <c:v>EV/Sales Comps</c:v>
                </c:pt>
                <c:pt idx="2">
                  <c:v>EV/EBITDA Comps</c:v>
                </c:pt>
                <c:pt idx="3">
                  <c:v>DCF</c:v>
                </c:pt>
              </c:strCache>
            </c:strRef>
          </c:cat>
          <c:val>
            <c:numRef>
              <c:f>Sheet1!$B$2:$B$5</c:f>
              <c:numCache>
                <c:formatCode>General</c:formatCode>
                <c:ptCount val="4"/>
                <c:pt idx="0">
                  <c:v>0</c:v>
                </c:pt>
                <c:pt idx="1">
                  <c:v>0</c:v>
                </c:pt>
                <c:pt idx="2">
                  <c:v>0</c:v>
                </c:pt>
                <c:pt idx="3">
                  <c:v>0</c:v>
                </c:pt>
              </c:numCache>
            </c:numRef>
          </c:val>
        </c:ser>
        <c:ser>
          <c:idx val="1"/>
          <c:order val="1"/>
          <c:tx>
            <c:strRef>
              <c:f>Sheet1!$C$1</c:f>
              <c:strCache>
                <c:ptCount val="1"/>
                <c:pt idx="0">
                  <c:v>Range</c:v>
                </c:pt>
              </c:strCache>
            </c:strRef>
          </c:tx>
          <c:spPr>
            <a:solidFill>
              <a:srgbClr val="B08D57"/>
            </a:solidFill>
          </c:spPr>
          <c:cat>
            <c:strRef>
              <c:f>Sheet1!$A$2:$A$5</c:f>
              <c:strCache>
                <c:ptCount val="4"/>
                <c:pt idx="0">
                  <c:v>52-Wk Trading Range</c:v>
                </c:pt>
                <c:pt idx="1">
                  <c:v>EV/Sales Comps</c:v>
                </c:pt>
                <c:pt idx="2">
                  <c:v>EV/EBITDA Comps</c:v>
                </c:pt>
                <c:pt idx="3">
                  <c:v>DCF</c:v>
                </c:pt>
              </c:strCache>
            </c:strRef>
          </c:cat>
          <c:val>
            <c:numRef>
              <c:f>Sheet1!$C$2:$C$5</c:f>
              <c:numCache>
                <c:formatCode>General</c:formatCode>
                <c:ptCount val="4"/>
                <c:pt idx="0">
                  <c:v>0</c:v>
                </c:pt>
                <c:pt idx="1">
                  <c:v>0</c:v>
                </c:pt>
                <c:pt idx="2">
                  <c:v>0</c:v>
                </c:pt>
                <c:pt idx="3">
                  <c:v>0</c:v>
                </c:pt>
              </c:numCache>
            </c:numRef>
          </c:val>
        </c:ser>
        <c:overlap val="100"/>
        <c:axId val="-2068027336"/>
        <c:axId val="-2113994440"/>
      </c:barChart>
      <c:catAx>
        <c:axId val="-2068027336"/>
        <c:scaling>
          <c:orientation val="minMax"/>
        </c:scaling>
        <c:delete val="0"/>
        <c:axPos val="l"/>
        <c:majorTickMark val="out"/>
        <c:minorTickMark val="none"/>
        <c:tickLblPos val="nextTo"/>
        <c:spPr>
          <a:ln>
            <a:solidFill>
              <a:srgbClr val="D9D9D9"/>
            </a:solidFill>
          </a:ln>
        </c:spPr>
        <c:txPr>
          <a:bodyPr/>
          <a:lstStyle/>
          <a:p>
            <a:pPr>
              <a:defRPr sz="900">
                <a:solidFill>
                  <a:srgbClr val="6E6E6E"/>
                </a:solidFill>
              </a:defRPr>
            </a:pPr>
          </a:p>
        </c:txPr>
        <c:crossAx val="-2113994440"/>
        <c:crosses val="autoZero"/>
        <c:auto val="1"/>
        <c:lblAlgn val="ctr"/>
        <c:lblOffset val="100"/>
        <c:noMultiLvlLbl val="0"/>
      </c:catAx>
      <c:valAx>
        <c:axId val="-2113994440"/>
        <c:scaling/>
        <c:delete val="0"/>
        <c:axPos val="b"/>
        <c:majorGridlines>
          <c:spPr>
            <a:ln w="6350">
              <a:solidFill>
                <a:srgbClr val="D9D9D9"/>
              </a:solidFill>
            </a:ln>
          </c:spPr>
        </c:majorGridlines>
        <c:majorTickMark val="out"/>
        <c:minorTickMark val="none"/>
        <c:tickLblPos val="nextTo"/>
        <c:spPr>
          <a:ln>
            <a:solidFill>
              <a:srgbClr val="D9D9D9"/>
            </a:solidFill>
          </a:ln>
        </c:spPr>
        <c:txPr>
          <a:bodyPr/>
          <a:lstStyle/>
          <a:p>
            <a:pPr>
              <a:defRPr sz="900">
                <a:solidFill>
                  <a:srgbClr val="6E6E6E"/>
                </a:solidFill>
              </a:defRPr>
            </a:pPr>
          </a:p>
        </c:txPr>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Cover slide. VEON Ltd., Nasdaq-listed frontier-market digital operator. Rating: Overweight, selective. This deck accompanies the full institutional research report and valuation workbook; figures throughout are drawn from that fact-checked source of truth.</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Executive summary. Rating Overweight, selective given Ukraine exposure. Walk through the five KPI cards left to right: target price is the DCF output detailed on the valuation slide; EBITDA margin and digital mix show the operating inflection; net debt and FCF show balance-sheet repair alongside the FCF conversion caveat covered under risks. Thesis/Risks/Catalysts columns map directly to the corresponding sections later in the deck.</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Company overview. VEON is Bermuda-incorporated, Dubai-headquartered, Nasdaq-listed. Digital-operator model spans five brands. Timeline shows the portfolio restructuring away from Russia/CIS-adjacent markets toward the current five-market footprint, culminating in the Kyivstar listing and the Bangladesh anchor investment.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Industry overview. Six structural themes framing the frontier-telecom opportunity set: penetration headroom, digital convergence, fintech, AI, 5G/satellite connectivity, and the currency/regulatory headwinds that differentiate frontier markets from developed-market telecom peers.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Geographic operations. Pakistan is the largest single revenue contributor at ~37% of FY2025 Group revenue. Ukraine, Pakistan and Kazakhstan hold market-leading positions; Bangladesh and Uzbekistan are competing for leadership. Ukraine's resilience despite war conditions is a key underappreciated data point.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Banglalink deep-dive. The $250M anchor investment targeting $1B follow-on capital is the single clearest recent expression of management conviction in Bangladesh. Toffee's World Cup 2026 performance (20M MAU, 2B watch-minutes, 1.5M peak concurrent viewers) evidences platform scale. Fintech remains the largest unrealized value pool pending the digital banking license decision.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Historical financials, continuing operations basis. Revenue and EBITDA both troughed in FY2023 before re-accelerating; margin recovery in FY2025 (+350bps) is the core operating-inflection data point. Net debt more than halved from FY2021 to FY2024 before a modest FY2025 uptick tied to buyback execution. FCF conversion remains below FY2021-22 levels and is flagged as a risk on the executive summary and risk slides.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Forecast slide. Per instruction, no financial figures are estimated in this deck. The forecast framework and structure are shown; actual FY2026E-FY2030E figures should be pulled directly from the valuation workbook once the Assumptions tab is populated with sourced inputs, preserving a single source of truth across report, workbook, and this deck.</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Valuation slide. Structure mirrors the workbook exactly: football field synthesizes DCF and trading comps ranges; comps table benchmarks VEON against the approved peer set; sensitivity grid tests WACC and terminal growth. All numeric outputs are intentionally left blank here — per instruction, no valuation figures are fabricated in this deck; link live from the valuation workbook once assumptions and peer data are populated with sourced inputs.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Investment risks. The 3x3 matrix plots each risk by likelihood and impact — Ukraine nationalization sits in the highest-severity cell given both elevated likelihood under current legislation and maximum impact on consolidated value. Mitigation column shows what to monitor for each risk rather than implying full mitigation is achievable — several of these (notably Ukraine) are largely unhedgeable at the position level.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ESG. Sustainalytics ESG Risk Rating improved materially (39.7 to 30.1) year-on-year, though still elevated relative to developed-market telecom peers. Social metrics show consistent gains in female leadership representation across multiple operating companies. Governance remains the watch item given ownership concentration and corporate structure complexity.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Investment recommendation. Overweight, selective. The scorecard makes explicit which factors are constructive (growth, profitability, balance sheet) versus which remain watch items (cash conversion, governance) or elevated risk (Ukraine). Close by reiterating the three-year outlook: the digital-mix and capital-return story plays out over multiple years, while Ukraine remains an event-risk overlay rather than a base-case assumption.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 Id="rId3" Type="http://schemas.openxmlformats.org/officeDocument/2006/relationships/chart" Target="../charts/chart4.xml"/><Relationship Id="rId4" Type="http://schemas.openxmlformats.org/officeDocument/2006/relationships/chart" Target="../charts/chart5.xml"/><Relationship Id="rId5" Type="http://schemas.openxmlformats.org/officeDocument/2006/relationships/chart" Target="../charts/chart6.xml"/><Relationship Id="rId6" Type="http://schemas.openxmlformats.org/officeDocument/2006/relationships/chart" Target="../charts/chart7.xml"/><Relationship Id="rId7" Type="http://schemas.openxmlformats.org/officeDocument/2006/relationships/chart" Target="../charts/chart8.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9.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309360"/>
            <a:ext cx="12191695" cy="18288"/>
          </a:xfrm>
          <a:prstGeom prst="rect">
            <a:avLst/>
          </a:prstGeom>
          <a:solidFill>
            <a:srgbClr val="B08D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188720"/>
            <a:ext cx="7315200" cy="320040"/>
          </a:xfrm>
          <a:prstGeom prst="rect">
            <a:avLst/>
          </a:prstGeom>
          <a:noFill/>
        </p:spPr>
        <p:txBody>
          <a:bodyPr wrap="square" lIns="0" rIns="0" tIns="0" bIns="0">
            <a:spAutoFit/>
          </a:bodyPr>
          <a:lstStyle/>
          <a:p>
            <a:pPr algn="l"/>
            <a:r>
              <a:rPr sz="1300" b="1" i="0">
                <a:solidFill>
                  <a:srgbClr val="B08D57"/>
                </a:solidFill>
                <a:latin typeface="Calibri"/>
              </a:rPr>
              <a:t>EQUITY RESEARCH  |  TELECOMMUNICATIONS</a:t>
            </a:r>
          </a:p>
        </p:txBody>
      </p:sp>
      <p:sp>
        <p:nvSpPr>
          <p:cNvPr id="6" name="TextBox 5"/>
          <p:cNvSpPr txBox="1"/>
          <p:nvPr/>
        </p:nvSpPr>
        <p:spPr>
          <a:xfrm>
            <a:off x="822960" y="1828800"/>
            <a:ext cx="10058400" cy="1097280"/>
          </a:xfrm>
          <a:prstGeom prst="rect">
            <a:avLst/>
          </a:prstGeom>
          <a:noFill/>
        </p:spPr>
        <p:txBody>
          <a:bodyPr wrap="square" lIns="0" rIns="0" tIns="0" bIns="0">
            <a:spAutoFit/>
          </a:bodyPr>
          <a:lstStyle/>
          <a:p>
            <a:pPr algn="l"/>
            <a:r>
              <a:rPr sz="5400" b="1" i="0">
                <a:solidFill>
                  <a:srgbClr val="FFFFFF"/>
                </a:solidFill>
                <a:latin typeface="Calibri"/>
              </a:rPr>
              <a:t>VEON Ltd.</a:t>
            </a:r>
          </a:p>
        </p:txBody>
      </p:sp>
      <p:sp>
        <p:nvSpPr>
          <p:cNvPr id="7" name="TextBox 6"/>
          <p:cNvSpPr txBox="1"/>
          <p:nvPr/>
        </p:nvSpPr>
        <p:spPr>
          <a:xfrm>
            <a:off x="822960" y="2788920"/>
            <a:ext cx="9144000" cy="457200"/>
          </a:xfrm>
          <a:prstGeom prst="rect">
            <a:avLst/>
          </a:prstGeom>
          <a:noFill/>
        </p:spPr>
        <p:txBody>
          <a:bodyPr wrap="square" lIns="0" rIns="0" tIns="0" bIns="0">
            <a:spAutoFit/>
          </a:bodyPr>
          <a:lstStyle/>
          <a:p>
            <a:pPr algn="l"/>
            <a:r>
              <a:rPr sz="1800" b="0" i="0">
                <a:solidFill>
                  <a:srgbClr val="D9D9D9"/>
                </a:solidFill>
                <a:latin typeface="Calibri"/>
              </a:rPr>
              <a:t>(NASDAQ: VEON)</a:t>
            </a:r>
          </a:p>
        </p:txBody>
      </p:sp>
      <p:sp>
        <p:nvSpPr>
          <p:cNvPr id="8" name="TextBox 7"/>
          <p:cNvSpPr txBox="1"/>
          <p:nvPr/>
        </p:nvSpPr>
        <p:spPr>
          <a:xfrm>
            <a:off x="822960" y="3337560"/>
            <a:ext cx="9601200" cy="457200"/>
          </a:xfrm>
          <a:prstGeom prst="rect">
            <a:avLst/>
          </a:prstGeom>
          <a:noFill/>
        </p:spPr>
        <p:txBody>
          <a:bodyPr wrap="square" lIns="0" rIns="0" tIns="0" bIns="0">
            <a:spAutoFit/>
          </a:bodyPr>
          <a:lstStyle/>
          <a:p>
            <a:pPr algn="l"/>
            <a:r>
              <a:rPr sz="2000" b="0" i="1">
                <a:solidFill>
                  <a:srgbClr val="FFFFFF"/>
                </a:solidFill>
                <a:latin typeface="Calibri"/>
              </a:rPr>
              <a:t>Institutional Initiation of Coverage</a:t>
            </a:r>
          </a:p>
        </p:txBody>
      </p:sp>
      <p:sp>
        <p:nvSpPr>
          <p:cNvPr id="9" name="TextBox 8"/>
          <p:cNvSpPr txBox="1"/>
          <p:nvPr/>
        </p:nvSpPr>
        <p:spPr>
          <a:xfrm>
            <a:off x="822960" y="3794760"/>
            <a:ext cx="9601200" cy="365760"/>
          </a:xfrm>
          <a:prstGeom prst="rect">
            <a:avLst/>
          </a:prstGeom>
          <a:noFill/>
        </p:spPr>
        <p:txBody>
          <a:bodyPr wrap="square" lIns="0" rIns="0" tIns="0" bIns="0">
            <a:spAutoFit/>
          </a:bodyPr>
          <a:lstStyle/>
          <a:p>
            <a:pPr algn="l"/>
            <a:r>
              <a:rPr sz="1300" b="0" i="0">
                <a:solidFill>
                  <a:srgbClr val="D9D9D9"/>
                </a:solidFill>
                <a:latin typeface="Calibri"/>
              </a:rPr>
              <a:t>Frontier-Market Digital Operator  |  Nasdaq Global Select Market</a:t>
            </a:r>
          </a:p>
        </p:txBody>
      </p:sp>
      <p:sp>
        <p:nvSpPr>
          <p:cNvPr id="10" name="Rounded Rectangle 9"/>
          <p:cNvSpPr/>
          <p:nvPr/>
        </p:nvSpPr>
        <p:spPr>
          <a:xfrm>
            <a:off x="822960" y="4526280"/>
            <a:ext cx="2377440" cy="457200"/>
          </a:xfrm>
          <a:prstGeom prst="roundRect">
            <a:avLst>
              <a:gd name="adj" fmla="val 50000"/>
            </a:avLst>
          </a:prstGeom>
          <a:solidFill>
            <a:srgbClr val="B08D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400" b="1">
                <a:solidFill>
                  <a:srgbClr val="FFFFFF"/>
                </a:solidFill>
                <a:latin typeface="Calibri"/>
              </a:rPr>
              <a:t>OVERWEIGHT (SELECTIVE)</a:t>
            </a:r>
          </a:p>
        </p:txBody>
      </p:sp>
      <p:sp>
        <p:nvSpPr>
          <p:cNvPr id="11" name="TextBox 10"/>
          <p:cNvSpPr txBox="1"/>
          <p:nvPr/>
        </p:nvSpPr>
        <p:spPr>
          <a:xfrm>
            <a:off x="3383280" y="4526280"/>
            <a:ext cx="3657600" cy="457200"/>
          </a:xfrm>
          <a:prstGeom prst="rect">
            <a:avLst/>
          </a:prstGeom>
          <a:noFill/>
        </p:spPr>
        <p:txBody>
          <a:bodyPr wrap="square" lIns="0" rIns="0" tIns="0" bIns="0" anchor="ctr">
            <a:spAutoFit/>
          </a:bodyPr>
          <a:lstStyle/>
          <a:p>
            <a:pPr algn="l"/>
            <a:r>
              <a:rPr sz="1200" b="0" i="0">
                <a:solidFill>
                  <a:srgbClr val="FFFFFF"/>
                </a:solidFill>
                <a:latin typeface="Calibri"/>
              </a:rPr>
              <a:t>Sector: Telecom, Frontier Markets</a:t>
            </a:r>
          </a:p>
        </p:txBody>
      </p:sp>
      <p:sp>
        <p:nvSpPr>
          <p:cNvPr id="12" name="TextBox 11"/>
          <p:cNvSpPr txBox="1"/>
          <p:nvPr/>
        </p:nvSpPr>
        <p:spPr>
          <a:xfrm>
            <a:off x="822960" y="5806440"/>
            <a:ext cx="5486400" cy="274320"/>
          </a:xfrm>
          <a:prstGeom prst="rect">
            <a:avLst/>
          </a:prstGeom>
          <a:noFill/>
        </p:spPr>
        <p:txBody>
          <a:bodyPr wrap="square" lIns="0" rIns="0" tIns="0" bIns="0">
            <a:spAutoFit/>
          </a:bodyPr>
          <a:lstStyle/>
          <a:p>
            <a:pPr algn="l"/>
            <a:r>
              <a:rPr sz="1000" b="0" i="0">
                <a:solidFill>
                  <a:srgbClr val="D9D9D9"/>
                </a:solidFill>
                <a:latin typeface="Calibri"/>
              </a:rPr>
              <a:t>Prepared for institutional distribution</a:t>
            </a:r>
          </a:p>
        </p:txBody>
      </p:sp>
      <p:sp>
        <p:nvSpPr>
          <p:cNvPr id="13" name="TextBox 12"/>
          <p:cNvSpPr txBox="1"/>
          <p:nvPr/>
        </p:nvSpPr>
        <p:spPr>
          <a:xfrm>
            <a:off x="822960" y="6080760"/>
            <a:ext cx="5486400" cy="274320"/>
          </a:xfrm>
          <a:prstGeom prst="rect">
            <a:avLst/>
          </a:prstGeom>
          <a:noFill/>
        </p:spPr>
        <p:txBody>
          <a:bodyPr wrap="square" lIns="0" rIns="0" tIns="0" bIns="0">
            <a:spAutoFit/>
          </a:bodyPr>
          <a:lstStyle/>
          <a:p>
            <a:pPr algn="l"/>
            <a:r>
              <a:rPr sz="1000" b="0" i="0">
                <a:solidFill>
                  <a:srgbClr val="D9D9D9"/>
                </a:solidFill>
                <a:latin typeface="Calibri"/>
              </a:rPr>
              <a:t>August 2026</a:t>
            </a:r>
          </a:p>
        </p:txBody>
      </p:sp>
      <p:sp>
        <p:nvSpPr>
          <p:cNvPr id="14" name="TextBox 13"/>
          <p:cNvSpPr txBox="1"/>
          <p:nvPr/>
        </p:nvSpPr>
        <p:spPr>
          <a:xfrm>
            <a:off x="8686800" y="6080760"/>
            <a:ext cx="3017520" cy="274320"/>
          </a:xfrm>
          <a:prstGeom prst="rect">
            <a:avLst/>
          </a:prstGeom>
          <a:noFill/>
        </p:spPr>
        <p:txBody>
          <a:bodyPr wrap="square" lIns="0" rIns="0" tIns="0" bIns="0">
            <a:spAutoFit/>
          </a:bodyPr>
          <a:lstStyle/>
          <a:p>
            <a:pPr algn="r"/>
            <a:r>
              <a:rPr sz="1000" b="1" i="0">
                <a:solidFill>
                  <a:srgbClr val="B08D57"/>
                </a:solidFill>
                <a:latin typeface="Calibri"/>
              </a:rPr>
              <a:t>STRICTLY CONFIDENTIAL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5486400" cy="274320"/>
          </a:xfrm>
          <a:prstGeom prst="rect">
            <a:avLst/>
          </a:prstGeom>
          <a:noFill/>
        </p:spPr>
        <p:txBody>
          <a:bodyPr wrap="square" lIns="0" rIns="0" tIns="0" bIns="0">
            <a:spAutoFit/>
          </a:bodyPr>
          <a:lstStyle/>
          <a:p>
            <a:pPr algn="l"/>
            <a:r>
              <a:rPr sz="1100" b="1" i="0">
                <a:solidFill>
                  <a:srgbClr val="B08D57"/>
                </a:solidFill>
                <a:latin typeface="Calibri"/>
              </a:rPr>
              <a:t>INVESTMENT OVERVIEW</a:t>
            </a:r>
          </a:p>
        </p:txBody>
      </p:sp>
      <p:sp>
        <p:nvSpPr>
          <p:cNvPr id="4" name="TextBox 3"/>
          <p:cNvSpPr txBox="1"/>
          <p:nvPr/>
        </p:nvSpPr>
        <p:spPr>
          <a:xfrm>
            <a:off x="457200" y="502920"/>
            <a:ext cx="10515600" cy="548640"/>
          </a:xfrm>
          <a:prstGeom prst="rect">
            <a:avLst/>
          </a:prstGeom>
          <a:noFill/>
        </p:spPr>
        <p:txBody>
          <a:bodyPr wrap="square" lIns="0" rIns="0" tIns="0" bIns="0">
            <a:spAutoFit/>
          </a:bodyPr>
          <a:lstStyle/>
          <a:p>
            <a:pPr algn="l"/>
            <a:r>
              <a:rPr sz="2600" b="1" i="0">
                <a:solidFill>
                  <a:srgbClr val="1B2A4A"/>
                </a:solidFill>
                <a:latin typeface="Calibri"/>
              </a:rPr>
              <a:t>Executive Summary</a:t>
            </a:r>
          </a:p>
        </p:txBody>
      </p:sp>
      <p:sp>
        <p:nvSpPr>
          <p:cNvPr id="5" name="Rounded Rectangle 4"/>
          <p:cNvSpPr/>
          <p:nvPr/>
        </p:nvSpPr>
        <p:spPr>
          <a:xfrm>
            <a:off x="9052560" y="502920"/>
            <a:ext cx="2377440" cy="457200"/>
          </a:xfrm>
          <a:prstGeom prst="roundRect">
            <a:avLst>
              <a:gd name="adj" fmla="val 50000"/>
            </a:avLst>
          </a:prstGeom>
          <a:solidFill>
            <a:srgbClr val="B08D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400" b="1">
                <a:solidFill>
                  <a:srgbClr val="FFFFFF"/>
                </a:solidFill>
                <a:latin typeface="Calibri"/>
              </a:rPr>
              <a:t>OVERWEIGHT</a:t>
            </a:r>
          </a:p>
        </p:txBody>
      </p:sp>
      <p:sp>
        <p:nvSpPr>
          <p:cNvPr id="6" name="Rounded Rectangle 5"/>
          <p:cNvSpPr/>
          <p:nvPr/>
        </p:nvSpPr>
        <p:spPr>
          <a:xfrm>
            <a:off x="457200" y="1508760"/>
            <a:ext cx="2084831" cy="1051560"/>
          </a:xfrm>
          <a:prstGeom prst="roundRect">
            <a:avLst>
              <a:gd name="adj" fmla="val 6000"/>
            </a:avLst>
          </a:prstGeom>
          <a:solidFill>
            <a:srgbClr val="FFFFFF"/>
          </a:solidFill>
          <a:ln w="9525">
            <a:solidFill>
              <a:srgbClr val="E3E3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600200"/>
            <a:ext cx="1865375" cy="274320"/>
          </a:xfrm>
          <a:prstGeom prst="rect">
            <a:avLst/>
          </a:prstGeom>
          <a:noFill/>
        </p:spPr>
        <p:txBody>
          <a:bodyPr wrap="square" lIns="0" rIns="0" tIns="0" bIns="0">
            <a:spAutoFit/>
          </a:bodyPr>
          <a:lstStyle/>
          <a:p>
            <a:pPr algn="l"/>
            <a:r>
              <a:rPr sz="950" b="1" i="0">
                <a:solidFill>
                  <a:srgbClr val="6E6E6E"/>
                </a:solidFill>
                <a:latin typeface="Calibri"/>
              </a:rPr>
              <a:t>●  TARGET PRICE</a:t>
            </a:r>
          </a:p>
        </p:txBody>
      </p:sp>
      <p:sp>
        <p:nvSpPr>
          <p:cNvPr id="8" name="TextBox 7"/>
          <p:cNvSpPr txBox="1"/>
          <p:nvPr/>
        </p:nvSpPr>
        <p:spPr>
          <a:xfrm>
            <a:off x="502920" y="1856232"/>
            <a:ext cx="1993391" cy="411480"/>
          </a:xfrm>
          <a:prstGeom prst="rect">
            <a:avLst/>
          </a:prstGeom>
          <a:noFill/>
        </p:spPr>
        <p:txBody>
          <a:bodyPr wrap="square" lIns="0" rIns="0" tIns="0" bIns="0" anchor="ctr">
            <a:spAutoFit/>
          </a:bodyPr>
          <a:lstStyle/>
          <a:p>
            <a:pPr algn="ctr"/>
            <a:r>
              <a:rPr sz="2400" b="1" i="0">
                <a:solidFill>
                  <a:srgbClr val="1B2A4A"/>
                </a:solidFill>
                <a:latin typeface="Calibri"/>
              </a:rPr>
              <a:t>See DCF</a:t>
            </a:r>
          </a:p>
        </p:txBody>
      </p:sp>
      <p:sp>
        <p:nvSpPr>
          <p:cNvPr id="9" name="TextBox 8"/>
          <p:cNvSpPr txBox="1"/>
          <p:nvPr/>
        </p:nvSpPr>
        <p:spPr>
          <a:xfrm>
            <a:off x="502920" y="2267712"/>
            <a:ext cx="1993391" cy="256032"/>
          </a:xfrm>
          <a:prstGeom prst="rect">
            <a:avLst/>
          </a:prstGeom>
          <a:noFill/>
        </p:spPr>
        <p:txBody>
          <a:bodyPr wrap="square" lIns="0" rIns="0" tIns="0" bIns="0">
            <a:spAutoFit/>
          </a:bodyPr>
          <a:lstStyle/>
          <a:p>
            <a:pPr algn="ctr"/>
            <a:r>
              <a:rPr sz="950" b="0" i="0">
                <a:solidFill>
                  <a:srgbClr val="6E6E6E"/>
                </a:solidFill>
                <a:latin typeface="Calibri"/>
              </a:rPr>
              <a:t>Implied, base case</a:t>
            </a:r>
          </a:p>
        </p:txBody>
      </p:sp>
      <p:sp>
        <p:nvSpPr>
          <p:cNvPr id="10" name="Rounded Rectangle 9"/>
          <p:cNvSpPr/>
          <p:nvPr/>
        </p:nvSpPr>
        <p:spPr>
          <a:xfrm>
            <a:off x="2670047" y="1508760"/>
            <a:ext cx="2084831" cy="1051560"/>
          </a:xfrm>
          <a:prstGeom prst="roundRect">
            <a:avLst>
              <a:gd name="adj" fmla="val 6000"/>
            </a:avLst>
          </a:prstGeom>
          <a:solidFill>
            <a:srgbClr val="FFFFFF"/>
          </a:solidFill>
          <a:ln w="9525">
            <a:solidFill>
              <a:srgbClr val="E3E3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79775" y="1600200"/>
            <a:ext cx="1865375" cy="274320"/>
          </a:xfrm>
          <a:prstGeom prst="rect">
            <a:avLst/>
          </a:prstGeom>
          <a:noFill/>
        </p:spPr>
        <p:txBody>
          <a:bodyPr wrap="square" lIns="0" rIns="0" tIns="0" bIns="0">
            <a:spAutoFit/>
          </a:bodyPr>
          <a:lstStyle/>
          <a:p>
            <a:pPr algn="l"/>
            <a:r>
              <a:rPr sz="950" b="1" i="0">
                <a:solidFill>
                  <a:srgbClr val="6E6E6E"/>
                </a:solidFill>
                <a:latin typeface="Calibri"/>
              </a:rPr>
              <a:t>●  EBITDA MARGIN FY25</a:t>
            </a:r>
          </a:p>
        </p:txBody>
      </p:sp>
      <p:sp>
        <p:nvSpPr>
          <p:cNvPr id="12" name="TextBox 11"/>
          <p:cNvSpPr txBox="1"/>
          <p:nvPr/>
        </p:nvSpPr>
        <p:spPr>
          <a:xfrm>
            <a:off x="2715767" y="1856232"/>
            <a:ext cx="1993391" cy="411480"/>
          </a:xfrm>
          <a:prstGeom prst="rect">
            <a:avLst/>
          </a:prstGeom>
          <a:noFill/>
        </p:spPr>
        <p:txBody>
          <a:bodyPr wrap="square" lIns="0" rIns="0" tIns="0" bIns="0" anchor="ctr">
            <a:spAutoFit/>
          </a:bodyPr>
          <a:lstStyle/>
          <a:p>
            <a:pPr algn="ctr"/>
            <a:r>
              <a:rPr sz="2400" b="1" i="0">
                <a:solidFill>
                  <a:srgbClr val="2E7D32"/>
                </a:solidFill>
                <a:latin typeface="Calibri"/>
              </a:rPr>
              <a:t>45.7%</a:t>
            </a:r>
          </a:p>
        </p:txBody>
      </p:sp>
      <p:sp>
        <p:nvSpPr>
          <p:cNvPr id="13" name="TextBox 12"/>
          <p:cNvSpPr txBox="1"/>
          <p:nvPr/>
        </p:nvSpPr>
        <p:spPr>
          <a:xfrm>
            <a:off x="2715767" y="2267712"/>
            <a:ext cx="1993391" cy="256032"/>
          </a:xfrm>
          <a:prstGeom prst="rect">
            <a:avLst/>
          </a:prstGeom>
          <a:noFill/>
        </p:spPr>
        <p:txBody>
          <a:bodyPr wrap="square" lIns="0" rIns="0" tIns="0" bIns="0">
            <a:spAutoFit/>
          </a:bodyPr>
          <a:lstStyle/>
          <a:p>
            <a:pPr algn="ctr"/>
            <a:r>
              <a:rPr sz="950" b="0" i="0">
                <a:solidFill>
                  <a:srgbClr val="6E6E6E"/>
                </a:solidFill>
                <a:latin typeface="Calibri"/>
              </a:rPr>
              <a:t>+350bps YoY</a:t>
            </a:r>
          </a:p>
        </p:txBody>
      </p:sp>
      <p:sp>
        <p:nvSpPr>
          <p:cNvPr id="14" name="Rounded Rectangle 13"/>
          <p:cNvSpPr/>
          <p:nvPr/>
        </p:nvSpPr>
        <p:spPr>
          <a:xfrm>
            <a:off x="4882894" y="1508760"/>
            <a:ext cx="2084831" cy="1051560"/>
          </a:xfrm>
          <a:prstGeom prst="roundRect">
            <a:avLst>
              <a:gd name="adj" fmla="val 6000"/>
            </a:avLst>
          </a:prstGeom>
          <a:solidFill>
            <a:srgbClr val="FFFFFF"/>
          </a:solidFill>
          <a:ln w="9525">
            <a:solidFill>
              <a:srgbClr val="E3E3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992622" y="1600200"/>
            <a:ext cx="1865375" cy="274320"/>
          </a:xfrm>
          <a:prstGeom prst="rect">
            <a:avLst/>
          </a:prstGeom>
          <a:noFill/>
        </p:spPr>
        <p:txBody>
          <a:bodyPr wrap="square" lIns="0" rIns="0" tIns="0" bIns="0">
            <a:spAutoFit/>
          </a:bodyPr>
          <a:lstStyle/>
          <a:p>
            <a:pPr algn="l"/>
            <a:r>
              <a:rPr sz="950" b="1" i="0">
                <a:solidFill>
                  <a:srgbClr val="6E6E6E"/>
                </a:solidFill>
                <a:latin typeface="Calibri"/>
              </a:rPr>
              <a:t>●  DIGITAL REV. MIX (4Q25)</a:t>
            </a:r>
          </a:p>
        </p:txBody>
      </p:sp>
      <p:sp>
        <p:nvSpPr>
          <p:cNvPr id="16" name="TextBox 15"/>
          <p:cNvSpPr txBox="1"/>
          <p:nvPr/>
        </p:nvSpPr>
        <p:spPr>
          <a:xfrm>
            <a:off x="4928614" y="1856232"/>
            <a:ext cx="1993391" cy="411480"/>
          </a:xfrm>
          <a:prstGeom prst="rect">
            <a:avLst/>
          </a:prstGeom>
          <a:noFill/>
        </p:spPr>
        <p:txBody>
          <a:bodyPr wrap="square" lIns="0" rIns="0" tIns="0" bIns="0" anchor="ctr">
            <a:spAutoFit/>
          </a:bodyPr>
          <a:lstStyle/>
          <a:p>
            <a:pPr algn="ctr"/>
            <a:r>
              <a:rPr sz="2400" b="1" i="0">
                <a:solidFill>
                  <a:srgbClr val="B08D57"/>
                </a:solidFill>
                <a:latin typeface="Calibri"/>
              </a:rPr>
              <a:t>20.1%</a:t>
            </a:r>
          </a:p>
        </p:txBody>
      </p:sp>
      <p:sp>
        <p:nvSpPr>
          <p:cNvPr id="17" name="TextBox 16"/>
          <p:cNvSpPr txBox="1"/>
          <p:nvPr/>
        </p:nvSpPr>
        <p:spPr>
          <a:xfrm>
            <a:off x="4928614" y="2267712"/>
            <a:ext cx="1993391" cy="256032"/>
          </a:xfrm>
          <a:prstGeom prst="rect">
            <a:avLst/>
          </a:prstGeom>
          <a:noFill/>
        </p:spPr>
        <p:txBody>
          <a:bodyPr wrap="square" lIns="0" rIns="0" tIns="0" bIns="0">
            <a:spAutoFit/>
          </a:bodyPr>
          <a:lstStyle/>
          <a:p>
            <a:pPr algn="ctr"/>
            <a:r>
              <a:rPr sz="950" b="0" i="0">
                <a:solidFill>
                  <a:srgbClr val="6E6E6E"/>
                </a:solidFill>
                <a:latin typeface="Calibri"/>
              </a:rPr>
              <a:t>+84.1% YoY</a:t>
            </a:r>
          </a:p>
        </p:txBody>
      </p:sp>
      <p:sp>
        <p:nvSpPr>
          <p:cNvPr id="18" name="Rounded Rectangle 17"/>
          <p:cNvSpPr/>
          <p:nvPr/>
        </p:nvSpPr>
        <p:spPr>
          <a:xfrm>
            <a:off x="7095741" y="1508760"/>
            <a:ext cx="2084831" cy="1051560"/>
          </a:xfrm>
          <a:prstGeom prst="roundRect">
            <a:avLst>
              <a:gd name="adj" fmla="val 6000"/>
            </a:avLst>
          </a:prstGeom>
          <a:solidFill>
            <a:srgbClr val="FFFFFF"/>
          </a:solidFill>
          <a:ln w="9525">
            <a:solidFill>
              <a:srgbClr val="E3E3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205469" y="1600200"/>
            <a:ext cx="1865375" cy="274320"/>
          </a:xfrm>
          <a:prstGeom prst="rect">
            <a:avLst/>
          </a:prstGeom>
          <a:noFill/>
        </p:spPr>
        <p:txBody>
          <a:bodyPr wrap="square" lIns="0" rIns="0" tIns="0" bIns="0">
            <a:spAutoFit/>
          </a:bodyPr>
          <a:lstStyle/>
          <a:p>
            <a:pPr algn="l"/>
            <a:r>
              <a:rPr sz="950" b="1" i="0">
                <a:solidFill>
                  <a:srgbClr val="6E6E6E"/>
                </a:solidFill>
                <a:latin typeface="Calibri"/>
              </a:rPr>
              <a:t>●  NET DEBT FY25</a:t>
            </a:r>
          </a:p>
        </p:txBody>
      </p:sp>
      <p:sp>
        <p:nvSpPr>
          <p:cNvPr id="20" name="TextBox 19"/>
          <p:cNvSpPr txBox="1"/>
          <p:nvPr/>
        </p:nvSpPr>
        <p:spPr>
          <a:xfrm>
            <a:off x="7141461" y="1856232"/>
            <a:ext cx="1993391" cy="411480"/>
          </a:xfrm>
          <a:prstGeom prst="rect">
            <a:avLst/>
          </a:prstGeom>
          <a:noFill/>
        </p:spPr>
        <p:txBody>
          <a:bodyPr wrap="square" lIns="0" rIns="0" tIns="0" bIns="0" anchor="ctr">
            <a:spAutoFit/>
          </a:bodyPr>
          <a:lstStyle/>
          <a:p>
            <a:pPr algn="ctr"/>
            <a:r>
              <a:rPr sz="2400" b="1" i="0">
                <a:solidFill>
                  <a:srgbClr val="1B2A4A"/>
                </a:solidFill>
                <a:latin typeface="Calibri"/>
              </a:rPr>
              <a:t>$3,413M</a:t>
            </a:r>
          </a:p>
        </p:txBody>
      </p:sp>
      <p:sp>
        <p:nvSpPr>
          <p:cNvPr id="21" name="TextBox 20"/>
          <p:cNvSpPr txBox="1"/>
          <p:nvPr/>
        </p:nvSpPr>
        <p:spPr>
          <a:xfrm>
            <a:off x="7141461" y="2267712"/>
            <a:ext cx="1993391" cy="256032"/>
          </a:xfrm>
          <a:prstGeom prst="rect">
            <a:avLst/>
          </a:prstGeom>
          <a:noFill/>
        </p:spPr>
        <p:txBody>
          <a:bodyPr wrap="square" lIns="0" rIns="0" tIns="0" bIns="0">
            <a:spAutoFit/>
          </a:bodyPr>
          <a:lstStyle/>
          <a:p>
            <a:pPr algn="ctr"/>
            <a:r>
              <a:rPr sz="950" b="0" i="0">
                <a:solidFill>
                  <a:srgbClr val="6E6E6E"/>
                </a:solidFill>
                <a:latin typeface="Calibri"/>
              </a:rPr>
              <a:t>vs. $8,394M FY21</a:t>
            </a:r>
          </a:p>
        </p:txBody>
      </p:sp>
      <p:sp>
        <p:nvSpPr>
          <p:cNvPr id="22" name="Rounded Rectangle 21"/>
          <p:cNvSpPr/>
          <p:nvPr/>
        </p:nvSpPr>
        <p:spPr>
          <a:xfrm>
            <a:off x="9308588" y="1508760"/>
            <a:ext cx="2084831" cy="1051560"/>
          </a:xfrm>
          <a:prstGeom prst="roundRect">
            <a:avLst>
              <a:gd name="adj" fmla="val 6000"/>
            </a:avLst>
          </a:prstGeom>
          <a:solidFill>
            <a:srgbClr val="FFFFFF"/>
          </a:solidFill>
          <a:ln w="9525">
            <a:solidFill>
              <a:srgbClr val="E3E3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418316" y="1600200"/>
            <a:ext cx="1865375" cy="274320"/>
          </a:xfrm>
          <a:prstGeom prst="rect">
            <a:avLst/>
          </a:prstGeom>
          <a:noFill/>
        </p:spPr>
        <p:txBody>
          <a:bodyPr wrap="square" lIns="0" rIns="0" tIns="0" bIns="0">
            <a:spAutoFit/>
          </a:bodyPr>
          <a:lstStyle/>
          <a:p>
            <a:pPr algn="l"/>
            <a:r>
              <a:rPr sz="950" b="1" i="0">
                <a:solidFill>
                  <a:srgbClr val="6E6E6E"/>
                </a:solidFill>
                <a:latin typeface="Calibri"/>
              </a:rPr>
              <a:t>●  FCF FY25</a:t>
            </a:r>
          </a:p>
        </p:txBody>
      </p:sp>
      <p:sp>
        <p:nvSpPr>
          <p:cNvPr id="24" name="TextBox 23"/>
          <p:cNvSpPr txBox="1"/>
          <p:nvPr/>
        </p:nvSpPr>
        <p:spPr>
          <a:xfrm>
            <a:off x="9354308" y="1856232"/>
            <a:ext cx="1993391" cy="411480"/>
          </a:xfrm>
          <a:prstGeom prst="rect">
            <a:avLst/>
          </a:prstGeom>
          <a:noFill/>
        </p:spPr>
        <p:txBody>
          <a:bodyPr wrap="square" lIns="0" rIns="0" tIns="0" bIns="0" anchor="ctr">
            <a:spAutoFit/>
          </a:bodyPr>
          <a:lstStyle/>
          <a:p>
            <a:pPr algn="ctr"/>
            <a:r>
              <a:rPr sz="2400" b="1" i="0">
                <a:solidFill>
                  <a:srgbClr val="1B2A4A"/>
                </a:solidFill>
                <a:latin typeface="Calibri"/>
              </a:rPr>
              <a:t>$620M</a:t>
            </a:r>
          </a:p>
        </p:txBody>
      </p:sp>
      <p:sp>
        <p:nvSpPr>
          <p:cNvPr id="25" name="TextBox 24"/>
          <p:cNvSpPr txBox="1"/>
          <p:nvPr/>
        </p:nvSpPr>
        <p:spPr>
          <a:xfrm>
            <a:off x="9354308" y="2267712"/>
            <a:ext cx="1993391" cy="256032"/>
          </a:xfrm>
          <a:prstGeom prst="rect">
            <a:avLst/>
          </a:prstGeom>
          <a:noFill/>
        </p:spPr>
        <p:txBody>
          <a:bodyPr wrap="square" lIns="0" rIns="0" tIns="0" bIns="0">
            <a:spAutoFit/>
          </a:bodyPr>
          <a:lstStyle/>
          <a:p>
            <a:pPr algn="ctr"/>
            <a:r>
              <a:rPr sz="950" b="0" i="0">
                <a:solidFill>
                  <a:srgbClr val="6E6E6E"/>
                </a:solidFill>
                <a:latin typeface="Calibri"/>
              </a:rPr>
              <a:t>13.1% margin</a:t>
            </a:r>
          </a:p>
        </p:txBody>
      </p:sp>
      <p:sp>
        <p:nvSpPr>
          <p:cNvPr id="26" name="Rounded Rectangle 25"/>
          <p:cNvSpPr/>
          <p:nvPr/>
        </p:nvSpPr>
        <p:spPr>
          <a:xfrm>
            <a:off x="457200" y="2788920"/>
            <a:ext cx="3611880" cy="3383280"/>
          </a:xfrm>
          <a:prstGeom prst="roundRect">
            <a:avLst>
              <a:gd name="adj" fmla="val 3000"/>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1792" y="2926080"/>
            <a:ext cx="3291840" cy="320040"/>
          </a:xfrm>
          <a:prstGeom prst="rect">
            <a:avLst/>
          </a:prstGeom>
          <a:noFill/>
        </p:spPr>
        <p:txBody>
          <a:bodyPr wrap="square" lIns="0" rIns="0" tIns="0" bIns="0">
            <a:spAutoFit/>
          </a:bodyPr>
          <a:lstStyle/>
          <a:p>
            <a:pPr algn="l"/>
            <a:r>
              <a:rPr sz="1200" b="1" i="0">
                <a:solidFill>
                  <a:srgbClr val="1B2A4A"/>
                </a:solidFill>
                <a:latin typeface="Calibri"/>
              </a:rPr>
              <a:t>INVESTMENT THESIS</a:t>
            </a:r>
          </a:p>
        </p:txBody>
      </p:sp>
      <p:sp>
        <p:nvSpPr>
          <p:cNvPr id="28" name="TextBox 27"/>
          <p:cNvSpPr txBox="1"/>
          <p:nvPr/>
        </p:nvSpPr>
        <p:spPr>
          <a:xfrm>
            <a:off x="621792" y="3337560"/>
            <a:ext cx="3291840" cy="2697480"/>
          </a:xfrm>
          <a:prstGeom prst="rect">
            <a:avLst/>
          </a:prstGeom>
          <a:noFill/>
        </p:spPr>
        <p:txBody>
          <a:bodyPr wrap="square" lIns="0" rIns="0" tIns="0" bIns="0">
            <a:spAutoFit/>
          </a:bodyPr>
          <a:lstStyle/>
          <a:p>
            <a:pPr algn="l">
              <a:spcAft>
                <a:spcPts val="800"/>
              </a:spcAft>
            </a:pPr>
            <a:r>
              <a:rPr sz="1150">
                <a:solidFill>
                  <a:srgbClr val="222222"/>
                </a:solidFill>
                <a:latin typeface="Calibri"/>
              </a:rPr>
              <a:t>•  Digital-mix inflection not yet fully priced by the market</a:t>
            </a:r>
          </a:p>
          <a:p>
            <a:pPr algn="l">
              <a:spcAft>
                <a:spcPts val="800"/>
              </a:spcAft>
            </a:pPr>
            <a:r>
              <a:rPr sz="1150">
                <a:solidFill>
                  <a:srgbClr val="222222"/>
                </a:solidFill>
                <a:latin typeface="Calibri"/>
              </a:rPr>
              <a:t>•  Kyivstar Nasdaq listing enables direct SOTP price discovery</a:t>
            </a:r>
          </a:p>
          <a:p>
            <a:pPr algn="l">
              <a:spcAft>
                <a:spcPts val="800"/>
              </a:spcAft>
            </a:pPr>
            <a:r>
              <a:rPr sz="1150">
                <a:solidFill>
                  <a:srgbClr val="222222"/>
                </a:solidFill>
                <a:latin typeface="Calibri"/>
              </a:rPr>
              <a:t>•  Balance sheet materially de-levered vs. FY2021 peak</a:t>
            </a:r>
          </a:p>
          <a:p>
            <a:pPr algn="l">
              <a:spcAft>
                <a:spcPts val="800"/>
              </a:spcAft>
            </a:pPr>
            <a:r>
              <a:rPr sz="1150">
                <a:solidFill>
                  <a:srgbClr val="222222"/>
                </a:solidFill>
                <a:latin typeface="Calibri"/>
              </a:rPr>
              <a:t>•  Capital return program signals discipline ($100M/yr minimum)</a:t>
            </a:r>
          </a:p>
        </p:txBody>
      </p:sp>
      <p:sp>
        <p:nvSpPr>
          <p:cNvPr id="29" name="Rounded Rectangle 28"/>
          <p:cNvSpPr/>
          <p:nvPr/>
        </p:nvSpPr>
        <p:spPr>
          <a:xfrm>
            <a:off x="4251960" y="2788920"/>
            <a:ext cx="3611880" cy="3383280"/>
          </a:xfrm>
          <a:prstGeom prst="roundRect">
            <a:avLst>
              <a:gd name="adj" fmla="val 3000"/>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416552" y="2926080"/>
            <a:ext cx="3291840" cy="320040"/>
          </a:xfrm>
          <a:prstGeom prst="rect">
            <a:avLst/>
          </a:prstGeom>
          <a:noFill/>
        </p:spPr>
        <p:txBody>
          <a:bodyPr wrap="square" lIns="0" rIns="0" tIns="0" bIns="0">
            <a:spAutoFit/>
          </a:bodyPr>
          <a:lstStyle/>
          <a:p>
            <a:pPr algn="l"/>
            <a:r>
              <a:rPr sz="1200" b="1" i="0">
                <a:solidFill>
                  <a:srgbClr val="A94442"/>
                </a:solidFill>
                <a:latin typeface="Calibri"/>
              </a:rPr>
              <a:t>KEY RISKS</a:t>
            </a:r>
          </a:p>
        </p:txBody>
      </p:sp>
      <p:sp>
        <p:nvSpPr>
          <p:cNvPr id="31" name="TextBox 30"/>
          <p:cNvSpPr txBox="1"/>
          <p:nvPr/>
        </p:nvSpPr>
        <p:spPr>
          <a:xfrm>
            <a:off x="4416552" y="3337560"/>
            <a:ext cx="3291840" cy="2697480"/>
          </a:xfrm>
          <a:prstGeom prst="rect">
            <a:avLst/>
          </a:prstGeom>
          <a:noFill/>
        </p:spPr>
        <p:txBody>
          <a:bodyPr wrap="square" lIns="0" rIns="0" tIns="0" bIns="0">
            <a:spAutoFit/>
          </a:bodyPr>
          <a:lstStyle/>
          <a:p>
            <a:pPr algn="l">
              <a:spcAft>
                <a:spcPts val="800"/>
              </a:spcAft>
            </a:pPr>
            <a:r>
              <a:rPr sz="1150">
                <a:solidFill>
                  <a:srgbClr val="222222"/>
                </a:solidFill>
                <a:latin typeface="Calibri"/>
              </a:rPr>
              <a:t>•  Ukraine nationalization risk — structural, not a tail scenario</a:t>
            </a:r>
          </a:p>
          <a:p>
            <a:pPr algn="l">
              <a:spcAft>
                <a:spcPts val="800"/>
              </a:spcAft>
            </a:pPr>
            <a:r>
              <a:rPr sz="1150">
                <a:solidFill>
                  <a:srgbClr val="222222"/>
                </a:solidFill>
                <a:latin typeface="Calibri"/>
              </a:rPr>
              <a:t>•  FCF conversion below FY2021-22 levels (13-14% vs. ~50% margin)</a:t>
            </a:r>
          </a:p>
          <a:p>
            <a:pPr algn="l">
              <a:spcAft>
                <a:spcPts val="800"/>
              </a:spcAft>
            </a:pPr>
            <a:r>
              <a:rPr sz="1150">
                <a:solidFill>
                  <a:srgbClr val="222222"/>
                </a:solidFill>
                <a:latin typeface="Calibri"/>
              </a:rPr>
              <a:t>•  LetterOne 45.5% ownership concentration</a:t>
            </a:r>
          </a:p>
          <a:p>
            <a:pPr algn="l">
              <a:spcAft>
                <a:spcPts val="800"/>
              </a:spcAft>
            </a:pPr>
            <a:r>
              <a:rPr sz="1150">
                <a:solidFill>
                  <a:srgbClr val="222222"/>
                </a:solidFill>
                <a:latin typeface="Calibri"/>
              </a:rPr>
              <a:t>•  Bangladesh/Pakistan political and network-disruption risk</a:t>
            </a:r>
          </a:p>
        </p:txBody>
      </p:sp>
      <p:sp>
        <p:nvSpPr>
          <p:cNvPr id="32" name="Rounded Rectangle 31"/>
          <p:cNvSpPr/>
          <p:nvPr/>
        </p:nvSpPr>
        <p:spPr>
          <a:xfrm>
            <a:off x="8046720" y="2788920"/>
            <a:ext cx="3611880" cy="3383280"/>
          </a:xfrm>
          <a:prstGeom prst="roundRect">
            <a:avLst>
              <a:gd name="adj" fmla="val 3000"/>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211312" y="2926080"/>
            <a:ext cx="3291840" cy="320040"/>
          </a:xfrm>
          <a:prstGeom prst="rect">
            <a:avLst/>
          </a:prstGeom>
          <a:noFill/>
        </p:spPr>
        <p:txBody>
          <a:bodyPr wrap="square" lIns="0" rIns="0" tIns="0" bIns="0">
            <a:spAutoFit/>
          </a:bodyPr>
          <a:lstStyle/>
          <a:p>
            <a:pPr algn="l"/>
            <a:r>
              <a:rPr sz="1200" b="1" i="0">
                <a:solidFill>
                  <a:srgbClr val="B08D57"/>
                </a:solidFill>
                <a:latin typeface="Calibri"/>
              </a:rPr>
              <a:t>KEY CATALYSTS</a:t>
            </a:r>
          </a:p>
        </p:txBody>
      </p:sp>
      <p:sp>
        <p:nvSpPr>
          <p:cNvPr id="34" name="TextBox 33"/>
          <p:cNvSpPr txBox="1"/>
          <p:nvPr/>
        </p:nvSpPr>
        <p:spPr>
          <a:xfrm>
            <a:off x="8211312" y="3337560"/>
            <a:ext cx="3291840" cy="2697480"/>
          </a:xfrm>
          <a:prstGeom prst="rect">
            <a:avLst/>
          </a:prstGeom>
          <a:noFill/>
        </p:spPr>
        <p:txBody>
          <a:bodyPr wrap="square" lIns="0" rIns="0" tIns="0" bIns="0">
            <a:spAutoFit/>
          </a:bodyPr>
          <a:lstStyle/>
          <a:p>
            <a:pPr algn="l">
              <a:spcAft>
                <a:spcPts val="800"/>
              </a:spcAft>
            </a:pPr>
            <a:r>
              <a:rPr sz="1150">
                <a:solidFill>
                  <a:srgbClr val="222222"/>
                </a:solidFill>
                <a:latin typeface="Calibri"/>
              </a:rPr>
              <a:t>•  Continued digital-mix expansion beyond 20% quarterly run-rate</a:t>
            </a:r>
          </a:p>
          <a:p>
            <a:pPr algn="l">
              <a:spcAft>
                <a:spcPts val="800"/>
              </a:spcAft>
            </a:pPr>
            <a:r>
              <a:rPr sz="1150">
                <a:solidFill>
                  <a:srgbClr val="222222"/>
                </a:solidFill>
                <a:latin typeface="Calibri"/>
              </a:rPr>
              <a:t>•  Kyivstar equity value discovery vs. consolidated VEON EV</a:t>
            </a:r>
          </a:p>
          <a:p>
            <a:pPr algn="l">
              <a:spcAft>
                <a:spcPts val="800"/>
              </a:spcAft>
            </a:pPr>
            <a:r>
              <a:rPr sz="1150">
                <a:solidFill>
                  <a:srgbClr val="222222"/>
                </a:solidFill>
                <a:latin typeface="Calibri"/>
              </a:rPr>
              <a:t>•  Execution against annual shareholder-return commitment</a:t>
            </a:r>
          </a:p>
          <a:p>
            <a:pPr algn="l">
              <a:spcAft>
                <a:spcPts val="800"/>
              </a:spcAft>
            </a:pPr>
            <a:r>
              <a:rPr sz="1150">
                <a:solidFill>
                  <a:srgbClr val="222222"/>
                </a:solidFill>
                <a:latin typeface="Calibri"/>
              </a:rPr>
              <a:t>•  Resolution of Banglalink digital banking license application</a:t>
            </a:r>
          </a:p>
        </p:txBody>
      </p:sp>
      <p:sp>
        <p:nvSpPr>
          <p:cNvPr id="35" name="TextBox 34"/>
          <p:cNvSpPr txBox="1"/>
          <p:nvPr/>
        </p:nvSpPr>
        <p:spPr>
          <a:xfrm>
            <a:off x="457200" y="6263640"/>
            <a:ext cx="10972800" cy="274320"/>
          </a:xfrm>
          <a:prstGeom prst="rect">
            <a:avLst/>
          </a:prstGeom>
          <a:noFill/>
        </p:spPr>
        <p:txBody>
          <a:bodyPr wrap="square" lIns="0" rIns="0" tIns="0" bIns="0">
            <a:spAutoFit/>
          </a:bodyPr>
          <a:lstStyle/>
          <a:p>
            <a:pPr algn="l"/>
            <a:r>
              <a:rPr sz="1050" b="0" i="1">
                <a:solidFill>
                  <a:srgbClr val="6E6E6E"/>
                </a:solidFill>
                <a:latin typeface="Calibri"/>
              </a:rPr>
              <a:t>Recommendation: Overweight (Selective) — constructive on digital re-rating and balance-sheet repair; position sizing should reflect unresolved Ukraine tail risk.</a:t>
            </a:r>
          </a:p>
        </p:txBody>
      </p:sp>
      <p:sp>
        <p:nvSpPr>
          <p:cNvPr id="36" name="TextBox 35"/>
          <p:cNvSpPr txBox="1"/>
          <p:nvPr/>
        </p:nvSpPr>
        <p:spPr>
          <a:xfrm>
            <a:off x="365760" y="6537960"/>
            <a:ext cx="7315200" cy="274320"/>
          </a:xfrm>
          <a:prstGeom prst="rect">
            <a:avLst/>
          </a:prstGeom>
          <a:noFill/>
        </p:spPr>
        <p:txBody>
          <a:bodyPr wrap="none" lIns="0" tIns="0" bIns="0">
            <a:spAutoFit/>
          </a:bodyPr>
          <a:lstStyle/>
          <a:p>
            <a:r>
              <a:rPr sz="800">
                <a:solidFill>
                  <a:srgbClr val="6E6E6E"/>
                </a:solidFill>
                <a:latin typeface="Calibri"/>
              </a:rPr>
              <a:t>VEON Ltd. (NASDAQ: VEON)  |  Institutional Equity Research  |  Strictly Confidential</a:t>
            </a:r>
          </a:p>
        </p:txBody>
      </p:sp>
      <p:sp>
        <p:nvSpPr>
          <p:cNvPr id="37" name="TextBox 36"/>
          <p:cNvSpPr txBox="1"/>
          <p:nvPr/>
        </p:nvSpPr>
        <p:spPr>
          <a:xfrm>
            <a:off x="11430000" y="6537960"/>
            <a:ext cx="548640" cy="274320"/>
          </a:xfrm>
          <a:prstGeom prst="rect">
            <a:avLst/>
          </a:prstGeom>
          <a:noFill/>
        </p:spPr>
        <p:txBody>
          <a:bodyPr wrap="none" lIns="0" tIns="0">
            <a:spAutoFit/>
          </a:bodyPr>
          <a:lstStyle/>
          <a:p>
            <a:pPr algn="r"/>
            <a:r>
              <a:rPr sz="900" b="1">
                <a:solidFill>
                  <a:srgbClr val="6E6E6E"/>
                </a:solidFill>
                <a:latin typeface="Calibri"/>
              </a:rPr>
              <a:t>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5486400" cy="274320"/>
          </a:xfrm>
          <a:prstGeom prst="rect">
            <a:avLst/>
          </a:prstGeom>
          <a:noFill/>
        </p:spPr>
        <p:txBody>
          <a:bodyPr wrap="square" lIns="0" rIns="0" tIns="0" bIns="0">
            <a:spAutoFit/>
          </a:bodyPr>
          <a:lstStyle/>
          <a:p>
            <a:pPr algn="l"/>
            <a:r>
              <a:rPr sz="1100" b="1" i="0">
                <a:solidFill>
                  <a:srgbClr val="B08D57"/>
                </a:solidFill>
                <a:latin typeface="Calibri"/>
              </a:rPr>
              <a:t>BUSINESS DESCRIPTION</a:t>
            </a:r>
          </a:p>
        </p:txBody>
      </p:sp>
      <p:sp>
        <p:nvSpPr>
          <p:cNvPr id="4" name="TextBox 3"/>
          <p:cNvSpPr txBox="1"/>
          <p:nvPr/>
        </p:nvSpPr>
        <p:spPr>
          <a:xfrm>
            <a:off x="457200" y="502920"/>
            <a:ext cx="10515600" cy="548640"/>
          </a:xfrm>
          <a:prstGeom prst="rect">
            <a:avLst/>
          </a:prstGeom>
          <a:noFill/>
        </p:spPr>
        <p:txBody>
          <a:bodyPr wrap="square" lIns="0" rIns="0" tIns="0" bIns="0">
            <a:spAutoFit/>
          </a:bodyPr>
          <a:lstStyle/>
          <a:p>
            <a:pPr algn="l"/>
            <a:r>
              <a:rPr sz="2600" b="1" i="0">
                <a:solidFill>
                  <a:srgbClr val="1B2A4A"/>
                </a:solidFill>
                <a:latin typeface="Calibri"/>
              </a:rPr>
              <a:t>Company Overview</a:t>
            </a:r>
          </a:p>
        </p:txBody>
      </p:sp>
      <p:sp>
        <p:nvSpPr>
          <p:cNvPr id="5" name="TextBox 4"/>
          <p:cNvSpPr txBox="1"/>
          <p:nvPr/>
        </p:nvSpPr>
        <p:spPr>
          <a:xfrm>
            <a:off x="457200" y="1417320"/>
            <a:ext cx="5120640" cy="274320"/>
          </a:xfrm>
          <a:prstGeom prst="rect">
            <a:avLst/>
          </a:prstGeom>
          <a:noFill/>
        </p:spPr>
        <p:txBody>
          <a:bodyPr wrap="square" lIns="0" rIns="0" tIns="0" bIns="0">
            <a:spAutoFit/>
          </a:bodyPr>
          <a:lstStyle/>
          <a:p>
            <a:pPr algn="l"/>
            <a:r>
              <a:rPr sz="1200" b="1" i="0">
                <a:solidFill>
                  <a:srgbClr val="1B2A4A"/>
                </a:solidFill>
                <a:latin typeface="Calibri"/>
              </a:rPr>
              <a:t>CORPORATE STRUCTURE</a:t>
            </a:r>
          </a:p>
        </p:txBody>
      </p:sp>
      <p:graphicFrame>
        <p:nvGraphicFramePr>
          <p:cNvPr id="6" name="Table 5"/>
          <p:cNvGraphicFramePr>
            <a:graphicFrameLocks noGrp="1"/>
          </p:cNvGraphicFramePr>
          <p:nvPr/>
        </p:nvGraphicFramePr>
        <p:xfrm>
          <a:off x="457200" y="1737360"/>
          <a:ext cx="5120640" cy="2103120"/>
        </p:xfrm>
        <a:graphic>
          <a:graphicData uri="http://schemas.openxmlformats.org/drawingml/2006/table">
            <a:tbl>
              <a:tblPr firstRow="1" bandRow="1">
                <a:tableStyleId>{5C22544A-7EE6-4342-B048-85BDC9FD1C3A}</a:tableStyleId>
              </a:tblPr>
              <a:tblGrid>
                <a:gridCol w="2304288"/>
                <a:gridCol w="2816352"/>
              </a:tblGrid>
              <a:tr h="300445">
                <a:tc>
                  <a:txBody>
                    <a:bodyPr/>
                    <a:lstStyle/>
                    <a:p>
                      <a:pPr algn="l"/>
                      <a:r>
                        <a:rPr sz="1050" b="1">
                          <a:solidFill>
                            <a:srgbClr val="FFFFFF"/>
                          </a:solidFill>
                          <a:latin typeface="Calibri"/>
                        </a:rPr>
                        <a:t>Attribute</a:t>
                      </a:r>
                    </a:p>
                  </a:txBody>
                  <a:tcPr anchor="ctr" marT="25400" marB="25400">
                    <a:solidFill>
                      <a:srgbClr val="1B2A4A"/>
                    </a:solidFill>
                  </a:tcPr>
                </a:tc>
                <a:tc>
                  <a:txBody>
                    <a:bodyPr/>
                    <a:lstStyle/>
                    <a:p>
                      <a:pPr algn="ctr"/>
                      <a:r>
                        <a:rPr sz="1050" b="1">
                          <a:solidFill>
                            <a:srgbClr val="FFFFFF"/>
                          </a:solidFill>
                          <a:latin typeface="Calibri"/>
                        </a:rPr>
                        <a:t>Detail</a:t>
                      </a:r>
                    </a:p>
                  </a:txBody>
                  <a:tcPr anchor="ctr" marT="25400" marB="25400">
                    <a:solidFill>
                      <a:srgbClr val="1B2A4A"/>
                    </a:solidFill>
                  </a:tcPr>
                </a:tc>
              </a:tr>
              <a:tr h="300445">
                <a:tc>
                  <a:txBody>
                    <a:bodyPr/>
                    <a:lstStyle/>
                    <a:p>
                      <a:pPr algn="l"/>
                      <a:r>
                        <a:rPr sz="1050" b="1">
                          <a:solidFill>
                            <a:srgbClr val="222222"/>
                          </a:solidFill>
                          <a:latin typeface="Calibri"/>
                        </a:rPr>
                        <a:t>Incorporation</a:t>
                      </a:r>
                    </a:p>
                  </a:txBody>
                  <a:tcPr anchor="ctr" marT="12700" marB="12700">
                    <a:solidFill>
                      <a:srgbClr val="FFFFFF"/>
                    </a:solidFill>
                  </a:tcPr>
                </a:tc>
                <a:tc>
                  <a:txBody>
                    <a:bodyPr/>
                    <a:lstStyle/>
                    <a:p>
                      <a:pPr algn="ctr"/>
                      <a:r>
                        <a:rPr sz="1050">
                          <a:solidFill>
                            <a:srgbClr val="222222"/>
                          </a:solidFill>
                          <a:latin typeface="Calibri"/>
                        </a:rPr>
                        <a:t>Bermuda</a:t>
                      </a:r>
                    </a:p>
                  </a:txBody>
                  <a:tcPr anchor="ctr" marT="12700" marB="12700">
                    <a:solidFill>
                      <a:srgbClr val="FFFFFF"/>
                    </a:solidFill>
                  </a:tcPr>
                </a:tc>
              </a:tr>
              <a:tr h="300445">
                <a:tc>
                  <a:txBody>
                    <a:bodyPr/>
                    <a:lstStyle/>
                    <a:p>
                      <a:pPr algn="l"/>
                      <a:r>
                        <a:rPr sz="1050" b="1">
                          <a:solidFill>
                            <a:srgbClr val="222222"/>
                          </a:solidFill>
                          <a:latin typeface="Calibri"/>
                        </a:rPr>
                        <a:t>Headquarters</a:t>
                      </a:r>
                    </a:p>
                  </a:txBody>
                  <a:tcPr anchor="ctr" marT="12700" marB="12700">
                    <a:solidFill>
                      <a:srgbClr val="F7F7F5"/>
                    </a:solidFill>
                  </a:tcPr>
                </a:tc>
                <a:tc>
                  <a:txBody>
                    <a:bodyPr/>
                    <a:lstStyle/>
                    <a:p>
                      <a:pPr algn="ctr"/>
                      <a:r>
                        <a:rPr sz="1050">
                          <a:solidFill>
                            <a:srgbClr val="222222"/>
                          </a:solidFill>
                          <a:latin typeface="Calibri"/>
                        </a:rPr>
                        <a:t>Dubai, UAE (DIFC)</a:t>
                      </a:r>
                    </a:p>
                  </a:txBody>
                  <a:tcPr anchor="ctr" marT="12700" marB="12700">
                    <a:solidFill>
                      <a:srgbClr val="F7F7F5"/>
                    </a:solidFill>
                  </a:tcPr>
                </a:tc>
              </a:tr>
              <a:tr h="300445">
                <a:tc>
                  <a:txBody>
                    <a:bodyPr/>
                    <a:lstStyle/>
                    <a:p>
                      <a:pPr algn="l"/>
                      <a:r>
                        <a:rPr sz="1050" b="1">
                          <a:solidFill>
                            <a:srgbClr val="222222"/>
                          </a:solidFill>
                          <a:latin typeface="Calibri"/>
                        </a:rPr>
                        <a:t>Primary Listing</a:t>
                      </a:r>
                    </a:p>
                  </a:txBody>
                  <a:tcPr anchor="ctr" marT="12700" marB="12700">
                    <a:solidFill>
                      <a:srgbClr val="FFFFFF"/>
                    </a:solidFill>
                  </a:tcPr>
                </a:tc>
                <a:tc>
                  <a:txBody>
                    <a:bodyPr/>
                    <a:lstStyle/>
                    <a:p>
                      <a:pPr algn="ctr"/>
                      <a:r>
                        <a:rPr sz="1050">
                          <a:solidFill>
                            <a:srgbClr val="222222"/>
                          </a:solidFill>
                          <a:latin typeface="Calibri"/>
                        </a:rPr>
                        <a:t>Nasdaq (VEON)</a:t>
                      </a:r>
                    </a:p>
                  </a:txBody>
                  <a:tcPr anchor="ctr" marT="12700" marB="12700">
                    <a:solidFill>
                      <a:srgbClr val="FFFFFF"/>
                    </a:solidFill>
                  </a:tcPr>
                </a:tc>
              </a:tr>
              <a:tr h="300445">
                <a:tc>
                  <a:txBody>
                    <a:bodyPr/>
                    <a:lstStyle/>
                    <a:p>
                      <a:pPr algn="l"/>
                      <a:r>
                        <a:rPr sz="1050" b="1">
                          <a:solidFill>
                            <a:srgbClr val="222222"/>
                          </a:solidFill>
                          <a:latin typeface="Calibri"/>
                        </a:rPr>
                        <a:t>Segments</a:t>
                      </a:r>
                    </a:p>
                  </a:txBody>
                  <a:tcPr anchor="ctr" marT="12700" marB="12700">
                    <a:solidFill>
                      <a:srgbClr val="F7F7F5"/>
                    </a:solidFill>
                  </a:tcPr>
                </a:tc>
                <a:tc>
                  <a:txBody>
                    <a:bodyPr/>
                    <a:lstStyle/>
                    <a:p>
                      <a:pPr algn="ctr"/>
                      <a:r>
                        <a:rPr sz="1050">
                          <a:solidFill>
                            <a:srgbClr val="222222"/>
                          </a:solidFill>
                          <a:latin typeface="Calibri"/>
                        </a:rPr>
                        <a:t>5 reportable + HQ</a:t>
                      </a:r>
                    </a:p>
                  </a:txBody>
                  <a:tcPr anchor="ctr" marT="12700" marB="12700">
                    <a:solidFill>
                      <a:srgbClr val="F7F7F5"/>
                    </a:solidFill>
                  </a:tcPr>
                </a:tc>
              </a:tr>
              <a:tr h="300445">
                <a:tc>
                  <a:txBody>
                    <a:bodyPr/>
                    <a:lstStyle/>
                    <a:p>
                      <a:pPr algn="l"/>
                      <a:r>
                        <a:rPr sz="1050" b="1">
                          <a:solidFill>
                            <a:srgbClr val="222222"/>
                          </a:solidFill>
                          <a:latin typeface="Calibri"/>
                        </a:rPr>
                        <a:t>Largest Shareholder</a:t>
                      </a:r>
                    </a:p>
                  </a:txBody>
                  <a:tcPr anchor="ctr" marT="12700" marB="12700">
                    <a:solidFill>
                      <a:srgbClr val="FFFFFF"/>
                    </a:solidFill>
                  </a:tcPr>
                </a:tc>
                <a:tc>
                  <a:txBody>
                    <a:bodyPr/>
                    <a:lstStyle/>
                    <a:p>
                      <a:pPr algn="ctr"/>
                      <a:r>
                        <a:rPr sz="1050">
                          <a:solidFill>
                            <a:srgbClr val="222222"/>
                          </a:solidFill>
                          <a:latin typeface="Calibri"/>
                        </a:rPr>
                        <a:t>LetterOne (~45.5%)</a:t>
                      </a:r>
                    </a:p>
                  </a:txBody>
                  <a:tcPr anchor="ctr" marT="12700" marB="12700">
                    <a:solidFill>
                      <a:srgbClr val="FFFFFF"/>
                    </a:solidFill>
                  </a:tcPr>
                </a:tc>
              </a:tr>
              <a:tr h="300450">
                <a:tc>
                  <a:txBody>
                    <a:bodyPr/>
                    <a:lstStyle/>
                    <a:p>
                      <a:pPr algn="l"/>
                      <a:r>
                        <a:rPr sz="1050" b="1">
                          <a:solidFill>
                            <a:srgbClr val="222222"/>
                          </a:solidFill>
                          <a:latin typeface="Calibri"/>
                        </a:rPr>
                        <a:t>Shares Outstanding</a:t>
                      </a:r>
                    </a:p>
                  </a:txBody>
                  <a:tcPr anchor="ctr" marT="12700" marB="12700">
                    <a:solidFill>
                      <a:srgbClr val="F7F7F5"/>
                    </a:solidFill>
                  </a:tcPr>
                </a:tc>
                <a:tc>
                  <a:txBody>
                    <a:bodyPr/>
                    <a:lstStyle/>
                    <a:p>
                      <a:pPr algn="ctr"/>
                      <a:r>
                        <a:rPr sz="1050">
                          <a:solidFill>
                            <a:srgbClr val="222222"/>
                          </a:solidFill>
                          <a:latin typeface="Calibri"/>
                        </a:rPr>
                        <a:t>~1.85 billion</a:t>
                      </a:r>
                    </a:p>
                  </a:txBody>
                  <a:tcPr anchor="ctr" marT="12700" marB="12700">
                    <a:solidFill>
                      <a:srgbClr val="F7F7F5"/>
                    </a:solidFill>
                  </a:tcPr>
                </a:tc>
              </a:tr>
            </a:tbl>
          </a:graphicData>
        </a:graphic>
      </p:graphicFrame>
      <p:sp>
        <p:nvSpPr>
          <p:cNvPr id="7" name="TextBox 6"/>
          <p:cNvSpPr txBox="1"/>
          <p:nvPr/>
        </p:nvSpPr>
        <p:spPr>
          <a:xfrm>
            <a:off x="5806440" y="1417320"/>
            <a:ext cx="5943600" cy="274320"/>
          </a:xfrm>
          <a:prstGeom prst="rect">
            <a:avLst/>
          </a:prstGeom>
          <a:noFill/>
        </p:spPr>
        <p:txBody>
          <a:bodyPr wrap="square" lIns="0" rIns="0" tIns="0" bIns="0">
            <a:spAutoFit/>
          </a:bodyPr>
          <a:lstStyle/>
          <a:p>
            <a:pPr algn="l"/>
            <a:r>
              <a:rPr sz="1200" b="1" i="0">
                <a:solidFill>
                  <a:srgbClr val="1B2A4A"/>
                </a:solidFill>
                <a:latin typeface="Calibri"/>
              </a:rPr>
              <a:t>BUSINESS MODEL</a:t>
            </a:r>
          </a:p>
        </p:txBody>
      </p:sp>
      <p:sp>
        <p:nvSpPr>
          <p:cNvPr id="8" name="TextBox 7"/>
          <p:cNvSpPr txBox="1"/>
          <p:nvPr/>
        </p:nvSpPr>
        <p:spPr>
          <a:xfrm>
            <a:off x="5806440" y="1737360"/>
            <a:ext cx="5943600" cy="2103120"/>
          </a:xfrm>
          <a:prstGeom prst="rect">
            <a:avLst/>
          </a:prstGeom>
          <a:noFill/>
        </p:spPr>
        <p:txBody>
          <a:bodyPr wrap="square" lIns="0" rIns="0" tIns="0" bIns="0">
            <a:spAutoFit/>
          </a:bodyPr>
          <a:lstStyle/>
          <a:p>
            <a:pPr algn="l">
              <a:spcAft>
                <a:spcPts val="700"/>
              </a:spcAft>
            </a:pPr>
            <a:r>
              <a:rPr sz="1150">
                <a:solidFill>
                  <a:srgbClr val="222222"/>
                </a:solidFill>
                <a:latin typeface="Calibri"/>
              </a:rPr>
              <a:t>•  "Digital operator" model: core mobile/fixed connectivity combined with</a:t>
            </a:r>
          </a:p>
          <a:p>
            <a:pPr algn="l">
              <a:spcAft>
                <a:spcPts val="700"/>
              </a:spcAft>
            </a:pPr>
            <a:r>
              <a:rPr sz="1150">
                <a:solidFill>
                  <a:srgbClr val="222222"/>
                </a:solidFill>
                <a:latin typeface="Calibri"/>
              </a:rPr>
              <a:t>•  digital services — financial services, entertainment, super-apps,</a:t>
            </a:r>
          </a:p>
          <a:p>
            <a:pPr algn="l">
              <a:spcAft>
                <a:spcPts val="700"/>
              </a:spcAft>
            </a:pPr>
            <a:r>
              <a:rPr sz="1150">
                <a:solidFill>
                  <a:srgbClr val="222222"/>
                </a:solidFill>
                <a:latin typeface="Calibri"/>
              </a:rPr>
              <a:t>•  ride-hailing/delivery, and healthcare</a:t>
            </a:r>
          </a:p>
          <a:p>
            <a:pPr algn="l">
              <a:spcAft>
                <a:spcPts val="700"/>
              </a:spcAft>
            </a:pPr>
            <a:r>
              <a:rPr sz="1150">
                <a:solidFill>
                  <a:srgbClr val="222222"/>
                </a:solidFill>
                <a:latin typeface="Calibri"/>
              </a:rPr>
              <a:t>•  Five operating brands: Jazz (Pakistan), Kyivstar (Ukraine), Beeline</a:t>
            </a:r>
          </a:p>
          <a:p>
            <a:pPr algn="l">
              <a:spcAft>
                <a:spcPts val="700"/>
              </a:spcAft>
            </a:pPr>
            <a:r>
              <a:rPr sz="1150">
                <a:solidFill>
                  <a:srgbClr val="222222"/>
                </a:solidFill>
                <a:latin typeface="Calibri"/>
              </a:rPr>
              <a:t>•  (Kazakhstan), Banglalink (Bangladesh), Beepul (Uzbekistan)</a:t>
            </a:r>
          </a:p>
          <a:p>
            <a:pPr algn="l">
              <a:spcAft>
                <a:spcPts val="700"/>
              </a:spcAft>
            </a:pPr>
            <a:r>
              <a:rPr sz="1150">
                <a:solidFill>
                  <a:srgbClr val="222222"/>
                </a:solidFill>
                <a:latin typeface="Calibri"/>
              </a:rPr>
              <a:t>•  Kyivstar separately Nasdaq-listed since August 2025</a:t>
            </a:r>
          </a:p>
        </p:txBody>
      </p:sp>
      <p:sp>
        <p:nvSpPr>
          <p:cNvPr id="9" name="TextBox 8"/>
          <p:cNvSpPr txBox="1"/>
          <p:nvPr/>
        </p:nvSpPr>
        <p:spPr>
          <a:xfrm>
            <a:off x="457200" y="4069080"/>
            <a:ext cx="5486400" cy="274320"/>
          </a:xfrm>
          <a:prstGeom prst="rect">
            <a:avLst/>
          </a:prstGeom>
          <a:noFill/>
        </p:spPr>
        <p:txBody>
          <a:bodyPr wrap="square" lIns="0" rIns="0" tIns="0" bIns="0">
            <a:spAutoFit/>
          </a:bodyPr>
          <a:lstStyle/>
          <a:p>
            <a:pPr algn="l"/>
            <a:r>
              <a:rPr sz="1200" b="1" i="0">
                <a:solidFill>
                  <a:srgbClr val="1B2A4A"/>
                </a:solidFill>
                <a:latin typeface="Calibri"/>
              </a:rPr>
              <a:t>CORPORATE TIMELINE</a:t>
            </a:r>
          </a:p>
        </p:txBody>
      </p:sp>
      <p:sp>
        <p:nvSpPr>
          <p:cNvPr id="10" name="Rectangle 9"/>
          <p:cNvSpPr/>
          <p:nvPr/>
        </p:nvSpPr>
        <p:spPr>
          <a:xfrm>
            <a:off x="548640" y="4873752"/>
            <a:ext cx="11064240" cy="27940"/>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415796" y="4818888"/>
            <a:ext cx="109728" cy="109728"/>
          </a:xfrm>
          <a:prstGeom prst="ellipse">
            <a:avLst/>
          </a:prstGeom>
          <a:solidFill>
            <a:srgbClr val="B08D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4389120"/>
            <a:ext cx="1844040" cy="274320"/>
          </a:xfrm>
          <a:prstGeom prst="rect">
            <a:avLst/>
          </a:prstGeom>
          <a:noFill/>
        </p:spPr>
        <p:txBody>
          <a:bodyPr wrap="square" lIns="0" rIns="0" tIns="0" bIns="0">
            <a:spAutoFit/>
          </a:bodyPr>
          <a:lstStyle/>
          <a:p>
            <a:pPr algn="ctr"/>
            <a:r>
              <a:rPr sz="1200" b="1" i="0">
                <a:solidFill>
                  <a:srgbClr val="1B2A4A"/>
                </a:solidFill>
                <a:latin typeface="Calibri"/>
              </a:rPr>
              <a:t>2020</a:t>
            </a:r>
          </a:p>
        </p:txBody>
      </p:sp>
      <p:sp>
        <p:nvSpPr>
          <p:cNvPr id="13" name="TextBox 12"/>
          <p:cNvSpPr txBox="1"/>
          <p:nvPr/>
        </p:nvSpPr>
        <p:spPr>
          <a:xfrm>
            <a:off x="594360" y="5029200"/>
            <a:ext cx="1752600" cy="822960"/>
          </a:xfrm>
          <a:prstGeom prst="rect">
            <a:avLst/>
          </a:prstGeom>
          <a:noFill/>
        </p:spPr>
        <p:txBody>
          <a:bodyPr wrap="square" lIns="0" rIns="0" tIns="0" bIns="0">
            <a:spAutoFit/>
          </a:bodyPr>
          <a:lstStyle/>
          <a:p>
            <a:pPr algn="ctr"/>
            <a:r>
              <a:rPr sz="900" b="0" i="0">
                <a:solidFill>
                  <a:srgbClr val="6E6E6E"/>
                </a:solidFill>
                <a:latin typeface="Calibri"/>
              </a:rPr>
              <a:t>Armenia exit</a:t>
            </a:r>
          </a:p>
        </p:txBody>
      </p:sp>
      <p:sp>
        <p:nvSpPr>
          <p:cNvPr id="14" name="Oval 13"/>
          <p:cNvSpPr/>
          <p:nvPr/>
        </p:nvSpPr>
        <p:spPr>
          <a:xfrm>
            <a:off x="3259836" y="4818888"/>
            <a:ext cx="109728" cy="109728"/>
          </a:xfrm>
          <a:prstGeom prst="ellipse">
            <a:avLst/>
          </a:prstGeom>
          <a:solidFill>
            <a:srgbClr val="B08D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92680" y="4389120"/>
            <a:ext cx="1844040" cy="274320"/>
          </a:xfrm>
          <a:prstGeom prst="rect">
            <a:avLst/>
          </a:prstGeom>
          <a:noFill/>
        </p:spPr>
        <p:txBody>
          <a:bodyPr wrap="square" lIns="0" rIns="0" tIns="0" bIns="0">
            <a:spAutoFit/>
          </a:bodyPr>
          <a:lstStyle/>
          <a:p>
            <a:pPr algn="ctr"/>
            <a:r>
              <a:rPr sz="1200" b="1" i="0">
                <a:solidFill>
                  <a:srgbClr val="1B2A4A"/>
                </a:solidFill>
                <a:latin typeface="Calibri"/>
              </a:rPr>
              <a:t>2022</a:t>
            </a:r>
          </a:p>
        </p:txBody>
      </p:sp>
      <p:sp>
        <p:nvSpPr>
          <p:cNvPr id="16" name="TextBox 15"/>
          <p:cNvSpPr txBox="1"/>
          <p:nvPr/>
        </p:nvSpPr>
        <p:spPr>
          <a:xfrm>
            <a:off x="2438400" y="5029200"/>
            <a:ext cx="1752600" cy="822960"/>
          </a:xfrm>
          <a:prstGeom prst="rect">
            <a:avLst/>
          </a:prstGeom>
          <a:noFill/>
        </p:spPr>
        <p:txBody>
          <a:bodyPr wrap="square" lIns="0" rIns="0" tIns="0" bIns="0">
            <a:spAutoFit/>
          </a:bodyPr>
          <a:lstStyle/>
          <a:p>
            <a:pPr algn="ctr"/>
            <a:r>
              <a:rPr sz="900" b="0" i="0">
                <a:solidFill>
                  <a:srgbClr val="6E6E6E"/>
                </a:solidFill>
                <a:latin typeface="Calibri"/>
              </a:rPr>
              <a:t>Djezzy (Algeria) &amp; Georgia divested</a:t>
            </a:r>
          </a:p>
        </p:txBody>
      </p:sp>
      <p:sp>
        <p:nvSpPr>
          <p:cNvPr id="17" name="Oval 16"/>
          <p:cNvSpPr/>
          <p:nvPr/>
        </p:nvSpPr>
        <p:spPr>
          <a:xfrm>
            <a:off x="5103876" y="4818888"/>
            <a:ext cx="109728" cy="109728"/>
          </a:xfrm>
          <a:prstGeom prst="ellipse">
            <a:avLst/>
          </a:prstGeom>
          <a:solidFill>
            <a:srgbClr val="B08D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236720" y="4389120"/>
            <a:ext cx="1844040" cy="274320"/>
          </a:xfrm>
          <a:prstGeom prst="rect">
            <a:avLst/>
          </a:prstGeom>
          <a:noFill/>
        </p:spPr>
        <p:txBody>
          <a:bodyPr wrap="square" lIns="0" rIns="0" tIns="0" bIns="0">
            <a:spAutoFit/>
          </a:bodyPr>
          <a:lstStyle/>
          <a:p>
            <a:pPr algn="ctr"/>
            <a:r>
              <a:rPr sz="1200" b="1" i="0">
                <a:solidFill>
                  <a:srgbClr val="1B2A4A"/>
                </a:solidFill>
                <a:latin typeface="Calibri"/>
              </a:rPr>
              <a:t>2023</a:t>
            </a:r>
          </a:p>
        </p:txBody>
      </p:sp>
      <p:sp>
        <p:nvSpPr>
          <p:cNvPr id="19" name="TextBox 18"/>
          <p:cNvSpPr txBox="1"/>
          <p:nvPr/>
        </p:nvSpPr>
        <p:spPr>
          <a:xfrm>
            <a:off x="4282440" y="5029200"/>
            <a:ext cx="1752600" cy="822960"/>
          </a:xfrm>
          <a:prstGeom prst="rect">
            <a:avLst/>
          </a:prstGeom>
          <a:noFill/>
        </p:spPr>
        <p:txBody>
          <a:bodyPr wrap="square" lIns="0" rIns="0" tIns="0" bIns="0">
            <a:spAutoFit/>
          </a:bodyPr>
          <a:lstStyle/>
          <a:p>
            <a:pPr algn="ctr"/>
            <a:r>
              <a:rPr sz="900" b="0" i="0">
                <a:solidFill>
                  <a:srgbClr val="6E6E6E"/>
                </a:solidFill>
                <a:latin typeface="Calibri"/>
              </a:rPr>
              <a:t>Russia divestiture completed (Oct)</a:t>
            </a:r>
          </a:p>
        </p:txBody>
      </p:sp>
      <p:sp>
        <p:nvSpPr>
          <p:cNvPr id="20" name="Oval 19"/>
          <p:cNvSpPr/>
          <p:nvPr/>
        </p:nvSpPr>
        <p:spPr>
          <a:xfrm>
            <a:off x="6947916" y="4818888"/>
            <a:ext cx="109728" cy="109728"/>
          </a:xfrm>
          <a:prstGeom prst="ellipse">
            <a:avLst/>
          </a:prstGeom>
          <a:solidFill>
            <a:srgbClr val="B08D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80760" y="4389120"/>
            <a:ext cx="1844040" cy="274320"/>
          </a:xfrm>
          <a:prstGeom prst="rect">
            <a:avLst/>
          </a:prstGeom>
          <a:noFill/>
        </p:spPr>
        <p:txBody>
          <a:bodyPr wrap="square" lIns="0" rIns="0" tIns="0" bIns="0">
            <a:spAutoFit/>
          </a:bodyPr>
          <a:lstStyle/>
          <a:p>
            <a:pPr algn="ctr"/>
            <a:r>
              <a:rPr sz="1200" b="1" i="0">
                <a:solidFill>
                  <a:srgbClr val="1B2A4A"/>
                </a:solidFill>
                <a:latin typeface="Calibri"/>
              </a:rPr>
              <a:t>2024</a:t>
            </a:r>
          </a:p>
        </p:txBody>
      </p:sp>
      <p:sp>
        <p:nvSpPr>
          <p:cNvPr id="22" name="TextBox 21"/>
          <p:cNvSpPr txBox="1"/>
          <p:nvPr/>
        </p:nvSpPr>
        <p:spPr>
          <a:xfrm>
            <a:off x="6126480" y="5029200"/>
            <a:ext cx="1752600" cy="822960"/>
          </a:xfrm>
          <a:prstGeom prst="rect">
            <a:avLst/>
          </a:prstGeom>
          <a:noFill/>
        </p:spPr>
        <p:txBody>
          <a:bodyPr wrap="square" lIns="0" rIns="0" tIns="0" bIns="0">
            <a:spAutoFit/>
          </a:bodyPr>
          <a:lstStyle/>
          <a:p>
            <a:pPr algn="ctr"/>
            <a:r>
              <a:rPr sz="900" b="0" i="0">
                <a:solidFill>
                  <a:srgbClr val="6E6E6E"/>
                </a:solidFill>
                <a:latin typeface="Calibri"/>
              </a:rPr>
              <a:t>HQ relocated to Dubai; Euronext delisting</a:t>
            </a:r>
          </a:p>
        </p:txBody>
      </p:sp>
      <p:sp>
        <p:nvSpPr>
          <p:cNvPr id="23" name="Oval 22"/>
          <p:cNvSpPr/>
          <p:nvPr/>
        </p:nvSpPr>
        <p:spPr>
          <a:xfrm>
            <a:off x="8791956" y="4818888"/>
            <a:ext cx="109728" cy="109728"/>
          </a:xfrm>
          <a:prstGeom prst="ellipse">
            <a:avLst/>
          </a:prstGeom>
          <a:solidFill>
            <a:srgbClr val="B08D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24800" y="4389120"/>
            <a:ext cx="1844040" cy="274320"/>
          </a:xfrm>
          <a:prstGeom prst="rect">
            <a:avLst/>
          </a:prstGeom>
          <a:noFill/>
        </p:spPr>
        <p:txBody>
          <a:bodyPr wrap="square" lIns="0" rIns="0" tIns="0" bIns="0">
            <a:spAutoFit/>
          </a:bodyPr>
          <a:lstStyle/>
          <a:p>
            <a:pPr algn="ctr"/>
            <a:r>
              <a:rPr sz="1200" b="1" i="0">
                <a:solidFill>
                  <a:srgbClr val="1B2A4A"/>
                </a:solidFill>
                <a:latin typeface="Calibri"/>
              </a:rPr>
              <a:t>2025</a:t>
            </a:r>
          </a:p>
        </p:txBody>
      </p:sp>
      <p:sp>
        <p:nvSpPr>
          <p:cNvPr id="25" name="TextBox 24"/>
          <p:cNvSpPr txBox="1"/>
          <p:nvPr/>
        </p:nvSpPr>
        <p:spPr>
          <a:xfrm>
            <a:off x="7970520" y="5029200"/>
            <a:ext cx="1752600" cy="822960"/>
          </a:xfrm>
          <a:prstGeom prst="rect">
            <a:avLst/>
          </a:prstGeom>
          <a:noFill/>
        </p:spPr>
        <p:txBody>
          <a:bodyPr wrap="square" lIns="0" rIns="0" tIns="0" bIns="0">
            <a:spAutoFit/>
          </a:bodyPr>
          <a:lstStyle/>
          <a:p>
            <a:pPr algn="ctr"/>
            <a:r>
              <a:rPr sz="900" b="0" i="0">
                <a:solidFill>
                  <a:srgbClr val="6E6E6E"/>
                </a:solidFill>
                <a:latin typeface="Calibri"/>
              </a:rPr>
              <a:t>Kyivstar Nasdaq listing (Aug)</a:t>
            </a:r>
          </a:p>
        </p:txBody>
      </p:sp>
      <p:sp>
        <p:nvSpPr>
          <p:cNvPr id="26" name="Oval 25"/>
          <p:cNvSpPr/>
          <p:nvPr/>
        </p:nvSpPr>
        <p:spPr>
          <a:xfrm>
            <a:off x="10635996" y="4818888"/>
            <a:ext cx="109728" cy="109728"/>
          </a:xfrm>
          <a:prstGeom prst="ellipse">
            <a:avLst/>
          </a:prstGeom>
          <a:solidFill>
            <a:srgbClr val="B08D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768840" y="4389120"/>
            <a:ext cx="1844040" cy="274320"/>
          </a:xfrm>
          <a:prstGeom prst="rect">
            <a:avLst/>
          </a:prstGeom>
          <a:noFill/>
        </p:spPr>
        <p:txBody>
          <a:bodyPr wrap="square" lIns="0" rIns="0" tIns="0" bIns="0">
            <a:spAutoFit/>
          </a:bodyPr>
          <a:lstStyle/>
          <a:p>
            <a:pPr algn="ctr"/>
            <a:r>
              <a:rPr sz="1200" b="1" i="0">
                <a:solidFill>
                  <a:srgbClr val="1B2A4A"/>
                </a:solidFill>
                <a:latin typeface="Calibri"/>
              </a:rPr>
              <a:t>2026</a:t>
            </a:r>
          </a:p>
        </p:txBody>
      </p:sp>
      <p:sp>
        <p:nvSpPr>
          <p:cNvPr id="28" name="TextBox 27"/>
          <p:cNvSpPr txBox="1"/>
          <p:nvPr/>
        </p:nvSpPr>
        <p:spPr>
          <a:xfrm>
            <a:off x="9814560" y="5029200"/>
            <a:ext cx="1752600" cy="822960"/>
          </a:xfrm>
          <a:prstGeom prst="rect">
            <a:avLst/>
          </a:prstGeom>
          <a:noFill/>
        </p:spPr>
        <p:txBody>
          <a:bodyPr wrap="square" lIns="0" rIns="0" tIns="0" bIns="0">
            <a:spAutoFit/>
          </a:bodyPr>
          <a:lstStyle/>
          <a:p>
            <a:pPr algn="ctr"/>
            <a:r>
              <a:rPr sz="900" b="0" i="0">
                <a:solidFill>
                  <a:srgbClr val="6E6E6E"/>
                </a:solidFill>
                <a:latin typeface="Calibri"/>
              </a:rPr>
              <a:t>Banglalink $250M anchor investment (Jun)</a:t>
            </a:r>
          </a:p>
        </p:txBody>
      </p:sp>
      <p:sp>
        <p:nvSpPr>
          <p:cNvPr id="29" name="TextBox 28"/>
          <p:cNvSpPr txBox="1"/>
          <p:nvPr/>
        </p:nvSpPr>
        <p:spPr>
          <a:xfrm>
            <a:off x="365760" y="6537960"/>
            <a:ext cx="7315200" cy="274320"/>
          </a:xfrm>
          <a:prstGeom prst="rect">
            <a:avLst/>
          </a:prstGeom>
          <a:noFill/>
        </p:spPr>
        <p:txBody>
          <a:bodyPr wrap="none" lIns="0" tIns="0" bIns="0">
            <a:spAutoFit/>
          </a:bodyPr>
          <a:lstStyle/>
          <a:p>
            <a:r>
              <a:rPr sz="800">
                <a:solidFill>
                  <a:srgbClr val="6E6E6E"/>
                </a:solidFill>
                <a:latin typeface="Calibri"/>
              </a:rPr>
              <a:t>VEON Ltd. (NASDAQ: VEON)  |  Institutional Equity Research  |  Strictly Confidential</a:t>
            </a:r>
          </a:p>
        </p:txBody>
      </p:sp>
      <p:sp>
        <p:nvSpPr>
          <p:cNvPr id="30" name="TextBox 29"/>
          <p:cNvSpPr txBox="1"/>
          <p:nvPr/>
        </p:nvSpPr>
        <p:spPr>
          <a:xfrm>
            <a:off x="11430000" y="6537960"/>
            <a:ext cx="548640" cy="274320"/>
          </a:xfrm>
          <a:prstGeom prst="rect">
            <a:avLst/>
          </a:prstGeom>
          <a:noFill/>
        </p:spPr>
        <p:txBody>
          <a:bodyPr wrap="none" lIns="0" tIns="0">
            <a:spAutoFit/>
          </a:bodyPr>
          <a:lstStyle/>
          <a:p>
            <a:pPr algn="r"/>
            <a:r>
              <a:rPr sz="900" b="1">
                <a:solidFill>
                  <a:srgbClr val="6E6E6E"/>
                </a:solidFill>
                <a:latin typeface="Calibri"/>
              </a:rPr>
              <a:t>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5486400" cy="274320"/>
          </a:xfrm>
          <a:prstGeom prst="rect">
            <a:avLst/>
          </a:prstGeom>
          <a:noFill/>
        </p:spPr>
        <p:txBody>
          <a:bodyPr wrap="square" lIns="0" rIns="0" tIns="0" bIns="0">
            <a:spAutoFit/>
          </a:bodyPr>
          <a:lstStyle/>
          <a:p>
            <a:pPr algn="l"/>
            <a:r>
              <a:rPr sz="1100" b="1" i="0">
                <a:solidFill>
                  <a:srgbClr val="B08D57"/>
                </a:solidFill>
                <a:latin typeface="Calibri"/>
              </a:rPr>
              <a:t>SECTOR CONTEXT</a:t>
            </a:r>
          </a:p>
        </p:txBody>
      </p:sp>
      <p:sp>
        <p:nvSpPr>
          <p:cNvPr id="4" name="TextBox 3"/>
          <p:cNvSpPr txBox="1"/>
          <p:nvPr/>
        </p:nvSpPr>
        <p:spPr>
          <a:xfrm>
            <a:off x="457200" y="502920"/>
            <a:ext cx="10515600" cy="548640"/>
          </a:xfrm>
          <a:prstGeom prst="rect">
            <a:avLst/>
          </a:prstGeom>
          <a:noFill/>
        </p:spPr>
        <p:txBody>
          <a:bodyPr wrap="square" lIns="0" rIns="0" tIns="0" bIns="0">
            <a:spAutoFit/>
          </a:bodyPr>
          <a:lstStyle/>
          <a:p>
            <a:pPr algn="l"/>
            <a:r>
              <a:rPr sz="2600" b="1" i="0">
                <a:solidFill>
                  <a:srgbClr val="1B2A4A"/>
                </a:solidFill>
                <a:latin typeface="Calibri"/>
              </a:rPr>
              <a:t>Industry Overview</a:t>
            </a:r>
          </a:p>
        </p:txBody>
      </p:sp>
      <p:sp>
        <p:nvSpPr>
          <p:cNvPr id="5" name="Rounded Rectangle 4"/>
          <p:cNvSpPr/>
          <p:nvPr/>
        </p:nvSpPr>
        <p:spPr>
          <a:xfrm>
            <a:off x="457200" y="1463040"/>
            <a:ext cx="3657600" cy="2148840"/>
          </a:xfrm>
          <a:prstGeom prst="roundRect">
            <a:avLst>
              <a:gd name="adj" fmla="val 5000"/>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640080" y="1645920"/>
            <a:ext cx="256032" cy="256032"/>
          </a:xfrm>
          <a:prstGeom prst="ellipse">
            <a:avLst/>
          </a:prstGeom>
          <a:solidFill>
            <a:srgbClr val="B08D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627632"/>
            <a:ext cx="2926080" cy="320040"/>
          </a:xfrm>
          <a:prstGeom prst="rect">
            <a:avLst/>
          </a:prstGeom>
          <a:noFill/>
        </p:spPr>
        <p:txBody>
          <a:bodyPr wrap="square" lIns="0" rIns="0" tIns="0" bIns="0">
            <a:spAutoFit/>
          </a:bodyPr>
          <a:lstStyle/>
          <a:p>
            <a:pPr algn="l"/>
            <a:r>
              <a:rPr sz="1300" b="1" i="0">
                <a:solidFill>
                  <a:srgbClr val="1B2A4A"/>
                </a:solidFill>
                <a:latin typeface="Calibri"/>
              </a:rPr>
              <a:t>Emerging Markets</a:t>
            </a:r>
          </a:p>
        </p:txBody>
      </p:sp>
      <p:sp>
        <p:nvSpPr>
          <p:cNvPr id="8" name="TextBox 7"/>
          <p:cNvSpPr txBox="1"/>
          <p:nvPr/>
        </p:nvSpPr>
        <p:spPr>
          <a:xfrm>
            <a:off x="640080" y="2057400"/>
            <a:ext cx="3291840" cy="1371600"/>
          </a:xfrm>
          <a:prstGeom prst="rect">
            <a:avLst/>
          </a:prstGeom>
          <a:noFill/>
        </p:spPr>
        <p:txBody>
          <a:bodyPr wrap="square" lIns="0" rIns="0" tIns="0" bIns="0">
            <a:spAutoFit/>
          </a:bodyPr>
          <a:lstStyle/>
          <a:p>
            <a:pPr algn="l"/>
            <a:r>
              <a:rPr sz="1000" b="0" i="0">
                <a:solidFill>
                  <a:srgbClr val="222222"/>
                </a:solidFill>
                <a:latin typeface="Calibri"/>
              </a:rPr>
              <a:t>Continued 4G/smartphone penetration headroom across VEON's five core markets; population base exceeding 500 million</a:t>
            </a:r>
          </a:p>
        </p:txBody>
      </p:sp>
      <p:sp>
        <p:nvSpPr>
          <p:cNvPr id="9" name="Rounded Rectangle 8"/>
          <p:cNvSpPr/>
          <p:nvPr/>
        </p:nvSpPr>
        <p:spPr>
          <a:xfrm>
            <a:off x="4343400" y="1463040"/>
            <a:ext cx="3657600" cy="2148840"/>
          </a:xfrm>
          <a:prstGeom prst="roundRect">
            <a:avLst>
              <a:gd name="adj" fmla="val 5000"/>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4526280" y="1645920"/>
            <a:ext cx="256032" cy="256032"/>
          </a:xfrm>
          <a:prstGeom prst="ellipse">
            <a:avLst/>
          </a:prstGeom>
          <a:solidFill>
            <a:srgbClr val="B08D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892040" y="1627632"/>
            <a:ext cx="2926080" cy="320040"/>
          </a:xfrm>
          <a:prstGeom prst="rect">
            <a:avLst/>
          </a:prstGeom>
          <a:noFill/>
        </p:spPr>
        <p:txBody>
          <a:bodyPr wrap="square" lIns="0" rIns="0" tIns="0" bIns="0">
            <a:spAutoFit/>
          </a:bodyPr>
          <a:lstStyle/>
          <a:p>
            <a:pPr algn="l"/>
            <a:r>
              <a:rPr sz="1300" b="1" i="0">
                <a:solidFill>
                  <a:srgbClr val="1B2A4A"/>
                </a:solidFill>
                <a:latin typeface="Calibri"/>
              </a:rPr>
              <a:t>Digital Services</a:t>
            </a:r>
          </a:p>
        </p:txBody>
      </p:sp>
      <p:sp>
        <p:nvSpPr>
          <p:cNvPr id="12" name="TextBox 11"/>
          <p:cNvSpPr txBox="1"/>
          <p:nvPr/>
        </p:nvSpPr>
        <p:spPr>
          <a:xfrm>
            <a:off x="4526280" y="2057400"/>
            <a:ext cx="3291840" cy="1371600"/>
          </a:xfrm>
          <a:prstGeom prst="rect">
            <a:avLst/>
          </a:prstGeom>
          <a:noFill/>
        </p:spPr>
        <p:txBody>
          <a:bodyPr wrap="square" lIns="0" rIns="0" tIns="0" bIns="0">
            <a:spAutoFit/>
          </a:bodyPr>
          <a:lstStyle/>
          <a:p>
            <a:pPr algn="l"/>
            <a:r>
              <a:rPr sz="1000" b="0" i="0">
                <a:solidFill>
                  <a:srgbClr val="222222"/>
                </a:solidFill>
                <a:latin typeface="Calibri"/>
              </a:rPr>
              <a:t>Convergence of connectivity with entertainment, super-apps and financial services reshaping ARPU economics</a:t>
            </a:r>
          </a:p>
        </p:txBody>
      </p:sp>
      <p:sp>
        <p:nvSpPr>
          <p:cNvPr id="13" name="Rounded Rectangle 12"/>
          <p:cNvSpPr/>
          <p:nvPr/>
        </p:nvSpPr>
        <p:spPr>
          <a:xfrm>
            <a:off x="8229600" y="1463040"/>
            <a:ext cx="3657600" cy="2148840"/>
          </a:xfrm>
          <a:prstGeom prst="roundRect">
            <a:avLst>
              <a:gd name="adj" fmla="val 5000"/>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412480" y="1645920"/>
            <a:ext cx="256032" cy="256032"/>
          </a:xfrm>
          <a:prstGeom prst="ellipse">
            <a:avLst/>
          </a:prstGeom>
          <a:solidFill>
            <a:srgbClr val="B08D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778240" y="1627632"/>
            <a:ext cx="2926080" cy="320040"/>
          </a:xfrm>
          <a:prstGeom prst="rect">
            <a:avLst/>
          </a:prstGeom>
          <a:noFill/>
        </p:spPr>
        <p:txBody>
          <a:bodyPr wrap="square" lIns="0" rIns="0" tIns="0" bIns="0">
            <a:spAutoFit/>
          </a:bodyPr>
          <a:lstStyle/>
          <a:p>
            <a:pPr algn="l"/>
            <a:r>
              <a:rPr sz="1300" b="1" i="0">
                <a:solidFill>
                  <a:srgbClr val="1B2A4A"/>
                </a:solidFill>
                <a:latin typeface="Calibri"/>
              </a:rPr>
              <a:t>Fintech</a:t>
            </a:r>
          </a:p>
        </p:txBody>
      </p:sp>
      <p:sp>
        <p:nvSpPr>
          <p:cNvPr id="16" name="TextBox 15"/>
          <p:cNvSpPr txBox="1"/>
          <p:nvPr/>
        </p:nvSpPr>
        <p:spPr>
          <a:xfrm>
            <a:off x="8412480" y="2057400"/>
            <a:ext cx="3291840" cy="1371600"/>
          </a:xfrm>
          <a:prstGeom prst="rect">
            <a:avLst/>
          </a:prstGeom>
          <a:noFill/>
        </p:spPr>
        <p:txBody>
          <a:bodyPr wrap="square" lIns="0" rIns="0" tIns="0" bIns="0">
            <a:spAutoFit/>
          </a:bodyPr>
          <a:lstStyle/>
          <a:p>
            <a:pPr algn="l"/>
            <a:r>
              <a:rPr sz="1000" b="0" i="0">
                <a:solidFill>
                  <a:srgbClr val="222222"/>
                </a:solidFill>
                <a:latin typeface="Calibri"/>
              </a:rPr>
              <a:t>Mobile financial services scaling rapidly in underbanked populations; VEON serves 21.6 million MAU Group-wide</a:t>
            </a:r>
          </a:p>
        </p:txBody>
      </p:sp>
      <p:sp>
        <p:nvSpPr>
          <p:cNvPr id="17" name="Rounded Rectangle 16"/>
          <p:cNvSpPr/>
          <p:nvPr/>
        </p:nvSpPr>
        <p:spPr>
          <a:xfrm>
            <a:off x="457200" y="3840480"/>
            <a:ext cx="3657600" cy="2148840"/>
          </a:xfrm>
          <a:prstGeom prst="roundRect">
            <a:avLst>
              <a:gd name="adj" fmla="val 5000"/>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40080" y="4023360"/>
            <a:ext cx="256032" cy="256032"/>
          </a:xfrm>
          <a:prstGeom prst="ellipse">
            <a:avLst/>
          </a:prstGeom>
          <a:solidFill>
            <a:srgbClr val="B08D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05840" y="4005072"/>
            <a:ext cx="2926080" cy="320040"/>
          </a:xfrm>
          <a:prstGeom prst="rect">
            <a:avLst/>
          </a:prstGeom>
          <a:noFill/>
        </p:spPr>
        <p:txBody>
          <a:bodyPr wrap="square" lIns="0" rIns="0" tIns="0" bIns="0">
            <a:spAutoFit/>
          </a:bodyPr>
          <a:lstStyle/>
          <a:p>
            <a:pPr algn="l"/>
            <a:r>
              <a:rPr sz="1300" b="1" i="0">
                <a:solidFill>
                  <a:srgbClr val="1B2A4A"/>
                </a:solidFill>
                <a:latin typeface="Calibri"/>
              </a:rPr>
              <a:t>Artificial Intelligence</a:t>
            </a:r>
          </a:p>
        </p:txBody>
      </p:sp>
      <p:sp>
        <p:nvSpPr>
          <p:cNvPr id="20" name="TextBox 19"/>
          <p:cNvSpPr txBox="1"/>
          <p:nvPr/>
        </p:nvSpPr>
        <p:spPr>
          <a:xfrm>
            <a:off x="640080" y="4434840"/>
            <a:ext cx="3291840" cy="1371600"/>
          </a:xfrm>
          <a:prstGeom prst="rect">
            <a:avLst/>
          </a:prstGeom>
          <a:noFill/>
        </p:spPr>
        <p:txBody>
          <a:bodyPr wrap="square" lIns="0" rIns="0" tIns="0" bIns="0">
            <a:spAutoFit/>
          </a:bodyPr>
          <a:lstStyle/>
          <a:p>
            <a:pPr algn="l"/>
            <a:r>
              <a:rPr sz="1000" b="0" i="0">
                <a:solidFill>
                  <a:srgbClr val="222222"/>
                </a:solidFill>
                <a:latin typeface="Calibri"/>
              </a:rPr>
              <a:t>AI-personalized digital lifestyle products and AI infrastructure partnerships emerging across frontier telecom</a:t>
            </a:r>
          </a:p>
        </p:txBody>
      </p:sp>
      <p:sp>
        <p:nvSpPr>
          <p:cNvPr id="21" name="Rounded Rectangle 20"/>
          <p:cNvSpPr/>
          <p:nvPr/>
        </p:nvSpPr>
        <p:spPr>
          <a:xfrm>
            <a:off x="4343400" y="3840480"/>
            <a:ext cx="3657600" cy="2148840"/>
          </a:xfrm>
          <a:prstGeom prst="roundRect">
            <a:avLst>
              <a:gd name="adj" fmla="val 5000"/>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4526280" y="4023360"/>
            <a:ext cx="256032" cy="256032"/>
          </a:xfrm>
          <a:prstGeom prst="ellipse">
            <a:avLst/>
          </a:prstGeom>
          <a:solidFill>
            <a:srgbClr val="B08D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892040" y="4005072"/>
            <a:ext cx="2926080" cy="320040"/>
          </a:xfrm>
          <a:prstGeom prst="rect">
            <a:avLst/>
          </a:prstGeom>
          <a:noFill/>
        </p:spPr>
        <p:txBody>
          <a:bodyPr wrap="square" lIns="0" rIns="0" tIns="0" bIns="0">
            <a:spAutoFit/>
          </a:bodyPr>
          <a:lstStyle/>
          <a:p>
            <a:pPr algn="l"/>
            <a:r>
              <a:rPr sz="1300" b="1" i="0">
                <a:solidFill>
                  <a:srgbClr val="1B2A4A"/>
                </a:solidFill>
                <a:latin typeface="Calibri"/>
              </a:rPr>
              <a:t>5G / Connectivity</a:t>
            </a:r>
          </a:p>
        </p:txBody>
      </p:sp>
      <p:sp>
        <p:nvSpPr>
          <p:cNvPr id="24" name="TextBox 23"/>
          <p:cNvSpPr txBox="1"/>
          <p:nvPr/>
        </p:nvSpPr>
        <p:spPr>
          <a:xfrm>
            <a:off x="4526280" y="4434840"/>
            <a:ext cx="3291840" cy="1371600"/>
          </a:xfrm>
          <a:prstGeom prst="rect">
            <a:avLst/>
          </a:prstGeom>
          <a:noFill/>
        </p:spPr>
        <p:txBody>
          <a:bodyPr wrap="square" lIns="0" rIns="0" tIns="0" bIns="0">
            <a:spAutoFit/>
          </a:bodyPr>
          <a:lstStyle/>
          <a:p>
            <a:pPr algn="l"/>
            <a:r>
              <a:rPr sz="1000" b="0" i="0">
                <a:solidFill>
                  <a:srgbClr val="222222"/>
                </a:solidFill>
                <a:latin typeface="Calibri"/>
              </a:rPr>
              <a:t>5G and direct-to-cell satellite connectivity extending rural reach without incremental tower capex</a:t>
            </a:r>
          </a:p>
        </p:txBody>
      </p:sp>
      <p:sp>
        <p:nvSpPr>
          <p:cNvPr id="25" name="Rounded Rectangle 24"/>
          <p:cNvSpPr/>
          <p:nvPr/>
        </p:nvSpPr>
        <p:spPr>
          <a:xfrm>
            <a:off x="8229600" y="3840480"/>
            <a:ext cx="3657600" cy="2148840"/>
          </a:xfrm>
          <a:prstGeom prst="roundRect">
            <a:avLst>
              <a:gd name="adj" fmla="val 5000"/>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412480" y="4023360"/>
            <a:ext cx="256032" cy="256032"/>
          </a:xfrm>
          <a:prstGeom prst="ellipse">
            <a:avLst/>
          </a:prstGeom>
          <a:solidFill>
            <a:srgbClr val="B08D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778240" y="4005072"/>
            <a:ext cx="2926080" cy="320040"/>
          </a:xfrm>
          <a:prstGeom prst="rect">
            <a:avLst/>
          </a:prstGeom>
          <a:noFill/>
        </p:spPr>
        <p:txBody>
          <a:bodyPr wrap="square" lIns="0" rIns="0" tIns="0" bIns="0">
            <a:spAutoFit/>
          </a:bodyPr>
          <a:lstStyle/>
          <a:p>
            <a:pPr algn="l"/>
            <a:r>
              <a:rPr sz="1300" b="1" i="0">
                <a:solidFill>
                  <a:srgbClr val="1B2A4A"/>
                </a:solidFill>
                <a:latin typeface="Calibri"/>
              </a:rPr>
              <a:t>Currency &amp; Regulation</a:t>
            </a:r>
          </a:p>
        </p:txBody>
      </p:sp>
      <p:sp>
        <p:nvSpPr>
          <p:cNvPr id="28" name="TextBox 27"/>
          <p:cNvSpPr txBox="1"/>
          <p:nvPr/>
        </p:nvSpPr>
        <p:spPr>
          <a:xfrm>
            <a:off x="8412480" y="4434840"/>
            <a:ext cx="3291840" cy="1371600"/>
          </a:xfrm>
          <a:prstGeom prst="rect">
            <a:avLst/>
          </a:prstGeom>
          <a:noFill/>
        </p:spPr>
        <p:txBody>
          <a:bodyPr wrap="square" lIns="0" rIns="0" tIns="0" bIns="0">
            <a:spAutoFit/>
          </a:bodyPr>
          <a:lstStyle/>
          <a:p>
            <a:pPr algn="l"/>
            <a:r>
              <a:rPr sz="1000" b="0" i="0">
                <a:solidFill>
                  <a:srgbClr val="222222"/>
                </a:solidFill>
                <a:latin typeface="Calibri"/>
              </a:rPr>
              <a:t>Persistent FX volatility and inconsistent telecom-fintech regulatory treatment remain key sector headwinds</a:t>
            </a:r>
          </a:p>
        </p:txBody>
      </p:sp>
      <p:sp>
        <p:nvSpPr>
          <p:cNvPr id="29" name="TextBox 28"/>
          <p:cNvSpPr txBox="1"/>
          <p:nvPr/>
        </p:nvSpPr>
        <p:spPr>
          <a:xfrm>
            <a:off x="365760" y="6537960"/>
            <a:ext cx="7315200" cy="274320"/>
          </a:xfrm>
          <a:prstGeom prst="rect">
            <a:avLst/>
          </a:prstGeom>
          <a:noFill/>
        </p:spPr>
        <p:txBody>
          <a:bodyPr wrap="none" lIns="0" tIns="0" bIns="0">
            <a:spAutoFit/>
          </a:bodyPr>
          <a:lstStyle/>
          <a:p>
            <a:r>
              <a:rPr sz="800">
                <a:solidFill>
                  <a:srgbClr val="6E6E6E"/>
                </a:solidFill>
                <a:latin typeface="Calibri"/>
              </a:rPr>
              <a:t>VEON Ltd. (NASDAQ: VEON)  |  Institutional Equity Research  |  Strictly Confidential</a:t>
            </a:r>
          </a:p>
        </p:txBody>
      </p:sp>
      <p:sp>
        <p:nvSpPr>
          <p:cNvPr id="30" name="TextBox 29"/>
          <p:cNvSpPr txBox="1"/>
          <p:nvPr/>
        </p:nvSpPr>
        <p:spPr>
          <a:xfrm>
            <a:off x="11430000" y="6537960"/>
            <a:ext cx="548640" cy="274320"/>
          </a:xfrm>
          <a:prstGeom prst="rect">
            <a:avLst/>
          </a:prstGeom>
          <a:noFill/>
        </p:spPr>
        <p:txBody>
          <a:bodyPr wrap="none" lIns="0" tIns="0">
            <a:spAutoFit/>
          </a:bodyPr>
          <a:lstStyle/>
          <a:p>
            <a:pPr algn="r"/>
            <a:r>
              <a:rPr sz="900" b="1">
                <a:solidFill>
                  <a:srgbClr val="6E6E6E"/>
                </a:solidFill>
                <a:latin typeface="Calibri"/>
              </a:rPr>
              <a:t>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5486400" cy="274320"/>
          </a:xfrm>
          <a:prstGeom prst="rect">
            <a:avLst/>
          </a:prstGeom>
          <a:noFill/>
        </p:spPr>
        <p:txBody>
          <a:bodyPr wrap="square" lIns="0" rIns="0" tIns="0" bIns="0">
            <a:spAutoFit/>
          </a:bodyPr>
          <a:lstStyle/>
          <a:p>
            <a:pPr algn="l"/>
            <a:r>
              <a:rPr sz="1100" b="1" i="0">
                <a:solidFill>
                  <a:srgbClr val="B08D57"/>
                </a:solidFill>
                <a:latin typeface="Calibri"/>
              </a:rPr>
              <a:t>SEGMENT FOOTPRINT</a:t>
            </a:r>
          </a:p>
        </p:txBody>
      </p:sp>
      <p:sp>
        <p:nvSpPr>
          <p:cNvPr id="4" name="TextBox 3"/>
          <p:cNvSpPr txBox="1"/>
          <p:nvPr/>
        </p:nvSpPr>
        <p:spPr>
          <a:xfrm>
            <a:off x="457200" y="502920"/>
            <a:ext cx="10515600" cy="548640"/>
          </a:xfrm>
          <a:prstGeom prst="rect">
            <a:avLst/>
          </a:prstGeom>
          <a:noFill/>
        </p:spPr>
        <p:txBody>
          <a:bodyPr wrap="square" lIns="0" rIns="0" tIns="0" bIns="0">
            <a:spAutoFit/>
          </a:bodyPr>
          <a:lstStyle/>
          <a:p>
            <a:pPr algn="l"/>
            <a:r>
              <a:rPr sz="2600" b="1" i="0">
                <a:solidFill>
                  <a:srgbClr val="1B2A4A"/>
                </a:solidFill>
                <a:latin typeface="Calibri"/>
              </a:rPr>
              <a:t>Geographic Operations</a:t>
            </a:r>
          </a:p>
        </p:txBody>
      </p:sp>
      <p:graphicFrame>
        <p:nvGraphicFramePr>
          <p:cNvPr id="5" name="Chart 4"/>
          <p:cNvGraphicFramePr>
            <a:graphicFrameLocks noGrp="1"/>
          </p:cNvGraphicFramePr>
          <p:nvPr/>
        </p:nvGraphicFramePr>
        <p:xfrm>
          <a:off x="457200" y="1417320"/>
          <a:ext cx="4937760" cy="3931920"/>
        </p:xfrm>
        <a:graphic>
          <a:graphicData uri="http://schemas.openxmlformats.org/drawingml/2006/chart">
            <c:chart xmlns:c="http://schemas.openxmlformats.org/drawingml/2006/chart" r:id="rId2"/>
          </a:graphicData>
        </a:graphic>
      </p:graphicFrame>
      <p:sp>
        <p:nvSpPr>
          <p:cNvPr id="6" name="TextBox 5"/>
          <p:cNvSpPr txBox="1"/>
          <p:nvPr/>
        </p:nvSpPr>
        <p:spPr>
          <a:xfrm>
            <a:off x="5760720" y="1417320"/>
            <a:ext cx="5943600" cy="274320"/>
          </a:xfrm>
          <a:prstGeom prst="rect">
            <a:avLst/>
          </a:prstGeom>
          <a:noFill/>
        </p:spPr>
        <p:txBody>
          <a:bodyPr wrap="square" lIns="0" rIns="0" tIns="0" bIns="0">
            <a:spAutoFit/>
          </a:bodyPr>
          <a:lstStyle/>
          <a:p>
            <a:pPr algn="l"/>
            <a:r>
              <a:rPr sz="1200" b="1" i="0">
                <a:solidFill>
                  <a:srgbClr val="1B2A4A"/>
                </a:solidFill>
                <a:latin typeface="Calibri"/>
              </a:rPr>
              <a:t>MARKET POSITION BY SEGMENT</a:t>
            </a:r>
          </a:p>
        </p:txBody>
      </p:sp>
      <p:graphicFrame>
        <p:nvGraphicFramePr>
          <p:cNvPr id="7" name="Table 6"/>
          <p:cNvGraphicFramePr>
            <a:graphicFrameLocks noGrp="1"/>
          </p:cNvGraphicFramePr>
          <p:nvPr/>
        </p:nvGraphicFramePr>
        <p:xfrm>
          <a:off x="5760720" y="1737360"/>
          <a:ext cx="5943598" cy="2103120"/>
        </p:xfrm>
        <a:graphic>
          <a:graphicData uri="http://schemas.openxmlformats.org/drawingml/2006/table">
            <a:tbl>
              <a:tblPr firstRow="1" bandRow="1">
                <a:tableStyleId>{5C22544A-7EE6-4342-B048-85BDC9FD1C3A}</a:tableStyleId>
              </a:tblPr>
              <a:tblGrid>
                <a:gridCol w="2080259"/>
                <a:gridCol w="2080259"/>
                <a:gridCol w="1783080"/>
              </a:tblGrid>
              <a:tr h="350520">
                <a:tc>
                  <a:txBody>
                    <a:bodyPr/>
                    <a:lstStyle/>
                    <a:p>
                      <a:pPr algn="l"/>
                      <a:r>
                        <a:rPr sz="1050" b="1">
                          <a:solidFill>
                            <a:srgbClr val="FFFFFF"/>
                          </a:solidFill>
                          <a:latin typeface="Calibri"/>
                        </a:rPr>
                        <a:t>Market</a:t>
                      </a:r>
                    </a:p>
                  </a:txBody>
                  <a:tcPr anchor="ctr" marT="25400" marB="25400">
                    <a:solidFill>
                      <a:srgbClr val="1B2A4A"/>
                    </a:solidFill>
                  </a:tcPr>
                </a:tc>
                <a:tc>
                  <a:txBody>
                    <a:bodyPr/>
                    <a:lstStyle/>
                    <a:p>
                      <a:pPr algn="ctr"/>
                      <a:r>
                        <a:rPr sz="1050" b="1">
                          <a:solidFill>
                            <a:srgbClr val="FFFFFF"/>
                          </a:solidFill>
                          <a:latin typeface="Calibri"/>
                        </a:rPr>
                        <a:t>Revenue FY25 ($M)</a:t>
                      </a:r>
                    </a:p>
                  </a:txBody>
                  <a:tcPr anchor="ctr" marT="25400" marB="25400">
                    <a:solidFill>
                      <a:srgbClr val="1B2A4A"/>
                    </a:solidFill>
                  </a:tcPr>
                </a:tc>
                <a:tc>
                  <a:txBody>
                    <a:bodyPr/>
                    <a:lstStyle/>
                    <a:p>
                      <a:pPr algn="ctr"/>
                      <a:r>
                        <a:rPr sz="1050" b="1">
                          <a:solidFill>
                            <a:srgbClr val="FFFFFF"/>
                          </a:solidFill>
                          <a:latin typeface="Calibri"/>
                        </a:rPr>
                        <a:t>Position</a:t>
                      </a:r>
                    </a:p>
                  </a:txBody>
                  <a:tcPr anchor="ctr" marT="25400" marB="25400">
                    <a:solidFill>
                      <a:srgbClr val="1B2A4A"/>
                    </a:solidFill>
                  </a:tcPr>
                </a:tc>
              </a:tr>
              <a:tr h="350520">
                <a:tc>
                  <a:txBody>
                    <a:bodyPr/>
                    <a:lstStyle/>
                    <a:p>
                      <a:pPr algn="l"/>
                      <a:r>
                        <a:rPr sz="1050" b="1">
                          <a:solidFill>
                            <a:srgbClr val="222222"/>
                          </a:solidFill>
                          <a:latin typeface="Calibri"/>
                        </a:rPr>
                        <a:t>Pakistan</a:t>
                      </a:r>
                    </a:p>
                  </a:txBody>
                  <a:tcPr anchor="ctr" marT="12700" marB="12700">
                    <a:solidFill>
                      <a:srgbClr val="FFFFFF"/>
                    </a:solidFill>
                  </a:tcPr>
                </a:tc>
                <a:tc>
                  <a:txBody>
                    <a:bodyPr/>
                    <a:lstStyle/>
                    <a:p>
                      <a:pPr algn="ctr"/>
                      <a:r>
                        <a:rPr sz="1050">
                          <a:solidFill>
                            <a:srgbClr val="222222"/>
                          </a:solidFill>
                          <a:latin typeface="Calibri"/>
                        </a:rPr>
                        <a:t>1,624</a:t>
                      </a:r>
                    </a:p>
                  </a:txBody>
                  <a:tcPr anchor="ctr" marT="12700" marB="12700">
                    <a:solidFill>
                      <a:srgbClr val="FFFFFF"/>
                    </a:solidFill>
                  </a:tcPr>
                </a:tc>
                <a:tc>
                  <a:txBody>
                    <a:bodyPr/>
                    <a:lstStyle/>
                    <a:p>
                      <a:pPr algn="ctr"/>
                      <a:r>
                        <a:rPr sz="1050">
                          <a:solidFill>
                            <a:srgbClr val="222222"/>
                          </a:solidFill>
                          <a:latin typeface="Calibri"/>
                        </a:rPr>
                        <a:t>Market Leader</a:t>
                      </a:r>
                    </a:p>
                  </a:txBody>
                  <a:tcPr anchor="ctr" marT="12700" marB="12700">
                    <a:solidFill>
                      <a:srgbClr val="FFFFFF"/>
                    </a:solidFill>
                  </a:tcPr>
                </a:tc>
              </a:tr>
              <a:tr h="350520">
                <a:tc>
                  <a:txBody>
                    <a:bodyPr/>
                    <a:lstStyle/>
                    <a:p>
                      <a:pPr algn="l"/>
                      <a:r>
                        <a:rPr sz="1050" b="1">
                          <a:solidFill>
                            <a:srgbClr val="222222"/>
                          </a:solidFill>
                          <a:latin typeface="Calibri"/>
                        </a:rPr>
                        <a:t>Ukraine</a:t>
                      </a:r>
                    </a:p>
                  </a:txBody>
                  <a:tcPr anchor="ctr" marT="12700" marB="12700">
                    <a:solidFill>
                      <a:srgbClr val="F7F7F5"/>
                    </a:solidFill>
                  </a:tcPr>
                </a:tc>
                <a:tc>
                  <a:txBody>
                    <a:bodyPr/>
                    <a:lstStyle/>
                    <a:p>
                      <a:pPr algn="ctr"/>
                      <a:r>
                        <a:rPr sz="1050">
                          <a:solidFill>
                            <a:srgbClr val="222222"/>
                          </a:solidFill>
                          <a:latin typeface="Calibri"/>
                        </a:rPr>
                        <a:t>1,164</a:t>
                      </a:r>
                    </a:p>
                  </a:txBody>
                  <a:tcPr anchor="ctr" marT="12700" marB="12700">
                    <a:solidFill>
                      <a:srgbClr val="F7F7F5"/>
                    </a:solidFill>
                  </a:tcPr>
                </a:tc>
                <a:tc>
                  <a:txBody>
                    <a:bodyPr/>
                    <a:lstStyle/>
                    <a:p>
                      <a:pPr algn="ctr"/>
                      <a:r>
                        <a:rPr sz="1050">
                          <a:solidFill>
                            <a:srgbClr val="222222"/>
                          </a:solidFill>
                          <a:latin typeface="Calibri"/>
                        </a:rPr>
                        <a:t>Market Leader</a:t>
                      </a:r>
                    </a:p>
                  </a:txBody>
                  <a:tcPr anchor="ctr" marT="12700" marB="12700">
                    <a:solidFill>
                      <a:srgbClr val="F7F7F5"/>
                    </a:solidFill>
                  </a:tcPr>
                </a:tc>
              </a:tr>
              <a:tr h="350520">
                <a:tc>
                  <a:txBody>
                    <a:bodyPr/>
                    <a:lstStyle/>
                    <a:p>
                      <a:pPr algn="l"/>
                      <a:r>
                        <a:rPr sz="1050" b="1">
                          <a:solidFill>
                            <a:srgbClr val="222222"/>
                          </a:solidFill>
                          <a:latin typeface="Calibri"/>
                        </a:rPr>
                        <a:t>Kazakhstan</a:t>
                      </a:r>
                    </a:p>
                  </a:txBody>
                  <a:tcPr anchor="ctr" marT="12700" marB="12700">
                    <a:solidFill>
                      <a:srgbClr val="FFFFFF"/>
                    </a:solidFill>
                  </a:tcPr>
                </a:tc>
                <a:tc>
                  <a:txBody>
                    <a:bodyPr/>
                    <a:lstStyle/>
                    <a:p>
                      <a:pPr algn="ctr"/>
                      <a:r>
                        <a:rPr sz="1050">
                          <a:solidFill>
                            <a:srgbClr val="222222"/>
                          </a:solidFill>
                          <a:latin typeface="Calibri"/>
                        </a:rPr>
                        <a:t>816</a:t>
                      </a:r>
                    </a:p>
                  </a:txBody>
                  <a:tcPr anchor="ctr" marT="12700" marB="12700">
                    <a:solidFill>
                      <a:srgbClr val="FFFFFF"/>
                    </a:solidFill>
                  </a:tcPr>
                </a:tc>
                <a:tc>
                  <a:txBody>
                    <a:bodyPr/>
                    <a:lstStyle/>
                    <a:p>
                      <a:pPr algn="ctr"/>
                      <a:r>
                        <a:rPr sz="1050">
                          <a:solidFill>
                            <a:srgbClr val="222222"/>
                          </a:solidFill>
                          <a:latin typeface="Calibri"/>
                        </a:rPr>
                        <a:t>Market Leader</a:t>
                      </a:r>
                    </a:p>
                  </a:txBody>
                  <a:tcPr anchor="ctr" marT="12700" marB="12700">
                    <a:solidFill>
                      <a:srgbClr val="FFFFFF"/>
                    </a:solidFill>
                  </a:tcPr>
                </a:tc>
              </a:tr>
              <a:tr h="350520">
                <a:tc>
                  <a:txBody>
                    <a:bodyPr/>
                    <a:lstStyle/>
                    <a:p>
                      <a:pPr algn="l"/>
                      <a:r>
                        <a:rPr sz="1050" b="1">
                          <a:solidFill>
                            <a:srgbClr val="222222"/>
                          </a:solidFill>
                          <a:latin typeface="Calibri"/>
                        </a:rPr>
                        <a:t>Bangladesh</a:t>
                      </a:r>
                    </a:p>
                  </a:txBody>
                  <a:tcPr anchor="ctr" marT="12700" marB="12700">
                    <a:solidFill>
                      <a:srgbClr val="F7F7F5"/>
                    </a:solidFill>
                  </a:tcPr>
                </a:tc>
                <a:tc>
                  <a:txBody>
                    <a:bodyPr/>
                    <a:lstStyle/>
                    <a:p>
                      <a:pPr algn="ctr"/>
                      <a:r>
                        <a:rPr sz="1050">
                          <a:solidFill>
                            <a:srgbClr val="222222"/>
                          </a:solidFill>
                          <a:latin typeface="Calibri"/>
                        </a:rPr>
                        <a:t>460</a:t>
                      </a:r>
                    </a:p>
                  </a:txBody>
                  <a:tcPr anchor="ctr" marT="12700" marB="12700">
                    <a:solidFill>
                      <a:srgbClr val="F7F7F5"/>
                    </a:solidFill>
                  </a:tcPr>
                </a:tc>
                <a:tc>
                  <a:txBody>
                    <a:bodyPr/>
                    <a:lstStyle/>
                    <a:p>
                      <a:pPr algn="ctr"/>
                      <a:r>
                        <a:rPr sz="1050">
                          <a:solidFill>
                            <a:srgbClr val="222222"/>
                          </a:solidFill>
                          <a:latin typeface="Calibri"/>
                        </a:rPr>
                        <a:t>Competing</a:t>
                      </a:r>
                    </a:p>
                  </a:txBody>
                  <a:tcPr anchor="ctr" marT="12700" marB="12700">
                    <a:solidFill>
                      <a:srgbClr val="F7F7F5"/>
                    </a:solidFill>
                  </a:tcPr>
                </a:tc>
              </a:tr>
              <a:tr h="350520">
                <a:tc>
                  <a:txBody>
                    <a:bodyPr/>
                    <a:lstStyle/>
                    <a:p>
                      <a:pPr algn="l"/>
                      <a:r>
                        <a:rPr sz="1050" b="1">
                          <a:solidFill>
                            <a:srgbClr val="222222"/>
                          </a:solidFill>
                          <a:latin typeface="Calibri"/>
                        </a:rPr>
                        <a:t>Uzbekistan</a:t>
                      </a:r>
                    </a:p>
                  </a:txBody>
                  <a:tcPr anchor="ctr" marT="12700" marB="12700">
                    <a:solidFill>
                      <a:srgbClr val="FFFFFF"/>
                    </a:solidFill>
                  </a:tcPr>
                </a:tc>
                <a:tc>
                  <a:txBody>
                    <a:bodyPr/>
                    <a:lstStyle/>
                    <a:p>
                      <a:pPr algn="ctr"/>
                      <a:r>
                        <a:rPr sz="1050">
                          <a:solidFill>
                            <a:srgbClr val="222222"/>
                          </a:solidFill>
                          <a:latin typeface="Calibri"/>
                        </a:rPr>
                        <a:t>308</a:t>
                      </a:r>
                    </a:p>
                  </a:txBody>
                  <a:tcPr anchor="ctr" marT="12700" marB="12700">
                    <a:solidFill>
                      <a:srgbClr val="FFFFFF"/>
                    </a:solidFill>
                  </a:tcPr>
                </a:tc>
                <a:tc>
                  <a:txBody>
                    <a:bodyPr/>
                    <a:lstStyle/>
                    <a:p>
                      <a:pPr algn="ctr"/>
                      <a:r>
                        <a:rPr sz="1050">
                          <a:solidFill>
                            <a:srgbClr val="222222"/>
                          </a:solidFill>
                          <a:latin typeface="Calibri"/>
                        </a:rPr>
                        <a:t>Competing</a:t>
                      </a:r>
                    </a:p>
                  </a:txBody>
                  <a:tcPr anchor="ctr" marT="12700" marB="12700">
                    <a:solidFill>
                      <a:srgbClr val="FFFFFF"/>
                    </a:solidFill>
                  </a:tcPr>
                </a:tc>
              </a:tr>
            </a:tbl>
          </a:graphicData>
        </a:graphic>
      </p:graphicFrame>
      <p:sp>
        <p:nvSpPr>
          <p:cNvPr id="8" name="TextBox 7"/>
          <p:cNvSpPr txBox="1"/>
          <p:nvPr/>
        </p:nvSpPr>
        <p:spPr>
          <a:xfrm>
            <a:off x="5760720" y="4069080"/>
            <a:ext cx="5943600" cy="274320"/>
          </a:xfrm>
          <a:prstGeom prst="rect">
            <a:avLst/>
          </a:prstGeom>
          <a:noFill/>
        </p:spPr>
        <p:txBody>
          <a:bodyPr wrap="square" lIns="0" rIns="0" tIns="0" bIns="0">
            <a:spAutoFit/>
          </a:bodyPr>
          <a:lstStyle/>
          <a:p>
            <a:pPr algn="l"/>
            <a:r>
              <a:rPr sz="1200" b="1" i="0">
                <a:solidFill>
                  <a:srgbClr val="1B2A4A"/>
                </a:solidFill>
                <a:latin typeface="Calibri"/>
              </a:rPr>
              <a:t>GROWTH OUTLOOK</a:t>
            </a:r>
          </a:p>
        </p:txBody>
      </p:sp>
      <p:sp>
        <p:nvSpPr>
          <p:cNvPr id="9" name="TextBox 8"/>
          <p:cNvSpPr txBox="1"/>
          <p:nvPr/>
        </p:nvSpPr>
        <p:spPr>
          <a:xfrm>
            <a:off x="5760720" y="4389120"/>
            <a:ext cx="5943600" cy="1737360"/>
          </a:xfrm>
          <a:prstGeom prst="rect">
            <a:avLst/>
          </a:prstGeom>
          <a:noFill/>
        </p:spPr>
        <p:txBody>
          <a:bodyPr wrap="square" lIns="0" rIns="0" tIns="0" bIns="0">
            <a:spAutoFit/>
          </a:bodyPr>
          <a:lstStyle/>
          <a:p>
            <a:pPr algn="l">
              <a:spcAft>
                <a:spcPts val="600"/>
              </a:spcAft>
            </a:pPr>
            <a:r>
              <a:rPr sz="1100">
                <a:solidFill>
                  <a:srgbClr val="222222"/>
                </a:solidFill>
                <a:latin typeface="Calibri"/>
              </a:rPr>
              <a:t>•  Ukraine: 25.8% YoY FY25 revenue growth despite war-related disruption</a:t>
            </a:r>
          </a:p>
          <a:p>
            <a:pPr algn="l">
              <a:spcAft>
                <a:spcPts val="600"/>
              </a:spcAft>
            </a:pPr>
            <a:r>
              <a:rPr sz="1100">
                <a:solidFill>
                  <a:srgbClr val="222222"/>
                </a:solidFill>
                <a:latin typeface="Calibri"/>
              </a:rPr>
              <a:t>•  Pakistan: largest and fastest-growing segment in absolute dollar terms</a:t>
            </a:r>
          </a:p>
          <a:p>
            <a:pPr algn="l">
              <a:spcAft>
                <a:spcPts val="600"/>
              </a:spcAft>
            </a:pPr>
            <a:r>
              <a:rPr sz="1100">
                <a:solidFill>
                  <a:srgbClr val="222222"/>
                </a:solidFill>
                <a:latin typeface="Calibri"/>
              </a:rPr>
              <a:t>•  Bangladesh: revenue underperformance offset by new capital commitment</a:t>
            </a:r>
          </a:p>
          <a:p>
            <a:pPr algn="l">
              <a:spcAft>
                <a:spcPts val="600"/>
              </a:spcAft>
            </a:pPr>
            <a:r>
              <a:rPr sz="1100">
                <a:solidFill>
                  <a:srgbClr val="222222"/>
                </a:solidFill>
                <a:latin typeface="Calibri"/>
              </a:rPr>
              <a:t>•  Uzbekistan: smallest base, consistent growth trajectory across 5 years</a:t>
            </a:r>
          </a:p>
        </p:txBody>
      </p:sp>
      <p:sp>
        <p:nvSpPr>
          <p:cNvPr id="10" name="TextBox 9"/>
          <p:cNvSpPr txBox="1"/>
          <p:nvPr/>
        </p:nvSpPr>
        <p:spPr>
          <a:xfrm>
            <a:off x="365760" y="6537960"/>
            <a:ext cx="7315200" cy="274320"/>
          </a:xfrm>
          <a:prstGeom prst="rect">
            <a:avLst/>
          </a:prstGeom>
          <a:noFill/>
        </p:spPr>
        <p:txBody>
          <a:bodyPr wrap="none" lIns="0" tIns="0" bIns="0">
            <a:spAutoFit/>
          </a:bodyPr>
          <a:lstStyle/>
          <a:p>
            <a:r>
              <a:rPr sz="800">
                <a:solidFill>
                  <a:srgbClr val="6E6E6E"/>
                </a:solidFill>
                <a:latin typeface="Calibri"/>
              </a:rPr>
              <a:t>VEON Ltd. (NASDAQ: VEON)  |  Institutional Equity Research  |  Strictly Confidential</a:t>
            </a:r>
          </a:p>
        </p:txBody>
      </p:sp>
      <p:sp>
        <p:nvSpPr>
          <p:cNvPr id="11" name="TextBox 10"/>
          <p:cNvSpPr txBox="1"/>
          <p:nvPr/>
        </p:nvSpPr>
        <p:spPr>
          <a:xfrm>
            <a:off x="11430000" y="6537960"/>
            <a:ext cx="548640" cy="274320"/>
          </a:xfrm>
          <a:prstGeom prst="rect">
            <a:avLst/>
          </a:prstGeom>
          <a:noFill/>
        </p:spPr>
        <p:txBody>
          <a:bodyPr wrap="none" lIns="0" tIns="0">
            <a:spAutoFit/>
          </a:bodyPr>
          <a:lstStyle/>
          <a:p>
            <a:pPr algn="r"/>
            <a:r>
              <a:rPr sz="900" b="1">
                <a:solidFill>
                  <a:srgbClr val="6E6E6E"/>
                </a:solidFill>
                <a:latin typeface="Calibri"/>
              </a:rPr>
              <a:t>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5486400" cy="274320"/>
          </a:xfrm>
          <a:prstGeom prst="rect">
            <a:avLst/>
          </a:prstGeom>
          <a:noFill/>
        </p:spPr>
        <p:txBody>
          <a:bodyPr wrap="square" lIns="0" rIns="0" tIns="0" bIns="0">
            <a:spAutoFit/>
          </a:bodyPr>
          <a:lstStyle/>
          <a:p>
            <a:pPr algn="l"/>
            <a:r>
              <a:rPr sz="1100" b="1" i="0">
                <a:solidFill>
                  <a:srgbClr val="B08D57"/>
                </a:solidFill>
                <a:latin typeface="Calibri"/>
              </a:rPr>
              <a:t>BANGLADESH DEEP-DIVE</a:t>
            </a:r>
          </a:p>
        </p:txBody>
      </p:sp>
      <p:sp>
        <p:nvSpPr>
          <p:cNvPr id="4" name="TextBox 3"/>
          <p:cNvSpPr txBox="1"/>
          <p:nvPr/>
        </p:nvSpPr>
        <p:spPr>
          <a:xfrm>
            <a:off x="457200" y="502920"/>
            <a:ext cx="10515600" cy="548640"/>
          </a:xfrm>
          <a:prstGeom prst="rect">
            <a:avLst/>
          </a:prstGeom>
          <a:noFill/>
        </p:spPr>
        <p:txBody>
          <a:bodyPr wrap="square" lIns="0" rIns="0" tIns="0" bIns="0">
            <a:spAutoFit/>
          </a:bodyPr>
          <a:lstStyle/>
          <a:p>
            <a:pPr algn="l"/>
            <a:r>
              <a:rPr sz="2600" b="1" i="0">
                <a:solidFill>
                  <a:srgbClr val="1B2A4A"/>
                </a:solidFill>
                <a:latin typeface="Calibri"/>
              </a:rPr>
              <a:t>Banglalink Strategic Review</a:t>
            </a:r>
          </a:p>
        </p:txBody>
      </p:sp>
      <p:sp>
        <p:nvSpPr>
          <p:cNvPr id="5" name="Rounded Rectangle 4"/>
          <p:cNvSpPr/>
          <p:nvPr/>
        </p:nvSpPr>
        <p:spPr>
          <a:xfrm>
            <a:off x="457200" y="1417320"/>
            <a:ext cx="2615184" cy="960120"/>
          </a:xfrm>
          <a:prstGeom prst="roundRect">
            <a:avLst>
              <a:gd name="adj" fmla="val 6000"/>
            </a:avLst>
          </a:prstGeom>
          <a:solidFill>
            <a:srgbClr val="FFFFFF"/>
          </a:solidFill>
          <a:ln w="9525">
            <a:solidFill>
              <a:srgbClr val="E3E3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508760"/>
            <a:ext cx="2395728" cy="274320"/>
          </a:xfrm>
          <a:prstGeom prst="rect">
            <a:avLst/>
          </a:prstGeom>
          <a:noFill/>
        </p:spPr>
        <p:txBody>
          <a:bodyPr wrap="square" lIns="0" rIns="0" tIns="0" bIns="0">
            <a:spAutoFit/>
          </a:bodyPr>
          <a:lstStyle/>
          <a:p>
            <a:pPr algn="l"/>
            <a:r>
              <a:rPr sz="950" b="1" i="0">
                <a:solidFill>
                  <a:srgbClr val="6E6E6E"/>
                </a:solidFill>
                <a:latin typeface="Calibri"/>
              </a:rPr>
              <a:t>●  ANCHOR INVESTMENT</a:t>
            </a:r>
          </a:p>
        </p:txBody>
      </p:sp>
      <p:sp>
        <p:nvSpPr>
          <p:cNvPr id="7" name="TextBox 6"/>
          <p:cNvSpPr txBox="1"/>
          <p:nvPr/>
        </p:nvSpPr>
        <p:spPr>
          <a:xfrm>
            <a:off x="502920" y="1764792"/>
            <a:ext cx="2523744" cy="320040"/>
          </a:xfrm>
          <a:prstGeom prst="rect">
            <a:avLst/>
          </a:prstGeom>
          <a:noFill/>
        </p:spPr>
        <p:txBody>
          <a:bodyPr wrap="square" lIns="0" rIns="0" tIns="0" bIns="0" anchor="ctr">
            <a:spAutoFit/>
          </a:bodyPr>
          <a:lstStyle/>
          <a:p>
            <a:pPr algn="ctr"/>
            <a:r>
              <a:rPr sz="2400" b="1" i="0">
                <a:solidFill>
                  <a:srgbClr val="1B2A4A"/>
                </a:solidFill>
                <a:latin typeface="Calibri"/>
              </a:rPr>
              <a:t>$250M</a:t>
            </a:r>
          </a:p>
        </p:txBody>
      </p:sp>
      <p:sp>
        <p:nvSpPr>
          <p:cNvPr id="8" name="TextBox 7"/>
          <p:cNvSpPr txBox="1"/>
          <p:nvPr/>
        </p:nvSpPr>
        <p:spPr>
          <a:xfrm>
            <a:off x="502920" y="2084832"/>
            <a:ext cx="2523744" cy="256032"/>
          </a:xfrm>
          <a:prstGeom prst="rect">
            <a:avLst/>
          </a:prstGeom>
          <a:noFill/>
        </p:spPr>
        <p:txBody>
          <a:bodyPr wrap="square" lIns="0" rIns="0" tIns="0" bIns="0">
            <a:spAutoFit/>
          </a:bodyPr>
          <a:lstStyle/>
          <a:p>
            <a:pPr algn="ctr"/>
            <a:r>
              <a:rPr sz="950" b="0" i="0">
                <a:solidFill>
                  <a:srgbClr val="6E6E6E"/>
                </a:solidFill>
                <a:latin typeface="Calibri"/>
              </a:rPr>
              <a:t>Jun-2026</a:t>
            </a:r>
          </a:p>
        </p:txBody>
      </p:sp>
      <p:sp>
        <p:nvSpPr>
          <p:cNvPr id="9" name="Rounded Rectangle 8"/>
          <p:cNvSpPr/>
          <p:nvPr/>
        </p:nvSpPr>
        <p:spPr>
          <a:xfrm>
            <a:off x="3200400" y="1417320"/>
            <a:ext cx="2615184" cy="960120"/>
          </a:xfrm>
          <a:prstGeom prst="roundRect">
            <a:avLst>
              <a:gd name="adj" fmla="val 6000"/>
            </a:avLst>
          </a:prstGeom>
          <a:solidFill>
            <a:srgbClr val="FFFFFF"/>
          </a:solidFill>
          <a:ln w="9525">
            <a:solidFill>
              <a:srgbClr val="E3E3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310128" y="1508760"/>
            <a:ext cx="2395728" cy="274320"/>
          </a:xfrm>
          <a:prstGeom prst="rect">
            <a:avLst/>
          </a:prstGeom>
          <a:noFill/>
        </p:spPr>
        <p:txBody>
          <a:bodyPr wrap="square" lIns="0" rIns="0" tIns="0" bIns="0">
            <a:spAutoFit/>
          </a:bodyPr>
          <a:lstStyle/>
          <a:p>
            <a:pPr algn="l"/>
            <a:r>
              <a:rPr sz="950" b="1" i="0">
                <a:solidFill>
                  <a:srgbClr val="6E6E6E"/>
                </a:solidFill>
                <a:latin typeface="Calibri"/>
              </a:rPr>
              <a:t>●  TARGETED FOLLOW-ON</a:t>
            </a:r>
          </a:p>
        </p:txBody>
      </p:sp>
      <p:sp>
        <p:nvSpPr>
          <p:cNvPr id="11" name="TextBox 10"/>
          <p:cNvSpPr txBox="1"/>
          <p:nvPr/>
        </p:nvSpPr>
        <p:spPr>
          <a:xfrm>
            <a:off x="3246120" y="1764792"/>
            <a:ext cx="2523744" cy="320040"/>
          </a:xfrm>
          <a:prstGeom prst="rect">
            <a:avLst/>
          </a:prstGeom>
          <a:noFill/>
        </p:spPr>
        <p:txBody>
          <a:bodyPr wrap="square" lIns="0" rIns="0" tIns="0" bIns="0" anchor="ctr">
            <a:spAutoFit/>
          </a:bodyPr>
          <a:lstStyle/>
          <a:p>
            <a:pPr algn="ctr"/>
            <a:r>
              <a:rPr sz="2400" b="1" i="0">
                <a:solidFill>
                  <a:srgbClr val="1B2A4A"/>
                </a:solidFill>
                <a:latin typeface="Calibri"/>
              </a:rPr>
              <a:t>$1,000M</a:t>
            </a:r>
          </a:p>
        </p:txBody>
      </p:sp>
      <p:sp>
        <p:nvSpPr>
          <p:cNvPr id="12" name="TextBox 11"/>
          <p:cNvSpPr txBox="1"/>
          <p:nvPr/>
        </p:nvSpPr>
        <p:spPr>
          <a:xfrm>
            <a:off x="3246120" y="2084832"/>
            <a:ext cx="2523744" cy="256032"/>
          </a:xfrm>
          <a:prstGeom prst="rect">
            <a:avLst/>
          </a:prstGeom>
          <a:noFill/>
        </p:spPr>
        <p:txBody>
          <a:bodyPr wrap="square" lIns="0" rIns="0" tIns="0" bIns="0">
            <a:spAutoFit/>
          </a:bodyPr>
          <a:lstStyle/>
          <a:p>
            <a:pPr algn="ctr"/>
            <a:r>
              <a:rPr sz="950" b="0" i="0">
                <a:solidFill>
                  <a:srgbClr val="6E6E6E"/>
                </a:solidFill>
                <a:latin typeface="Calibri"/>
              </a:rPr>
              <a:t>4.0x multiplier</a:t>
            </a:r>
          </a:p>
        </p:txBody>
      </p:sp>
      <p:sp>
        <p:nvSpPr>
          <p:cNvPr id="13" name="Rounded Rectangle 12"/>
          <p:cNvSpPr/>
          <p:nvPr/>
        </p:nvSpPr>
        <p:spPr>
          <a:xfrm>
            <a:off x="5943600" y="1417320"/>
            <a:ext cx="2615184" cy="960120"/>
          </a:xfrm>
          <a:prstGeom prst="roundRect">
            <a:avLst>
              <a:gd name="adj" fmla="val 6000"/>
            </a:avLst>
          </a:prstGeom>
          <a:solidFill>
            <a:srgbClr val="FFFFFF"/>
          </a:solidFill>
          <a:ln w="9525">
            <a:solidFill>
              <a:srgbClr val="E3E3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053328" y="1508760"/>
            <a:ext cx="2395728" cy="274320"/>
          </a:xfrm>
          <a:prstGeom prst="rect">
            <a:avLst/>
          </a:prstGeom>
          <a:noFill/>
        </p:spPr>
        <p:txBody>
          <a:bodyPr wrap="square" lIns="0" rIns="0" tIns="0" bIns="0">
            <a:spAutoFit/>
          </a:bodyPr>
          <a:lstStyle/>
          <a:p>
            <a:pPr algn="l"/>
            <a:r>
              <a:rPr sz="950" b="1" i="0">
                <a:solidFill>
                  <a:srgbClr val="6E6E6E"/>
                </a:solidFill>
                <a:latin typeface="Calibri"/>
              </a:rPr>
              <a:t>●  TOFFEE WC26 MAU</a:t>
            </a:r>
          </a:p>
        </p:txBody>
      </p:sp>
      <p:sp>
        <p:nvSpPr>
          <p:cNvPr id="15" name="TextBox 14"/>
          <p:cNvSpPr txBox="1"/>
          <p:nvPr/>
        </p:nvSpPr>
        <p:spPr>
          <a:xfrm>
            <a:off x="5989320" y="1764792"/>
            <a:ext cx="2523744" cy="320040"/>
          </a:xfrm>
          <a:prstGeom prst="rect">
            <a:avLst/>
          </a:prstGeom>
          <a:noFill/>
        </p:spPr>
        <p:txBody>
          <a:bodyPr wrap="square" lIns="0" rIns="0" tIns="0" bIns="0" anchor="ctr">
            <a:spAutoFit/>
          </a:bodyPr>
          <a:lstStyle/>
          <a:p>
            <a:pPr algn="ctr"/>
            <a:r>
              <a:rPr sz="2400" b="1" i="0">
                <a:solidFill>
                  <a:srgbClr val="1B2A4A"/>
                </a:solidFill>
                <a:latin typeface="Calibri"/>
              </a:rPr>
              <a:t>20M</a:t>
            </a:r>
          </a:p>
        </p:txBody>
      </p:sp>
      <p:sp>
        <p:nvSpPr>
          <p:cNvPr id="16" name="TextBox 15"/>
          <p:cNvSpPr txBox="1"/>
          <p:nvPr/>
        </p:nvSpPr>
        <p:spPr>
          <a:xfrm>
            <a:off x="5989320" y="2084832"/>
            <a:ext cx="2523744" cy="256032"/>
          </a:xfrm>
          <a:prstGeom prst="rect">
            <a:avLst/>
          </a:prstGeom>
          <a:noFill/>
        </p:spPr>
        <p:txBody>
          <a:bodyPr wrap="square" lIns="0" rIns="0" tIns="0" bIns="0">
            <a:spAutoFit/>
          </a:bodyPr>
          <a:lstStyle/>
          <a:p>
            <a:pPr algn="ctr"/>
            <a:r>
              <a:rPr sz="950" b="0" i="0">
                <a:solidFill>
                  <a:srgbClr val="6E6E6E"/>
                </a:solidFill>
                <a:latin typeface="Calibri"/>
              </a:rPr>
              <a:t>vs. 15M WC22 final</a:t>
            </a:r>
          </a:p>
        </p:txBody>
      </p:sp>
      <p:sp>
        <p:nvSpPr>
          <p:cNvPr id="17" name="Rounded Rectangle 16"/>
          <p:cNvSpPr/>
          <p:nvPr/>
        </p:nvSpPr>
        <p:spPr>
          <a:xfrm>
            <a:off x="8686800" y="1417320"/>
            <a:ext cx="2615184" cy="960120"/>
          </a:xfrm>
          <a:prstGeom prst="roundRect">
            <a:avLst>
              <a:gd name="adj" fmla="val 6000"/>
            </a:avLst>
          </a:prstGeom>
          <a:solidFill>
            <a:srgbClr val="FFFFFF"/>
          </a:solidFill>
          <a:ln w="9525">
            <a:solidFill>
              <a:srgbClr val="E3E3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796528" y="1508760"/>
            <a:ext cx="2395728" cy="274320"/>
          </a:xfrm>
          <a:prstGeom prst="rect">
            <a:avLst/>
          </a:prstGeom>
          <a:noFill/>
        </p:spPr>
        <p:txBody>
          <a:bodyPr wrap="square" lIns="0" rIns="0" tIns="0" bIns="0">
            <a:spAutoFit/>
          </a:bodyPr>
          <a:lstStyle/>
          <a:p>
            <a:pPr algn="l"/>
            <a:r>
              <a:rPr sz="950" b="1" i="0">
                <a:solidFill>
                  <a:srgbClr val="6E6E6E"/>
                </a:solidFill>
                <a:latin typeface="Calibri"/>
              </a:rPr>
              <a:t>●  GROUP FINTECH MAU</a:t>
            </a:r>
          </a:p>
        </p:txBody>
      </p:sp>
      <p:sp>
        <p:nvSpPr>
          <p:cNvPr id="19" name="TextBox 18"/>
          <p:cNvSpPr txBox="1"/>
          <p:nvPr/>
        </p:nvSpPr>
        <p:spPr>
          <a:xfrm>
            <a:off x="8732520" y="1764792"/>
            <a:ext cx="2523744" cy="320040"/>
          </a:xfrm>
          <a:prstGeom prst="rect">
            <a:avLst/>
          </a:prstGeom>
          <a:noFill/>
        </p:spPr>
        <p:txBody>
          <a:bodyPr wrap="square" lIns="0" rIns="0" tIns="0" bIns="0" anchor="ctr">
            <a:spAutoFit/>
          </a:bodyPr>
          <a:lstStyle/>
          <a:p>
            <a:pPr algn="ctr"/>
            <a:r>
              <a:rPr sz="2400" b="1" i="0">
                <a:solidFill>
                  <a:srgbClr val="1B2A4A"/>
                </a:solidFill>
                <a:latin typeface="Calibri"/>
              </a:rPr>
              <a:t>21.6M</a:t>
            </a:r>
          </a:p>
        </p:txBody>
      </p:sp>
      <p:sp>
        <p:nvSpPr>
          <p:cNvPr id="20" name="TextBox 19"/>
          <p:cNvSpPr txBox="1"/>
          <p:nvPr/>
        </p:nvSpPr>
        <p:spPr>
          <a:xfrm>
            <a:off x="8732520" y="2084832"/>
            <a:ext cx="2523744" cy="256032"/>
          </a:xfrm>
          <a:prstGeom prst="rect">
            <a:avLst/>
          </a:prstGeom>
          <a:noFill/>
        </p:spPr>
        <p:txBody>
          <a:bodyPr wrap="square" lIns="0" rIns="0" tIns="0" bIns="0">
            <a:spAutoFit/>
          </a:bodyPr>
          <a:lstStyle/>
          <a:p>
            <a:pPr algn="ctr"/>
            <a:r>
              <a:rPr sz="950" b="0" i="0">
                <a:solidFill>
                  <a:srgbClr val="6E6E6E"/>
                </a:solidFill>
                <a:latin typeface="Calibri"/>
              </a:rPr>
              <a:t>across 6 markets</a:t>
            </a:r>
          </a:p>
        </p:txBody>
      </p:sp>
      <p:graphicFrame>
        <p:nvGraphicFramePr>
          <p:cNvPr id="21" name="Chart 20"/>
          <p:cNvGraphicFramePr>
            <a:graphicFrameLocks noGrp="1"/>
          </p:cNvGraphicFramePr>
          <p:nvPr/>
        </p:nvGraphicFramePr>
        <p:xfrm>
          <a:off x="457200" y="2697480"/>
          <a:ext cx="3657600" cy="3108960"/>
        </p:xfrm>
        <a:graphic>
          <a:graphicData uri="http://schemas.openxmlformats.org/drawingml/2006/chart">
            <c:chart xmlns:c="http://schemas.openxmlformats.org/drawingml/2006/chart" r:id="rId2"/>
          </a:graphicData>
        </a:graphic>
      </p:graphicFrame>
      <p:sp>
        <p:nvSpPr>
          <p:cNvPr id="22" name="TextBox 21"/>
          <p:cNvSpPr txBox="1"/>
          <p:nvPr/>
        </p:nvSpPr>
        <p:spPr>
          <a:xfrm>
            <a:off x="4434840" y="2514600"/>
            <a:ext cx="7315200" cy="274320"/>
          </a:xfrm>
          <a:prstGeom prst="rect">
            <a:avLst/>
          </a:prstGeom>
          <a:noFill/>
        </p:spPr>
        <p:txBody>
          <a:bodyPr wrap="square" lIns="0" rIns="0" tIns="0" bIns="0">
            <a:spAutoFit/>
          </a:bodyPr>
          <a:lstStyle/>
          <a:p>
            <a:pPr algn="l"/>
            <a:r>
              <a:rPr sz="1200" b="1" i="0">
                <a:solidFill>
                  <a:srgbClr val="1B2A4A"/>
                </a:solidFill>
                <a:latin typeface="Calibri"/>
              </a:rPr>
              <a:t>STRATEGIC PILLARS</a:t>
            </a:r>
          </a:p>
        </p:txBody>
      </p:sp>
      <p:sp>
        <p:nvSpPr>
          <p:cNvPr id="23" name="Oval 22"/>
          <p:cNvSpPr/>
          <p:nvPr/>
        </p:nvSpPr>
        <p:spPr>
          <a:xfrm>
            <a:off x="4434840" y="2926080"/>
            <a:ext cx="146304" cy="146304"/>
          </a:xfrm>
          <a:prstGeom prst="ellipse">
            <a:avLst/>
          </a:prstGeom>
          <a:solidFill>
            <a:srgbClr val="B08D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09160" y="2852928"/>
            <a:ext cx="1828800" cy="274320"/>
          </a:xfrm>
          <a:prstGeom prst="rect">
            <a:avLst/>
          </a:prstGeom>
          <a:noFill/>
        </p:spPr>
        <p:txBody>
          <a:bodyPr wrap="square" lIns="0" rIns="0" tIns="0" bIns="0">
            <a:spAutoFit/>
          </a:bodyPr>
          <a:lstStyle/>
          <a:p>
            <a:pPr algn="l"/>
            <a:r>
              <a:rPr sz="1150" b="1" i="0">
                <a:solidFill>
                  <a:srgbClr val="1B2A4A"/>
                </a:solidFill>
                <a:latin typeface="Calibri"/>
              </a:rPr>
              <a:t>Digital Ecosystem</a:t>
            </a:r>
          </a:p>
        </p:txBody>
      </p:sp>
      <p:sp>
        <p:nvSpPr>
          <p:cNvPr id="25" name="TextBox 24"/>
          <p:cNvSpPr txBox="1"/>
          <p:nvPr/>
        </p:nvSpPr>
        <p:spPr>
          <a:xfrm>
            <a:off x="4709160" y="3136392"/>
            <a:ext cx="6949440" cy="457200"/>
          </a:xfrm>
          <a:prstGeom prst="rect">
            <a:avLst/>
          </a:prstGeom>
          <a:noFill/>
        </p:spPr>
        <p:txBody>
          <a:bodyPr wrap="square" lIns="0" rIns="0" tIns="0" bIns="0">
            <a:spAutoFit/>
          </a:bodyPr>
          <a:lstStyle/>
          <a:p>
            <a:pPr algn="l"/>
            <a:r>
              <a:rPr sz="1000" b="0" i="0">
                <a:solidFill>
                  <a:srgbClr val="222222"/>
                </a:solidFill>
                <a:latin typeface="Calibri"/>
              </a:rPr>
              <a:t>Toffee OTT platform scaled to national-media asset; secured 2026 World Cup rights</a:t>
            </a:r>
          </a:p>
        </p:txBody>
      </p:sp>
      <p:sp>
        <p:nvSpPr>
          <p:cNvPr id="26" name="Oval 25"/>
          <p:cNvSpPr/>
          <p:nvPr/>
        </p:nvSpPr>
        <p:spPr>
          <a:xfrm>
            <a:off x="4434840" y="3721608"/>
            <a:ext cx="146304" cy="146304"/>
          </a:xfrm>
          <a:prstGeom prst="ellipse">
            <a:avLst/>
          </a:prstGeom>
          <a:solidFill>
            <a:srgbClr val="B08D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09160" y="3648456"/>
            <a:ext cx="1828800" cy="274320"/>
          </a:xfrm>
          <a:prstGeom prst="rect">
            <a:avLst/>
          </a:prstGeom>
          <a:noFill/>
        </p:spPr>
        <p:txBody>
          <a:bodyPr wrap="square" lIns="0" rIns="0" tIns="0" bIns="0">
            <a:spAutoFit/>
          </a:bodyPr>
          <a:lstStyle/>
          <a:p>
            <a:pPr algn="l"/>
            <a:r>
              <a:rPr sz="1150" b="1" i="0">
                <a:solidFill>
                  <a:srgbClr val="1B2A4A"/>
                </a:solidFill>
                <a:latin typeface="Calibri"/>
              </a:rPr>
              <a:t>AI Initiatives</a:t>
            </a:r>
          </a:p>
        </p:txBody>
      </p:sp>
      <p:sp>
        <p:nvSpPr>
          <p:cNvPr id="28" name="TextBox 27"/>
          <p:cNvSpPr txBox="1"/>
          <p:nvPr/>
        </p:nvSpPr>
        <p:spPr>
          <a:xfrm>
            <a:off x="4709160" y="3931920"/>
            <a:ext cx="6949440" cy="457200"/>
          </a:xfrm>
          <a:prstGeom prst="rect">
            <a:avLst/>
          </a:prstGeom>
          <a:noFill/>
        </p:spPr>
        <p:txBody>
          <a:bodyPr wrap="square" lIns="0" rIns="0" tIns="0" bIns="0">
            <a:spAutoFit/>
          </a:bodyPr>
          <a:lstStyle/>
          <a:p>
            <a:pPr algn="l"/>
            <a:r>
              <a:rPr sz="1000" b="0" i="0">
                <a:solidFill>
                  <a:srgbClr val="222222"/>
                </a:solidFill>
                <a:latin typeface="Calibri"/>
              </a:rPr>
              <a:t>RYZE — Bangladesh's first AI-powered digital lifestyle package for youth demographic</a:t>
            </a:r>
          </a:p>
        </p:txBody>
      </p:sp>
      <p:sp>
        <p:nvSpPr>
          <p:cNvPr id="29" name="Oval 28"/>
          <p:cNvSpPr/>
          <p:nvPr/>
        </p:nvSpPr>
        <p:spPr>
          <a:xfrm>
            <a:off x="4434840" y="4517136"/>
            <a:ext cx="146304" cy="146304"/>
          </a:xfrm>
          <a:prstGeom prst="ellipse">
            <a:avLst/>
          </a:prstGeom>
          <a:solidFill>
            <a:srgbClr val="B08D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709160" y="4443984"/>
            <a:ext cx="1828800" cy="274320"/>
          </a:xfrm>
          <a:prstGeom prst="rect">
            <a:avLst/>
          </a:prstGeom>
          <a:noFill/>
        </p:spPr>
        <p:txBody>
          <a:bodyPr wrap="square" lIns="0" rIns="0" tIns="0" bIns="0">
            <a:spAutoFit/>
          </a:bodyPr>
          <a:lstStyle/>
          <a:p>
            <a:pPr algn="l"/>
            <a:r>
              <a:rPr sz="1150" b="1" i="0">
                <a:solidFill>
                  <a:srgbClr val="1B2A4A"/>
                </a:solidFill>
                <a:latin typeface="Calibri"/>
              </a:rPr>
              <a:t>Fintech Opportunity</a:t>
            </a:r>
          </a:p>
        </p:txBody>
      </p:sp>
      <p:sp>
        <p:nvSpPr>
          <p:cNvPr id="31" name="TextBox 30"/>
          <p:cNvSpPr txBox="1"/>
          <p:nvPr/>
        </p:nvSpPr>
        <p:spPr>
          <a:xfrm>
            <a:off x="4709160" y="4727448"/>
            <a:ext cx="6949440" cy="457200"/>
          </a:xfrm>
          <a:prstGeom prst="rect">
            <a:avLst/>
          </a:prstGeom>
          <a:noFill/>
        </p:spPr>
        <p:txBody>
          <a:bodyPr wrap="square" lIns="0" rIns="0" tIns="0" bIns="0">
            <a:spAutoFit/>
          </a:bodyPr>
          <a:lstStyle/>
          <a:p>
            <a:pPr algn="l"/>
            <a:r>
              <a:rPr sz="1000" b="0" i="0">
                <a:solidFill>
                  <a:srgbClr val="222222"/>
                </a:solidFill>
                <a:latin typeface="Calibri"/>
              </a:rPr>
              <a:t>Digital banking license application pending; interim bKash partnership in place</a:t>
            </a:r>
          </a:p>
        </p:txBody>
      </p:sp>
      <p:sp>
        <p:nvSpPr>
          <p:cNvPr id="32" name="Oval 31"/>
          <p:cNvSpPr/>
          <p:nvPr/>
        </p:nvSpPr>
        <p:spPr>
          <a:xfrm>
            <a:off x="4434840" y="5312664"/>
            <a:ext cx="146304" cy="146304"/>
          </a:xfrm>
          <a:prstGeom prst="ellipse">
            <a:avLst/>
          </a:prstGeom>
          <a:solidFill>
            <a:srgbClr val="B08D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709160" y="5239512"/>
            <a:ext cx="1828800" cy="274320"/>
          </a:xfrm>
          <a:prstGeom prst="rect">
            <a:avLst/>
          </a:prstGeom>
          <a:noFill/>
        </p:spPr>
        <p:txBody>
          <a:bodyPr wrap="square" lIns="0" rIns="0" tIns="0" bIns="0">
            <a:spAutoFit/>
          </a:bodyPr>
          <a:lstStyle/>
          <a:p>
            <a:pPr algn="l"/>
            <a:r>
              <a:rPr sz="1150" b="1" i="0">
                <a:solidFill>
                  <a:srgbClr val="1B2A4A"/>
                </a:solidFill>
                <a:latin typeface="Calibri"/>
              </a:rPr>
              <a:t>Enterprise Services</a:t>
            </a:r>
          </a:p>
        </p:txBody>
      </p:sp>
      <p:sp>
        <p:nvSpPr>
          <p:cNvPr id="34" name="TextBox 33"/>
          <p:cNvSpPr txBox="1"/>
          <p:nvPr/>
        </p:nvSpPr>
        <p:spPr>
          <a:xfrm>
            <a:off x="4709160" y="5522976"/>
            <a:ext cx="6949440" cy="457200"/>
          </a:xfrm>
          <a:prstGeom prst="rect">
            <a:avLst/>
          </a:prstGeom>
          <a:noFill/>
        </p:spPr>
        <p:txBody>
          <a:bodyPr wrap="square" lIns="0" rIns="0" tIns="0" bIns="0">
            <a:spAutoFit/>
          </a:bodyPr>
          <a:lstStyle/>
          <a:p>
            <a:pPr algn="l"/>
            <a:r>
              <a:rPr sz="1000" b="0" i="0">
                <a:solidFill>
                  <a:srgbClr val="222222"/>
                </a:solidFill>
                <a:latin typeface="Calibri"/>
              </a:rPr>
              <a:t>Emerging B2B2C push into education, healthcare, agriculture, and IoT verticals</a:t>
            </a:r>
          </a:p>
        </p:txBody>
      </p:sp>
      <p:sp>
        <p:nvSpPr>
          <p:cNvPr id="35" name="TextBox 34"/>
          <p:cNvSpPr txBox="1"/>
          <p:nvPr/>
        </p:nvSpPr>
        <p:spPr>
          <a:xfrm>
            <a:off x="457200" y="6172200"/>
            <a:ext cx="10789920" cy="365760"/>
          </a:xfrm>
          <a:prstGeom prst="rect">
            <a:avLst/>
          </a:prstGeom>
          <a:noFill/>
        </p:spPr>
        <p:txBody>
          <a:bodyPr wrap="square" lIns="0" rIns="0" tIns="0" bIns="0">
            <a:spAutoFit/>
          </a:bodyPr>
          <a:lstStyle/>
          <a:p>
            <a:pPr algn="l"/>
            <a:r>
              <a:rPr sz="1050" b="0" i="1">
                <a:solidFill>
                  <a:srgbClr val="6E6E6E"/>
                </a:solidFill>
                <a:latin typeface="Calibri"/>
              </a:rPr>
              <a:t>Strategic recommendation: Bangladesh functions as VEON's proving ground for the digital-operator model — capital commitment signals rising conviction despite historical regulatory friction.</a:t>
            </a:r>
          </a:p>
        </p:txBody>
      </p:sp>
      <p:sp>
        <p:nvSpPr>
          <p:cNvPr id="36" name="TextBox 35"/>
          <p:cNvSpPr txBox="1"/>
          <p:nvPr/>
        </p:nvSpPr>
        <p:spPr>
          <a:xfrm>
            <a:off x="365760" y="6537960"/>
            <a:ext cx="7315200" cy="274320"/>
          </a:xfrm>
          <a:prstGeom prst="rect">
            <a:avLst/>
          </a:prstGeom>
          <a:noFill/>
        </p:spPr>
        <p:txBody>
          <a:bodyPr wrap="none" lIns="0" tIns="0" bIns="0">
            <a:spAutoFit/>
          </a:bodyPr>
          <a:lstStyle/>
          <a:p>
            <a:r>
              <a:rPr sz="800">
                <a:solidFill>
                  <a:srgbClr val="6E6E6E"/>
                </a:solidFill>
                <a:latin typeface="Calibri"/>
              </a:rPr>
              <a:t>VEON Ltd. (NASDAQ: VEON)  |  Institutional Equity Research  |  Strictly Confidential</a:t>
            </a:r>
          </a:p>
        </p:txBody>
      </p:sp>
      <p:sp>
        <p:nvSpPr>
          <p:cNvPr id="37" name="TextBox 36"/>
          <p:cNvSpPr txBox="1"/>
          <p:nvPr/>
        </p:nvSpPr>
        <p:spPr>
          <a:xfrm>
            <a:off x="11430000" y="6537960"/>
            <a:ext cx="548640" cy="274320"/>
          </a:xfrm>
          <a:prstGeom prst="rect">
            <a:avLst/>
          </a:prstGeom>
          <a:noFill/>
        </p:spPr>
        <p:txBody>
          <a:bodyPr wrap="none" lIns="0" tIns="0">
            <a:spAutoFit/>
          </a:bodyPr>
          <a:lstStyle/>
          <a:p>
            <a:pPr algn="r"/>
            <a:r>
              <a:rPr sz="900" b="1">
                <a:solidFill>
                  <a:srgbClr val="6E6E6E"/>
                </a:solidFill>
                <a:latin typeface="Calibri"/>
              </a:rPr>
              <a:t>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5486400" cy="274320"/>
          </a:xfrm>
          <a:prstGeom prst="rect">
            <a:avLst/>
          </a:prstGeom>
          <a:noFill/>
        </p:spPr>
        <p:txBody>
          <a:bodyPr wrap="square" lIns="0" rIns="0" tIns="0" bIns="0">
            <a:spAutoFit/>
          </a:bodyPr>
          <a:lstStyle/>
          <a:p>
            <a:pPr algn="l"/>
            <a:r>
              <a:rPr sz="1100" b="1" i="0">
                <a:solidFill>
                  <a:srgbClr val="B08D57"/>
                </a:solidFill>
                <a:latin typeface="Calibri"/>
              </a:rPr>
              <a:t>FY2021A-FY2025A, CONTINUING OPERATIONS</a:t>
            </a:r>
          </a:p>
        </p:txBody>
      </p:sp>
      <p:sp>
        <p:nvSpPr>
          <p:cNvPr id="4" name="TextBox 3"/>
          <p:cNvSpPr txBox="1"/>
          <p:nvPr/>
        </p:nvSpPr>
        <p:spPr>
          <a:xfrm>
            <a:off x="457200" y="502920"/>
            <a:ext cx="10515600" cy="548640"/>
          </a:xfrm>
          <a:prstGeom prst="rect">
            <a:avLst/>
          </a:prstGeom>
          <a:noFill/>
        </p:spPr>
        <p:txBody>
          <a:bodyPr wrap="square" lIns="0" rIns="0" tIns="0" bIns="0">
            <a:spAutoFit/>
          </a:bodyPr>
          <a:lstStyle/>
          <a:p>
            <a:pPr algn="l"/>
            <a:r>
              <a:rPr sz="2600" b="1" i="0">
                <a:solidFill>
                  <a:srgbClr val="1B2A4A"/>
                </a:solidFill>
                <a:latin typeface="Calibri"/>
              </a:rPr>
              <a:t>Historical Financial Performance</a:t>
            </a:r>
          </a:p>
        </p:txBody>
      </p:sp>
      <p:graphicFrame>
        <p:nvGraphicFramePr>
          <p:cNvPr id="5" name="Chart 4"/>
          <p:cNvGraphicFramePr>
            <a:graphicFrameLocks noGrp="1"/>
          </p:cNvGraphicFramePr>
          <p:nvPr/>
        </p:nvGraphicFramePr>
        <p:xfrm>
          <a:off x="457200" y="1417320"/>
          <a:ext cx="3657600" cy="2331720"/>
        </p:xfrm>
        <a:graphic>
          <a:graphicData uri="http://schemas.openxmlformats.org/drawingml/2006/chart">
            <c:chart xmlns:c="http://schemas.openxmlformats.org/drawingml/2006/chart" r:id="rId2"/>
          </a:graphicData>
        </a:graphic>
      </p:graphicFrame>
      <p:graphicFrame>
        <p:nvGraphicFramePr>
          <p:cNvPr id="6" name="Chart 5"/>
          <p:cNvGraphicFramePr>
            <a:graphicFrameLocks noGrp="1"/>
          </p:cNvGraphicFramePr>
          <p:nvPr/>
        </p:nvGraphicFramePr>
        <p:xfrm>
          <a:off x="457200" y="3886200"/>
          <a:ext cx="3657600" cy="2148840"/>
        </p:xfrm>
        <a:graphic>
          <a:graphicData uri="http://schemas.openxmlformats.org/drawingml/2006/chart">
            <c:chart xmlns:c="http://schemas.openxmlformats.org/drawingml/2006/chart" r:id="rId3"/>
          </a:graphicData>
        </a:graphic>
      </p:graphicFrame>
      <p:graphicFrame>
        <p:nvGraphicFramePr>
          <p:cNvPr id="7" name="Chart 6"/>
          <p:cNvGraphicFramePr>
            <a:graphicFrameLocks noGrp="1"/>
          </p:cNvGraphicFramePr>
          <p:nvPr/>
        </p:nvGraphicFramePr>
        <p:xfrm>
          <a:off x="4251960" y="1417320"/>
          <a:ext cx="3657600" cy="2331720"/>
        </p:xfrm>
        <a:graphic>
          <a:graphicData uri="http://schemas.openxmlformats.org/drawingml/2006/chart">
            <c:chart xmlns:c="http://schemas.openxmlformats.org/drawingml/2006/chart" r:id="rId4"/>
          </a:graphicData>
        </a:graphic>
      </p:graphicFrame>
      <p:graphicFrame>
        <p:nvGraphicFramePr>
          <p:cNvPr id="8" name="Chart 7"/>
          <p:cNvGraphicFramePr>
            <a:graphicFrameLocks noGrp="1"/>
          </p:cNvGraphicFramePr>
          <p:nvPr/>
        </p:nvGraphicFramePr>
        <p:xfrm>
          <a:off x="4251960" y="3886200"/>
          <a:ext cx="3657600" cy="2148840"/>
        </p:xfrm>
        <a:graphic>
          <a:graphicData uri="http://schemas.openxmlformats.org/drawingml/2006/chart">
            <c:chart xmlns:c="http://schemas.openxmlformats.org/drawingml/2006/chart" r:id="rId5"/>
          </a:graphicData>
        </a:graphic>
      </p:graphicFrame>
      <p:graphicFrame>
        <p:nvGraphicFramePr>
          <p:cNvPr id="9" name="Chart 8"/>
          <p:cNvGraphicFramePr>
            <a:graphicFrameLocks noGrp="1"/>
          </p:cNvGraphicFramePr>
          <p:nvPr/>
        </p:nvGraphicFramePr>
        <p:xfrm>
          <a:off x="8046720" y="1417320"/>
          <a:ext cx="3657600" cy="2331720"/>
        </p:xfrm>
        <a:graphic>
          <a:graphicData uri="http://schemas.openxmlformats.org/drawingml/2006/chart">
            <c:chart xmlns:c="http://schemas.openxmlformats.org/drawingml/2006/chart" r:id="rId6"/>
          </a:graphicData>
        </a:graphic>
      </p:graphicFrame>
      <p:graphicFrame>
        <p:nvGraphicFramePr>
          <p:cNvPr id="10" name="Chart 9"/>
          <p:cNvGraphicFramePr>
            <a:graphicFrameLocks noGrp="1"/>
          </p:cNvGraphicFramePr>
          <p:nvPr/>
        </p:nvGraphicFramePr>
        <p:xfrm>
          <a:off x="8046720" y="3886200"/>
          <a:ext cx="3657600" cy="2148840"/>
        </p:xfrm>
        <a:graphic>
          <a:graphicData uri="http://schemas.openxmlformats.org/drawingml/2006/chart">
            <c:chart xmlns:c="http://schemas.openxmlformats.org/drawingml/2006/chart" r:id="rId7"/>
          </a:graphicData>
        </a:graphic>
      </p:graphicFrame>
      <p:sp>
        <p:nvSpPr>
          <p:cNvPr id="11" name="TextBox 10"/>
          <p:cNvSpPr txBox="1"/>
          <p:nvPr/>
        </p:nvSpPr>
        <p:spPr>
          <a:xfrm>
            <a:off x="457200" y="6172200"/>
            <a:ext cx="11247120" cy="320040"/>
          </a:xfrm>
          <a:prstGeom prst="rect">
            <a:avLst/>
          </a:prstGeom>
          <a:noFill/>
        </p:spPr>
        <p:txBody>
          <a:bodyPr wrap="square" lIns="0" rIns="0" tIns="0" bIns="0">
            <a:spAutoFit/>
          </a:bodyPr>
          <a:lstStyle/>
          <a:p>
            <a:pPr algn="l"/>
            <a:r>
              <a:rPr sz="950" b="0" i="1">
                <a:solidFill>
                  <a:srgbClr val="6E6E6E"/>
                </a:solidFill>
                <a:latin typeface="Calibri"/>
              </a:rPr>
              <a:t>FY2021 shown on restated continuing-operations basis (ex-Russia); FCF margin fell from ~50% (FY21-22) to ~13-14% (FY24-25) — a key monitoring metric.</a:t>
            </a:r>
          </a:p>
        </p:txBody>
      </p:sp>
      <p:sp>
        <p:nvSpPr>
          <p:cNvPr id="12" name="TextBox 11"/>
          <p:cNvSpPr txBox="1"/>
          <p:nvPr/>
        </p:nvSpPr>
        <p:spPr>
          <a:xfrm>
            <a:off x="365760" y="6537960"/>
            <a:ext cx="7315200" cy="274320"/>
          </a:xfrm>
          <a:prstGeom prst="rect">
            <a:avLst/>
          </a:prstGeom>
          <a:noFill/>
        </p:spPr>
        <p:txBody>
          <a:bodyPr wrap="none" lIns="0" tIns="0" bIns="0">
            <a:spAutoFit/>
          </a:bodyPr>
          <a:lstStyle/>
          <a:p>
            <a:r>
              <a:rPr sz="800">
                <a:solidFill>
                  <a:srgbClr val="6E6E6E"/>
                </a:solidFill>
                <a:latin typeface="Calibri"/>
              </a:rPr>
              <a:t>VEON Ltd. (NASDAQ: VEON)  |  Institutional Equity Research  |  Strictly Confidential</a:t>
            </a:r>
          </a:p>
        </p:txBody>
      </p:sp>
      <p:sp>
        <p:nvSpPr>
          <p:cNvPr id="13" name="TextBox 12"/>
          <p:cNvSpPr txBox="1"/>
          <p:nvPr/>
        </p:nvSpPr>
        <p:spPr>
          <a:xfrm>
            <a:off x="11430000" y="6537960"/>
            <a:ext cx="548640" cy="274320"/>
          </a:xfrm>
          <a:prstGeom prst="rect">
            <a:avLst/>
          </a:prstGeom>
          <a:noFill/>
        </p:spPr>
        <p:txBody>
          <a:bodyPr wrap="none" lIns="0" tIns="0">
            <a:spAutoFit/>
          </a:bodyPr>
          <a:lstStyle/>
          <a:p>
            <a:pPr algn="r"/>
            <a:r>
              <a:rPr sz="900" b="1">
                <a:solidFill>
                  <a:srgbClr val="6E6E6E"/>
                </a:solidFill>
                <a:latin typeface="Calibri"/>
              </a:rPr>
              <a:t>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5486400" cy="274320"/>
          </a:xfrm>
          <a:prstGeom prst="rect">
            <a:avLst/>
          </a:prstGeom>
          <a:noFill/>
        </p:spPr>
        <p:txBody>
          <a:bodyPr wrap="square" lIns="0" rIns="0" tIns="0" bIns="0">
            <a:spAutoFit/>
          </a:bodyPr>
          <a:lstStyle/>
          <a:p>
            <a:pPr algn="l"/>
            <a:r>
              <a:rPr sz="1100" b="1" i="0">
                <a:solidFill>
                  <a:srgbClr val="B08D57"/>
                </a:solidFill>
                <a:latin typeface="Calibri"/>
              </a:rPr>
              <a:t>FY2026E-FY2030E — ASSUMPTION-DRIVEN</a:t>
            </a:r>
          </a:p>
        </p:txBody>
      </p:sp>
      <p:sp>
        <p:nvSpPr>
          <p:cNvPr id="4" name="TextBox 3"/>
          <p:cNvSpPr txBox="1"/>
          <p:nvPr/>
        </p:nvSpPr>
        <p:spPr>
          <a:xfrm>
            <a:off x="457200" y="502920"/>
            <a:ext cx="10515600" cy="548640"/>
          </a:xfrm>
          <a:prstGeom prst="rect">
            <a:avLst/>
          </a:prstGeom>
          <a:noFill/>
        </p:spPr>
        <p:txBody>
          <a:bodyPr wrap="square" lIns="0" rIns="0" tIns="0" bIns="0">
            <a:spAutoFit/>
          </a:bodyPr>
          <a:lstStyle/>
          <a:p>
            <a:pPr algn="l"/>
            <a:r>
              <a:rPr sz="2600" b="1" i="0">
                <a:solidFill>
                  <a:srgbClr val="1B2A4A"/>
                </a:solidFill>
                <a:latin typeface="Calibri"/>
              </a:rPr>
              <a:t>Forecast</a:t>
            </a:r>
          </a:p>
        </p:txBody>
      </p:sp>
      <p:sp>
        <p:nvSpPr>
          <p:cNvPr id="5" name="TextBox 4"/>
          <p:cNvSpPr txBox="1"/>
          <p:nvPr/>
        </p:nvSpPr>
        <p:spPr>
          <a:xfrm>
            <a:off x="457200" y="1371600"/>
            <a:ext cx="11247120" cy="365760"/>
          </a:xfrm>
          <a:prstGeom prst="rect">
            <a:avLst/>
          </a:prstGeom>
          <a:noFill/>
        </p:spPr>
        <p:txBody>
          <a:bodyPr wrap="square" lIns="0" rIns="0" tIns="0" bIns="0">
            <a:spAutoFit/>
          </a:bodyPr>
          <a:lstStyle/>
          <a:p>
            <a:pPr algn="l"/>
            <a:r>
              <a:rPr sz="1150" b="0" i="1">
                <a:solidFill>
                  <a:srgbClr val="A94442"/>
                </a:solidFill>
                <a:latin typeface="Calibri"/>
              </a:rPr>
              <a:t>Forward figures are assumption-driven outputs of the valuation workbook and are intentionally left blank pending analyst/management guidance — no figures are estimated or fabricated in this deck.</a:t>
            </a:r>
          </a:p>
        </p:txBody>
      </p:sp>
      <p:sp>
        <p:nvSpPr>
          <p:cNvPr id="6" name="TextBox 5"/>
          <p:cNvSpPr txBox="1"/>
          <p:nvPr/>
        </p:nvSpPr>
        <p:spPr>
          <a:xfrm>
            <a:off x="457200" y="1965960"/>
            <a:ext cx="5486400" cy="274320"/>
          </a:xfrm>
          <a:prstGeom prst="rect">
            <a:avLst/>
          </a:prstGeom>
          <a:noFill/>
        </p:spPr>
        <p:txBody>
          <a:bodyPr wrap="square" lIns="0" rIns="0" tIns="0" bIns="0">
            <a:spAutoFit/>
          </a:bodyPr>
          <a:lstStyle/>
          <a:p>
            <a:pPr algn="l"/>
            <a:r>
              <a:rPr sz="1200" b="1" i="0">
                <a:solidFill>
                  <a:srgbClr val="1B2A4A"/>
                </a:solidFill>
                <a:latin typeface="Calibri"/>
              </a:rPr>
              <a:t>FORECAST FRAMEWORK</a:t>
            </a:r>
          </a:p>
        </p:txBody>
      </p:sp>
      <p:graphicFrame>
        <p:nvGraphicFramePr>
          <p:cNvPr id="7" name="Table 6"/>
          <p:cNvGraphicFramePr>
            <a:graphicFrameLocks noGrp="1"/>
          </p:cNvGraphicFramePr>
          <p:nvPr/>
        </p:nvGraphicFramePr>
        <p:xfrm>
          <a:off x="457200" y="2286000"/>
          <a:ext cx="5486400" cy="2103120"/>
        </p:xfrm>
        <a:graphic>
          <a:graphicData uri="http://schemas.openxmlformats.org/drawingml/2006/table">
            <a:tbl>
              <a:tblPr firstRow="1" bandRow="1">
                <a:tableStyleId>{5C22544A-7EE6-4342-B048-85BDC9FD1C3A}</a:tableStyleId>
              </a:tblPr>
              <a:tblGrid>
                <a:gridCol w="2468880"/>
                <a:gridCol w="3017520"/>
              </a:tblGrid>
              <a:tr h="300445">
                <a:tc>
                  <a:txBody>
                    <a:bodyPr/>
                    <a:lstStyle/>
                    <a:p>
                      <a:pPr algn="l"/>
                      <a:r>
                        <a:rPr sz="1050" b="1">
                          <a:solidFill>
                            <a:srgbClr val="FFFFFF"/>
                          </a:solidFill>
                          <a:latin typeface="Calibri"/>
                        </a:rPr>
                        <a:t>Driver</a:t>
                      </a:r>
                    </a:p>
                  </a:txBody>
                  <a:tcPr anchor="ctr" marT="25400" marB="25400">
                    <a:solidFill>
                      <a:srgbClr val="1B2A4A"/>
                    </a:solidFill>
                  </a:tcPr>
                </a:tc>
                <a:tc>
                  <a:txBody>
                    <a:bodyPr/>
                    <a:lstStyle/>
                    <a:p>
                      <a:pPr algn="ctr"/>
                      <a:r>
                        <a:rPr sz="1050" b="1">
                          <a:solidFill>
                            <a:srgbClr val="FFFFFF"/>
                          </a:solidFill>
                          <a:latin typeface="Calibri"/>
                        </a:rPr>
                        <a:t>Basis</a:t>
                      </a:r>
                    </a:p>
                  </a:txBody>
                  <a:tcPr anchor="ctr" marT="25400" marB="25400">
                    <a:solidFill>
                      <a:srgbClr val="1B2A4A"/>
                    </a:solidFill>
                  </a:tcPr>
                </a:tc>
              </a:tr>
              <a:tr h="300445">
                <a:tc>
                  <a:txBody>
                    <a:bodyPr/>
                    <a:lstStyle/>
                    <a:p>
                      <a:pPr algn="l"/>
                      <a:r>
                        <a:rPr sz="1050" b="1">
                          <a:solidFill>
                            <a:srgbClr val="222222"/>
                          </a:solidFill>
                          <a:latin typeface="Calibri"/>
                        </a:rPr>
                        <a:t>Revenue Growth</a:t>
                      </a:r>
                    </a:p>
                  </a:txBody>
                  <a:tcPr anchor="ctr" marT="12700" marB="12700">
                    <a:solidFill>
                      <a:srgbClr val="FFFFFF"/>
                    </a:solidFill>
                  </a:tcPr>
                </a:tc>
                <a:tc>
                  <a:txBody>
                    <a:bodyPr/>
                    <a:lstStyle/>
                    <a:p>
                      <a:pPr algn="ctr"/>
                      <a:r>
                        <a:rPr sz="1050">
                          <a:solidFill>
                            <a:srgbClr val="222222"/>
                          </a:solidFill>
                          <a:latin typeface="Calibri"/>
                        </a:rPr>
                        <a:t>Segment-level, by market</a:t>
                      </a:r>
                    </a:p>
                  </a:txBody>
                  <a:tcPr anchor="ctr" marT="12700" marB="12700">
                    <a:solidFill>
                      <a:srgbClr val="FFFFFF"/>
                    </a:solidFill>
                  </a:tcPr>
                </a:tc>
              </a:tr>
              <a:tr h="300445">
                <a:tc>
                  <a:txBody>
                    <a:bodyPr/>
                    <a:lstStyle/>
                    <a:p>
                      <a:pPr algn="l"/>
                      <a:r>
                        <a:rPr sz="1050" b="1">
                          <a:solidFill>
                            <a:srgbClr val="222222"/>
                          </a:solidFill>
                          <a:latin typeface="Calibri"/>
                        </a:rPr>
                        <a:t>EBITDA Margin</a:t>
                      </a:r>
                    </a:p>
                  </a:txBody>
                  <a:tcPr anchor="ctr" marT="12700" marB="12700">
                    <a:solidFill>
                      <a:srgbClr val="F7F7F5"/>
                    </a:solidFill>
                  </a:tcPr>
                </a:tc>
                <a:tc>
                  <a:txBody>
                    <a:bodyPr/>
                    <a:lstStyle/>
                    <a:p>
                      <a:pPr algn="ctr"/>
                      <a:r>
                        <a:rPr sz="1050">
                          <a:solidFill>
                            <a:srgbClr val="222222"/>
                          </a:solidFill>
                          <a:latin typeface="Calibri"/>
                        </a:rPr>
                        <a:t>Segment-level target margin</a:t>
                      </a:r>
                    </a:p>
                  </a:txBody>
                  <a:tcPr anchor="ctr" marT="12700" marB="12700">
                    <a:solidFill>
                      <a:srgbClr val="F7F7F5"/>
                    </a:solidFill>
                  </a:tcPr>
                </a:tc>
              </a:tr>
              <a:tr h="300445">
                <a:tc>
                  <a:txBody>
                    <a:bodyPr/>
                    <a:lstStyle/>
                    <a:p>
                      <a:pPr algn="l"/>
                      <a:r>
                        <a:rPr sz="1050" b="1">
                          <a:solidFill>
                            <a:srgbClr val="222222"/>
                          </a:solidFill>
                          <a:latin typeface="Calibri"/>
                        </a:rPr>
                        <a:t>D&amp;A / CapEx</a:t>
                      </a:r>
                    </a:p>
                  </a:txBody>
                  <a:tcPr anchor="ctr" marT="12700" marB="12700">
                    <a:solidFill>
                      <a:srgbClr val="FFFFFF"/>
                    </a:solidFill>
                  </a:tcPr>
                </a:tc>
                <a:tc>
                  <a:txBody>
                    <a:bodyPr/>
                    <a:lstStyle/>
                    <a:p>
                      <a:pPr algn="ctr"/>
                      <a:r>
                        <a:rPr sz="1050">
                          <a:solidFill>
                            <a:srgbClr val="222222"/>
                          </a:solidFill>
                          <a:latin typeface="Calibri"/>
                        </a:rPr>
                        <a:t>% of revenue</a:t>
                      </a:r>
                    </a:p>
                  </a:txBody>
                  <a:tcPr anchor="ctr" marT="12700" marB="12700">
                    <a:solidFill>
                      <a:srgbClr val="FFFFFF"/>
                    </a:solidFill>
                  </a:tcPr>
                </a:tc>
              </a:tr>
              <a:tr h="300445">
                <a:tc>
                  <a:txBody>
                    <a:bodyPr/>
                    <a:lstStyle/>
                    <a:p>
                      <a:pPr algn="l"/>
                      <a:r>
                        <a:rPr sz="1050" b="1">
                          <a:solidFill>
                            <a:srgbClr val="222222"/>
                          </a:solidFill>
                          <a:latin typeface="Calibri"/>
                        </a:rPr>
                        <a:t>Tax Rate</a:t>
                      </a:r>
                    </a:p>
                  </a:txBody>
                  <a:tcPr anchor="ctr" marT="12700" marB="12700">
                    <a:solidFill>
                      <a:srgbClr val="F7F7F5"/>
                    </a:solidFill>
                  </a:tcPr>
                </a:tc>
                <a:tc>
                  <a:txBody>
                    <a:bodyPr/>
                    <a:lstStyle/>
                    <a:p>
                      <a:pPr algn="ctr"/>
                      <a:r>
                        <a:rPr sz="1050">
                          <a:solidFill>
                            <a:srgbClr val="222222"/>
                          </a:solidFill>
                          <a:latin typeface="Calibri"/>
                        </a:rPr>
                        <a:t>Analyst input</a:t>
                      </a:r>
                    </a:p>
                  </a:txBody>
                  <a:tcPr anchor="ctr" marT="12700" marB="12700">
                    <a:solidFill>
                      <a:srgbClr val="F7F7F5"/>
                    </a:solidFill>
                  </a:tcPr>
                </a:tc>
              </a:tr>
              <a:tr h="300445">
                <a:tc>
                  <a:txBody>
                    <a:bodyPr/>
                    <a:lstStyle/>
                    <a:p>
                      <a:pPr algn="l"/>
                      <a:r>
                        <a:rPr sz="1050" b="1">
                          <a:solidFill>
                            <a:srgbClr val="222222"/>
                          </a:solidFill>
                          <a:latin typeface="Calibri"/>
                        </a:rPr>
                        <a:t>WACC</a:t>
                      </a:r>
                    </a:p>
                  </a:txBody>
                  <a:tcPr anchor="ctr" marT="12700" marB="12700">
                    <a:solidFill>
                      <a:srgbClr val="FFFFFF"/>
                    </a:solidFill>
                  </a:tcPr>
                </a:tc>
                <a:tc>
                  <a:txBody>
                    <a:bodyPr/>
                    <a:lstStyle/>
                    <a:p>
                      <a:pPr algn="ctr"/>
                      <a:r>
                        <a:rPr sz="1050">
                          <a:solidFill>
                            <a:srgbClr val="222222"/>
                          </a:solidFill>
                          <a:latin typeface="Calibri"/>
                        </a:rPr>
                        <a:t>Bottom-up, by-market risk premia</a:t>
                      </a:r>
                    </a:p>
                  </a:txBody>
                  <a:tcPr anchor="ctr" marT="12700" marB="12700">
                    <a:solidFill>
                      <a:srgbClr val="FFFFFF"/>
                    </a:solidFill>
                  </a:tcPr>
                </a:tc>
              </a:tr>
              <a:tr h="300450">
                <a:tc>
                  <a:txBody>
                    <a:bodyPr/>
                    <a:lstStyle/>
                    <a:p>
                      <a:pPr algn="l"/>
                      <a:r>
                        <a:rPr sz="1050" b="1">
                          <a:solidFill>
                            <a:srgbClr val="222222"/>
                          </a:solidFill>
                          <a:latin typeface="Calibri"/>
                        </a:rPr>
                        <a:t>Terminal Growth</a:t>
                      </a:r>
                    </a:p>
                  </a:txBody>
                  <a:tcPr anchor="ctr" marT="12700" marB="12700">
                    <a:solidFill>
                      <a:srgbClr val="F7F7F5"/>
                    </a:solidFill>
                  </a:tcPr>
                </a:tc>
                <a:tc>
                  <a:txBody>
                    <a:bodyPr/>
                    <a:lstStyle/>
                    <a:p>
                      <a:pPr algn="ctr"/>
                      <a:r>
                        <a:rPr sz="1050">
                          <a:solidFill>
                            <a:srgbClr val="222222"/>
                          </a:solidFill>
                          <a:latin typeface="Calibri"/>
                        </a:rPr>
                        <a:t>Blended long-run GDP/inflation</a:t>
                      </a:r>
                    </a:p>
                  </a:txBody>
                  <a:tcPr anchor="ctr" marT="12700" marB="12700">
                    <a:solidFill>
                      <a:srgbClr val="F7F7F5"/>
                    </a:solidFill>
                  </a:tcPr>
                </a:tc>
              </a:tr>
            </a:tbl>
          </a:graphicData>
        </a:graphic>
      </p:graphicFrame>
      <p:sp>
        <p:nvSpPr>
          <p:cNvPr id="8" name="TextBox 7"/>
          <p:cNvSpPr txBox="1"/>
          <p:nvPr/>
        </p:nvSpPr>
        <p:spPr>
          <a:xfrm>
            <a:off x="6309360" y="1965960"/>
            <a:ext cx="5394960" cy="274320"/>
          </a:xfrm>
          <a:prstGeom prst="rect">
            <a:avLst/>
          </a:prstGeom>
          <a:noFill/>
        </p:spPr>
        <p:txBody>
          <a:bodyPr wrap="square" lIns="0" rIns="0" tIns="0" bIns="0">
            <a:spAutoFit/>
          </a:bodyPr>
          <a:lstStyle/>
          <a:p>
            <a:pPr algn="l"/>
            <a:r>
              <a:rPr sz="1200" b="1" i="0">
                <a:solidFill>
                  <a:srgbClr val="1B2A4A"/>
                </a:solidFill>
                <a:latin typeface="Calibri"/>
              </a:rPr>
              <a:t>FORECAST STRUCTURE (FY26E-FY30E)</a:t>
            </a:r>
          </a:p>
        </p:txBody>
      </p:sp>
      <p:sp>
        <p:nvSpPr>
          <p:cNvPr id="9" name="TextBox 8"/>
          <p:cNvSpPr txBox="1"/>
          <p:nvPr/>
        </p:nvSpPr>
        <p:spPr>
          <a:xfrm>
            <a:off x="6309360" y="2286000"/>
            <a:ext cx="5394960" cy="2103120"/>
          </a:xfrm>
          <a:prstGeom prst="rect">
            <a:avLst/>
          </a:prstGeom>
          <a:noFill/>
        </p:spPr>
        <p:txBody>
          <a:bodyPr wrap="square" lIns="0" rIns="0" tIns="0" bIns="0">
            <a:spAutoFit/>
          </a:bodyPr>
          <a:lstStyle/>
          <a:p>
            <a:pPr algn="l">
              <a:spcAft>
                <a:spcPts val="800"/>
              </a:spcAft>
            </a:pPr>
            <a:r>
              <a:rPr sz="1150">
                <a:solidFill>
                  <a:srgbClr val="222222"/>
                </a:solidFill>
                <a:latin typeface="Calibri"/>
              </a:rPr>
              <a:t>•  Revenue build: five-segment growth applied to FY2025A base</a:t>
            </a:r>
          </a:p>
          <a:p>
            <a:pPr algn="l">
              <a:spcAft>
                <a:spcPts val="800"/>
              </a:spcAft>
            </a:pPr>
            <a:r>
              <a:rPr sz="1150">
                <a:solidFill>
                  <a:srgbClr val="222222"/>
                </a:solidFill>
                <a:latin typeface="Calibri"/>
              </a:rPr>
              <a:t>•  EBITDA build: segment margin assumptions x segment revenue</a:t>
            </a:r>
          </a:p>
          <a:p>
            <a:pPr algn="l">
              <a:spcAft>
                <a:spcPts val="800"/>
              </a:spcAft>
            </a:pPr>
            <a:r>
              <a:rPr sz="1150">
                <a:solidFill>
                  <a:srgbClr val="222222"/>
                </a:solidFill>
                <a:latin typeface="Calibri"/>
              </a:rPr>
              <a:t>•  Unlevered FCF: EBIT x (1-tax) + D&amp;A - CapEx - ΔWC</a:t>
            </a:r>
          </a:p>
          <a:p>
            <a:pPr algn="l">
              <a:spcAft>
                <a:spcPts val="800"/>
              </a:spcAft>
            </a:pPr>
            <a:r>
              <a:rPr sz="1150">
                <a:solidFill>
                  <a:srgbClr val="222222"/>
                </a:solidFill>
                <a:latin typeface="Calibri"/>
              </a:rPr>
              <a:t>•  DCF: explicit FY26E-FY30E + Gordon Growth terminal value</a:t>
            </a:r>
          </a:p>
        </p:txBody>
      </p:sp>
      <p:sp>
        <p:nvSpPr>
          <p:cNvPr id="10" name="TextBox 9"/>
          <p:cNvSpPr txBox="1"/>
          <p:nvPr/>
        </p:nvSpPr>
        <p:spPr>
          <a:xfrm>
            <a:off x="457200" y="4572000"/>
            <a:ext cx="11247120" cy="274320"/>
          </a:xfrm>
          <a:prstGeom prst="rect">
            <a:avLst/>
          </a:prstGeom>
          <a:noFill/>
        </p:spPr>
        <p:txBody>
          <a:bodyPr wrap="square" lIns="0" rIns="0" tIns="0" bIns="0">
            <a:spAutoFit/>
          </a:bodyPr>
          <a:lstStyle/>
          <a:p>
            <a:pPr algn="l"/>
            <a:r>
              <a:rPr sz="1100" b="1" i="0">
                <a:solidFill>
                  <a:srgbClr val="6E6E6E"/>
                </a:solidFill>
                <a:latin typeface="Calibri"/>
              </a:rPr>
              <a:t>FORECAST OUTPUT — TO BE POPULATED FROM WORKBOOK</a:t>
            </a:r>
          </a:p>
        </p:txBody>
      </p:sp>
      <p:sp>
        <p:nvSpPr>
          <p:cNvPr id="11" name="Rounded Rectangle 10"/>
          <p:cNvSpPr/>
          <p:nvPr/>
        </p:nvSpPr>
        <p:spPr>
          <a:xfrm>
            <a:off x="457200" y="4892040"/>
            <a:ext cx="11247120" cy="1234440"/>
          </a:xfrm>
          <a:prstGeom prst="roundRect">
            <a:avLst>
              <a:gd name="adj" fmla="val 3000"/>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5074920"/>
            <a:ext cx="10881360" cy="914400"/>
          </a:xfrm>
          <a:prstGeom prst="rect">
            <a:avLst/>
          </a:prstGeom>
          <a:noFill/>
        </p:spPr>
        <p:txBody>
          <a:bodyPr wrap="square" lIns="0" rIns="0" tIns="0" bIns="0">
            <a:spAutoFit/>
          </a:bodyPr>
          <a:lstStyle/>
          <a:p>
            <a:pPr algn="l"/>
            <a:r>
              <a:rPr sz="1100" b="0" i="0">
                <a:solidFill>
                  <a:srgbClr val="222222"/>
                </a:solidFill>
                <a:latin typeface="Calibri"/>
              </a:rPr>
              <a:t>Once the Assumptions tab of the valuation workbook is populated with sourced growth, margin, and discount-rate inputs, Revenue Forecast, EBITDA Forecast and Unlevered FCF Forecast charts should be linked here directly from the workbook — maintaining single-source-of-truth consistency.</a:t>
            </a:r>
          </a:p>
        </p:txBody>
      </p:sp>
      <p:sp>
        <p:nvSpPr>
          <p:cNvPr id="13" name="TextBox 12"/>
          <p:cNvSpPr txBox="1"/>
          <p:nvPr/>
        </p:nvSpPr>
        <p:spPr>
          <a:xfrm>
            <a:off x="365760" y="6537960"/>
            <a:ext cx="7315200" cy="274320"/>
          </a:xfrm>
          <a:prstGeom prst="rect">
            <a:avLst/>
          </a:prstGeom>
          <a:noFill/>
        </p:spPr>
        <p:txBody>
          <a:bodyPr wrap="none" lIns="0" tIns="0" bIns="0">
            <a:spAutoFit/>
          </a:bodyPr>
          <a:lstStyle/>
          <a:p>
            <a:r>
              <a:rPr sz="800">
                <a:solidFill>
                  <a:srgbClr val="6E6E6E"/>
                </a:solidFill>
                <a:latin typeface="Calibri"/>
              </a:rPr>
              <a:t>VEON Ltd. (NASDAQ: VEON)  |  Institutional Equity Research  |  Strictly Confidential</a:t>
            </a:r>
          </a:p>
        </p:txBody>
      </p:sp>
      <p:sp>
        <p:nvSpPr>
          <p:cNvPr id="14" name="TextBox 13"/>
          <p:cNvSpPr txBox="1"/>
          <p:nvPr/>
        </p:nvSpPr>
        <p:spPr>
          <a:xfrm>
            <a:off x="11430000" y="6537960"/>
            <a:ext cx="548640" cy="274320"/>
          </a:xfrm>
          <a:prstGeom prst="rect">
            <a:avLst/>
          </a:prstGeom>
          <a:noFill/>
        </p:spPr>
        <p:txBody>
          <a:bodyPr wrap="none" lIns="0" tIns="0">
            <a:spAutoFit/>
          </a:bodyPr>
          <a:lstStyle/>
          <a:p>
            <a:pPr algn="r"/>
            <a:r>
              <a:rPr sz="900" b="1">
                <a:solidFill>
                  <a:srgbClr val="6E6E6E"/>
                </a:solidFill>
                <a:latin typeface="Calibri"/>
              </a:rPr>
              <a:t>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5486400" cy="274320"/>
          </a:xfrm>
          <a:prstGeom prst="rect">
            <a:avLst/>
          </a:prstGeom>
          <a:noFill/>
        </p:spPr>
        <p:txBody>
          <a:bodyPr wrap="square" lIns="0" rIns="0" tIns="0" bIns="0">
            <a:spAutoFit/>
          </a:bodyPr>
          <a:lstStyle/>
          <a:p>
            <a:pPr algn="l"/>
            <a:r>
              <a:rPr sz="1100" b="1" i="0">
                <a:solidFill>
                  <a:srgbClr val="B08D57"/>
                </a:solidFill>
                <a:latin typeface="Calibri"/>
              </a:rPr>
              <a:t>DCF, TRADING COMPARABLES &amp; SENSITIVITY</a:t>
            </a:r>
          </a:p>
        </p:txBody>
      </p:sp>
      <p:sp>
        <p:nvSpPr>
          <p:cNvPr id="4" name="TextBox 3"/>
          <p:cNvSpPr txBox="1"/>
          <p:nvPr/>
        </p:nvSpPr>
        <p:spPr>
          <a:xfrm>
            <a:off x="457200" y="502920"/>
            <a:ext cx="10515600" cy="548640"/>
          </a:xfrm>
          <a:prstGeom prst="rect">
            <a:avLst/>
          </a:prstGeom>
          <a:noFill/>
        </p:spPr>
        <p:txBody>
          <a:bodyPr wrap="square" lIns="0" rIns="0" tIns="0" bIns="0">
            <a:spAutoFit/>
          </a:bodyPr>
          <a:lstStyle/>
          <a:p>
            <a:pPr algn="l"/>
            <a:r>
              <a:rPr sz="2600" b="1" i="0">
                <a:solidFill>
                  <a:srgbClr val="1B2A4A"/>
                </a:solidFill>
                <a:latin typeface="Calibri"/>
              </a:rPr>
              <a:t>Valuation</a:t>
            </a:r>
          </a:p>
        </p:txBody>
      </p:sp>
      <p:sp>
        <p:nvSpPr>
          <p:cNvPr id="5" name="TextBox 4"/>
          <p:cNvSpPr txBox="1"/>
          <p:nvPr/>
        </p:nvSpPr>
        <p:spPr>
          <a:xfrm>
            <a:off x="457200" y="1371600"/>
            <a:ext cx="5120640" cy="274320"/>
          </a:xfrm>
          <a:prstGeom prst="rect">
            <a:avLst/>
          </a:prstGeom>
          <a:noFill/>
        </p:spPr>
        <p:txBody>
          <a:bodyPr wrap="square" lIns="0" rIns="0" tIns="0" bIns="0">
            <a:spAutoFit/>
          </a:bodyPr>
          <a:lstStyle/>
          <a:p>
            <a:pPr algn="l"/>
            <a:r>
              <a:rPr sz="1200" b="1" i="0">
                <a:solidFill>
                  <a:srgbClr val="1B2A4A"/>
                </a:solidFill>
                <a:latin typeface="Calibri"/>
              </a:rPr>
              <a:t>VALUATION FOOTBALL FIELD</a:t>
            </a:r>
          </a:p>
        </p:txBody>
      </p:sp>
      <p:graphicFrame>
        <p:nvGraphicFramePr>
          <p:cNvPr id="6" name="Chart 5"/>
          <p:cNvGraphicFramePr>
            <a:graphicFrameLocks noGrp="1"/>
          </p:cNvGraphicFramePr>
          <p:nvPr/>
        </p:nvGraphicFramePr>
        <p:xfrm>
          <a:off x="457200" y="1691640"/>
          <a:ext cx="5120640" cy="2194560"/>
        </p:xfrm>
        <a:graphic>
          <a:graphicData uri="http://schemas.openxmlformats.org/drawingml/2006/chart">
            <c:chart xmlns:c="http://schemas.openxmlformats.org/drawingml/2006/chart" r:id="rId2"/>
          </a:graphicData>
        </a:graphic>
      </p:graphicFrame>
      <p:sp>
        <p:nvSpPr>
          <p:cNvPr id="7" name="TextBox 6"/>
          <p:cNvSpPr txBox="1"/>
          <p:nvPr/>
        </p:nvSpPr>
        <p:spPr>
          <a:xfrm>
            <a:off x="457200" y="3931920"/>
            <a:ext cx="5120640" cy="320040"/>
          </a:xfrm>
          <a:prstGeom prst="rect">
            <a:avLst/>
          </a:prstGeom>
          <a:noFill/>
        </p:spPr>
        <p:txBody>
          <a:bodyPr wrap="square" lIns="0" rIns="0" tIns="0" bIns="0">
            <a:spAutoFit/>
          </a:bodyPr>
          <a:lstStyle/>
          <a:p>
            <a:pPr algn="l"/>
            <a:r>
              <a:rPr sz="900" b="0" i="1">
                <a:solidFill>
                  <a:srgbClr val="A94442"/>
                </a:solidFill>
                <a:latin typeface="Calibri"/>
              </a:rPr>
              <a:t>Ranges pending: link directly from workbook Sensitivity/DCF tabs once populated.</a:t>
            </a:r>
          </a:p>
        </p:txBody>
      </p:sp>
      <p:sp>
        <p:nvSpPr>
          <p:cNvPr id="8" name="TextBox 7"/>
          <p:cNvSpPr txBox="1"/>
          <p:nvPr/>
        </p:nvSpPr>
        <p:spPr>
          <a:xfrm>
            <a:off x="5760720" y="1371600"/>
            <a:ext cx="5943600" cy="274320"/>
          </a:xfrm>
          <a:prstGeom prst="rect">
            <a:avLst/>
          </a:prstGeom>
          <a:noFill/>
        </p:spPr>
        <p:txBody>
          <a:bodyPr wrap="square" lIns="0" rIns="0" tIns="0" bIns="0">
            <a:spAutoFit/>
          </a:bodyPr>
          <a:lstStyle/>
          <a:p>
            <a:pPr algn="l"/>
            <a:r>
              <a:rPr sz="1200" b="1" i="0">
                <a:solidFill>
                  <a:srgbClr val="1B2A4A"/>
                </a:solidFill>
                <a:latin typeface="Calibri"/>
              </a:rPr>
              <a:t>TRADING COMPARABLES (EV/EBITDA)</a:t>
            </a:r>
          </a:p>
        </p:txBody>
      </p:sp>
      <p:graphicFrame>
        <p:nvGraphicFramePr>
          <p:cNvPr id="9" name="Table 8"/>
          <p:cNvGraphicFramePr>
            <a:graphicFrameLocks noGrp="1"/>
          </p:cNvGraphicFramePr>
          <p:nvPr/>
        </p:nvGraphicFramePr>
        <p:xfrm>
          <a:off x="5760720" y="1691640"/>
          <a:ext cx="5943600" cy="2240280"/>
        </p:xfrm>
        <a:graphic>
          <a:graphicData uri="http://schemas.openxmlformats.org/drawingml/2006/table">
            <a:tbl>
              <a:tblPr firstRow="1" bandRow="1">
                <a:tableStyleId>{5C22544A-7EE6-4342-B048-85BDC9FD1C3A}</a:tableStyleId>
              </a:tblPr>
              <a:tblGrid>
                <a:gridCol w="1783080"/>
                <a:gridCol w="1367028"/>
                <a:gridCol w="1367028"/>
                <a:gridCol w="1426464"/>
              </a:tblGrid>
              <a:tr h="320040">
                <a:tc>
                  <a:txBody>
                    <a:bodyPr/>
                    <a:lstStyle/>
                    <a:p>
                      <a:pPr algn="l"/>
                      <a:r>
                        <a:rPr sz="1050" b="1">
                          <a:solidFill>
                            <a:srgbClr val="FFFFFF"/>
                          </a:solidFill>
                          <a:latin typeface="Calibri"/>
                        </a:rPr>
                        <a:t>Company</a:t>
                      </a:r>
                    </a:p>
                  </a:txBody>
                  <a:tcPr anchor="ctr" marT="25400" marB="25400">
                    <a:solidFill>
                      <a:srgbClr val="1B2A4A"/>
                    </a:solidFill>
                  </a:tcPr>
                </a:tc>
                <a:tc>
                  <a:txBody>
                    <a:bodyPr/>
                    <a:lstStyle/>
                    <a:p>
                      <a:pPr algn="ctr"/>
                      <a:r>
                        <a:rPr sz="1050" b="1">
                          <a:solidFill>
                            <a:srgbClr val="FFFFFF"/>
                          </a:solidFill>
                          <a:latin typeface="Calibri"/>
                        </a:rPr>
                        <a:t>EV/EBITDA</a:t>
                      </a:r>
                    </a:p>
                  </a:txBody>
                  <a:tcPr anchor="ctr" marT="25400" marB="25400">
                    <a:solidFill>
                      <a:srgbClr val="1B2A4A"/>
                    </a:solidFill>
                  </a:tcPr>
                </a:tc>
                <a:tc>
                  <a:txBody>
                    <a:bodyPr/>
                    <a:lstStyle/>
                    <a:p>
                      <a:pPr algn="ctr"/>
                      <a:r>
                        <a:rPr sz="1050" b="1">
                          <a:solidFill>
                            <a:srgbClr val="FFFFFF"/>
                          </a:solidFill>
                          <a:latin typeface="Calibri"/>
                        </a:rPr>
                        <a:t>EV/Sales</a:t>
                      </a:r>
                    </a:p>
                  </a:txBody>
                  <a:tcPr anchor="ctr" marT="25400" marB="25400">
                    <a:solidFill>
                      <a:srgbClr val="1B2A4A"/>
                    </a:solidFill>
                  </a:tcPr>
                </a:tc>
                <a:tc>
                  <a:txBody>
                    <a:bodyPr/>
                    <a:lstStyle/>
                    <a:p>
                      <a:pPr algn="ctr"/>
                      <a:r>
                        <a:rPr sz="1050" b="1">
                          <a:solidFill>
                            <a:srgbClr val="FFFFFF"/>
                          </a:solidFill>
                          <a:latin typeface="Calibri"/>
                        </a:rPr>
                        <a:t>P/E</a:t>
                      </a:r>
                    </a:p>
                  </a:txBody>
                  <a:tcPr anchor="ctr" marT="25400" marB="25400">
                    <a:solidFill>
                      <a:srgbClr val="1B2A4A"/>
                    </a:solidFill>
                  </a:tcPr>
                </a:tc>
              </a:tr>
              <a:tr h="320040">
                <a:tc>
                  <a:txBody>
                    <a:bodyPr/>
                    <a:lstStyle/>
                    <a:p>
                      <a:pPr algn="l"/>
                      <a:r>
                        <a:rPr sz="1000" b="1">
                          <a:solidFill>
                            <a:srgbClr val="222222"/>
                          </a:solidFill>
                          <a:latin typeface="Calibri"/>
                        </a:rPr>
                        <a:t>Turkcell</a:t>
                      </a:r>
                    </a:p>
                  </a:txBody>
                  <a:tcPr anchor="ctr" marT="12700" marB="12700">
                    <a:solidFill>
                      <a:srgbClr val="FFFFFF"/>
                    </a:solidFill>
                  </a:tcPr>
                </a:tc>
                <a:tc>
                  <a:txBody>
                    <a:bodyPr/>
                    <a:lstStyle/>
                    <a:p>
                      <a:pPr algn="ctr"/>
                      <a:r>
                        <a:rPr sz="1000">
                          <a:solidFill>
                            <a:srgbClr val="222222"/>
                          </a:solidFill>
                          <a:latin typeface="Calibri"/>
                        </a:rPr>
                        <a:t>—</a:t>
                      </a:r>
                    </a:p>
                  </a:txBody>
                  <a:tcPr anchor="ctr" marT="12700" marB="12700">
                    <a:solidFill>
                      <a:srgbClr val="FFFFFF"/>
                    </a:solidFill>
                  </a:tcPr>
                </a:tc>
                <a:tc>
                  <a:txBody>
                    <a:bodyPr/>
                    <a:lstStyle/>
                    <a:p>
                      <a:pPr algn="ctr"/>
                      <a:r>
                        <a:rPr sz="1000">
                          <a:solidFill>
                            <a:srgbClr val="222222"/>
                          </a:solidFill>
                          <a:latin typeface="Calibri"/>
                        </a:rPr>
                        <a:t>—</a:t>
                      </a:r>
                    </a:p>
                  </a:txBody>
                  <a:tcPr anchor="ctr" marT="12700" marB="12700">
                    <a:solidFill>
                      <a:srgbClr val="FFFFFF"/>
                    </a:solidFill>
                  </a:tcPr>
                </a:tc>
                <a:tc>
                  <a:txBody>
                    <a:bodyPr/>
                    <a:lstStyle/>
                    <a:p>
                      <a:pPr algn="ctr"/>
                      <a:r>
                        <a:rPr sz="1000">
                          <a:solidFill>
                            <a:srgbClr val="222222"/>
                          </a:solidFill>
                          <a:latin typeface="Calibri"/>
                        </a:rPr>
                        <a:t>—</a:t>
                      </a:r>
                    </a:p>
                  </a:txBody>
                  <a:tcPr anchor="ctr" marT="12700" marB="12700">
                    <a:solidFill>
                      <a:srgbClr val="FFFFFF"/>
                    </a:solidFill>
                  </a:tcPr>
                </a:tc>
              </a:tr>
              <a:tr h="320040">
                <a:tc>
                  <a:txBody>
                    <a:bodyPr/>
                    <a:lstStyle/>
                    <a:p>
                      <a:pPr algn="l"/>
                      <a:r>
                        <a:rPr sz="1000" b="1">
                          <a:solidFill>
                            <a:srgbClr val="222222"/>
                          </a:solidFill>
                          <a:latin typeface="Calibri"/>
                        </a:rPr>
                        <a:t>MTN Group</a:t>
                      </a:r>
                    </a:p>
                  </a:txBody>
                  <a:tcPr anchor="ctr" marT="12700" marB="12700">
                    <a:solidFill>
                      <a:srgbClr val="F7F7F5"/>
                    </a:solidFill>
                  </a:tcPr>
                </a:tc>
                <a:tc>
                  <a:txBody>
                    <a:bodyPr/>
                    <a:lstStyle/>
                    <a:p>
                      <a:pPr algn="ctr"/>
                      <a:r>
                        <a:rPr sz="1000">
                          <a:solidFill>
                            <a:srgbClr val="222222"/>
                          </a:solidFill>
                          <a:latin typeface="Calibri"/>
                        </a:rPr>
                        <a:t>—</a:t>
                      </a:r>
                    </a:p>
                  </a:txBody>
                  <a:tcPr anchor="ctr" marT="12700" marB="12700">
                    <a:solidFill>
                      <a:srgbClr val="F7F7F5"/>
                    </a:solidFill>
                  </a:tcPr>
                </a:tc>
                <a:tc>
                  <a:txBody>
                    <a:bodyPr/>
                    <a:lstStyle/>
                    <a:p>
                      <a:pPr algn="ctr"/>
                      <a:r>
                        <a:rPr sz="1000">
                          <a:solidFill>
                            <a:srgbClr val="222222"/>
                          </a:solidFill>
                          <a:latin typeface="Calibri"/>
                        </a:rPr>
                        <a:t>—</a:t>
                      </a:r>
                    </a:p>
                  </a:txBody>
                  <a:tcPr anchor="ctr" marT="12700" marB="12700">
                    <a:solidFill>
                      <a:srgbClr val="F7F7F5"/>
                    </a:solidFill>
                  </a:tcPr>
                </a:tc>
                <a:tc>
                  <a:txBody>
                    <a:bodyPr/>
                    <a:lstStyle/>
                    <a:p>
                      <a:pPr algn="ctr"/>
                      <a:r>
                        <a:rPr sz="1000">
                          <a:solidFill>
                            <a:srgbClr val="222222"/>
                          </a:solidFill>
                          <a:latin typeface="Calibri"/>
                        </a:rPr>
                        <a:t>—</a:t>
                      </a:r>
                    </a:p>
                  </a:txBody>
                  <a:tcPr anchor="ctr" marT="12700" marB="12700">
                    <a:solidFill>
                      <a:srgbClr val="F7F7F5"/>
                    </a:solidFill>
                  </a:tcPr>
                </a:tc>
              </a:tr>
              <a:tr h="320040">
                <a:tc>
                  <a:txBody>
                    <a:bodyPr/>
                    <a:lstStyle/>
                    <a:p>
                      <a:pPr algn="l"/>
                      <a:r>
                        <a:rPr sz="1000" b="1">
                          <a:solidFill>
                            <a:srgbClr val="222222"/>
                          </a:solidFill>
                          <a:latin typeface="Calibri"/>
                        </a:rPr>
                        <a:t>Millicom</a:t>
                      </a:r>
                    </a:p>
                  </a:txBody>
                  <a:tcPr anchor="ctr" marT="12700" marB="12700">
                    <a:solidFill>
                      <a:srgbClr val="FFFFFF"/>
                    </a:solidFill>
                  </a:tcPr>
                </a:tc>
                <a:tc>
                  <a:txBody>
                    <a:bodyPr/>
                    <a:lstStyle/>
                    <a:p>
                      <a:pPr algn="ctr"/>
                      <a:r>
                        <a:rPr sz="1000">
                          <a:solidFill>
                            <a:srgbClr val="222222"/>
                          </a:solidFill>
                          <a:latin typeface="Calibri"/>
                        </a:rPr>
                        <a:t>—</a:t>
                      </a:r>
                    </a:p>
                  </a:txBody>
                  <a:tcPr anchor="ctr" marT="12700" marB="12700">
                    <a:solidFill>
                      <a:srgbClr val="FFFFFF"/>
                    </a:solidFill>
                  </a:tcPr>
                </a:tc>
                <a:tc>
                  <a:txBody>
                    <a:bodyPr/>
                    <a:lstStyle/>
                    <a:p>
                      <a:pPr algn="ctr"/>
                      <a:r>
                        <a:rPr sz="1000">
                          <a:solidFill>
                            <a:srgbClr val="222222"/>
                          </a:solidFill>
                          <a:latin typeface="Calibri"/>
                        </a:rPr>
                        <a:t>—</a:t>
                      </a:r>
                    </a:p>
                  </a:txBody>
                  <a:tcPr anchor="ctr" marT="12700" marB="12700">
                    <a:solidFill>
                      <a:srgbClr val="FFFFFF"/>
                    </a:solidFill>
                  </a:tcPr>
                </a:tc>
                <a:tc>
                  <a:txBody>
                    <a:bodyPr/>
                    <a:lstStyle/>
                    <a:p>
                      <a:pPr algn="ctr"/>
                      <a:r>
                        <a:rPr sz="1000">
                          <a:solidFill>
                            <a:srgbClr val="222222"/>
                          </a:solidFill>
                          <a:latin typeface="Calibri"/>
                        </a:rPr>
                        <a:t>—</a:t>
                      </a:r>
                    </a:p>
                  </a:txBody>
                  <a:tcPr anchor="ctr" marT="12700" marB="12700">
                    <a:solidFill>
                      <a:srgbClr val="FFFFFF"/>
                    </a:solidFill>
                  </a:tcPr>
                </a:tc>
              </a:tr>
              <a:tr h="320040">
                <a:tc>
                  <a:txBody>
                    <a:bodyPr/>
                    <a:lstStyle/>
                    <a:p>
                      <a:pPr algn="l"/>
                      <a:r>
                        <a:rPr sz="1000" b="1">
                          <a:solidFill>
                            <a:srgbClr val="222222"/>
                          </a:solidFill>
                          <a:latin typeface="Calibri"/>
                        </a:rPr>
                        <a:t>Ooredoo</a:t>
                      </a:r>
                    </a:p>
                  </a:txBody>
                  <a:tcPr anchor="ctr" marT="12700" marB="12700">
                    <a:solidFill>
                      <a:srgbClr val="F7F7F5"/>
                    </a:solidFill>
                  </a:tcPr>
                </a:tc>
                <a:tc>
                  <a:txBody>
                    <a:bodyPr/>
                    <a:lstStyle/>
                    <a:p>
                      <a:pPr algn="ctr"/>
                      <a:r>
                        <a:rPr sz="1000">
                          <a:solidFill>
                            <a:srgbClr val="222222"/>
                          </a:solidFill>
                          <a:latin typeface="Calibri"/>
                        </a:rPr>
                        <a:t>—</a:t>
                      </a:r>
                    </a:p>
                  </a:txBody>
                  <a:tcPr anchor="ctr" marT="12700" marB="12700">
                    <a:solidFill>
                      <a:srgbClr val="F7F7F5"/>
                    </a:solidFill>
                  </a:tcPr>
                </a:tc>
                <a:tc>
                  <a:txBody>
                    <a:bodyPr/>
                    <a:lstStyle/>
                    <a:p>
                      <a:pPr algn="ctr"/>
                      <a:r>
                        <a:rPr sz="1000">
                          <a:solidFill>
                            <a:srgbClr val="222222"/>
                          </a:solidFill>
                          <a:latin typeface="Calibri"/>
                        </a:rPr>
                        <a:t>—</a:t>
                      </a:r>
                    </a:p>
                  </a:txBody>
                  <a:tcPr anchor="ctr" marT="12700" marB="12700">
                    <a:solidFill>
                      <a:srgbClr val="F7F7F5"/>
                    </a:solidFill>
                  </a:tcPr>
                </a:tc>
                <a:tc>
                  <a:txBody>
                    <a:bodyPr/>
                    <a:lstStyle/>
                    <a:p>
                      <a:pPr algn="ctr"/>
                      <a:r>
                        <a:rPr sz="1000">
                          <a:solidFill>
                            <a:srgbClr val="222222"/>
                          </a:solidFill>
                          <a:latin typeface="Calibri"/>
                        </a:rPr>
                        <a:t>—</a:t>
                      </a:r>
                    </a:p>
                  </a:txBody>
                  <a:tcPr anchor="ctr" marT="12700" marB="12700">
                    <a:solidFill>
                      <a:srgbClr val="F7F7F5"/>
                    </a:solidFill>
                  </a:tcPr>
                </a:tc>
              </a:tr>
              <a:tr h="320040">
                <a:tc>
                  <a:txBody>
                    <a:bodyPr/>
                    <a:lstStyle/>
                    <a:p>
                      <a:pPr algn="l"/>
                      <a:r>
                        <a:rPr sz="1000" b="1">
                          <a:solidFill>
                            <a:srgbClr val="222222"/>
                          </a:solidFill>
                          <a:latin typeface="Calibri"/>
                        </a:rPr>
                        <a:t>Peer Median</a:t>
                      </a:r>
                    </a:p>
                  </a:txBody>
                  <a:tcPr anchor="ctr" marT="12700" marB="12700">
                    <a:solidFill>
                      <a:srgbClr val="FFFFFF"/>
                    </a:solidFill>
                  </a:tcPr>
                </a:tc>
                <a:tc>
                  <a:txBody>
                    <a:bodyPr/>
                    <a:lstStyle/>
                    <a:p>
                      <a:pPr algn="ctr"/>
                      <a:r>
                        <a:rPr sz="1000">
                          <a:solidFill>
                            <a:srgbClr val="222222"/>
                          </a:solidFill>
                          <a:latin typeface="Calibri"/>
                        </a:rPr>
                        <a:t>—</a:t>
                      </a:r>
                    </a:p>
                  </a:txBody>
                  <a:tcPr anchor="ctr" marT="12700" marB="12700">
                    <a:solidFill>
                      <a:srgbClr val="FFFFFF"/>
                    </a:solidFill>
                  </a:tcPr>
                </a:tc>
                <a:tc>
                  <a:txBody>
                    <a:bodyPr/>
                    <a:lstStyle/>
                    <a:p>
                      <a:pPr algn="ctr"/>
                      <a:r>
                        <a:rPr sz="1000">
                          <a:solidFill>
                            <a:srgbClr val="222222"/>
                          </a:solidFill>
                          <a:latin typeface="Calibri"/>
                        </a:rPr>
                        <a:t>—</a:t>
                      </a:r>
                    </a:p>
                  </a:txBody>
                  <a:tcPr anchor="ctr" marT="12700" marB="12700">
                    <a:solidFill>
                      <a:srgbClr val="FFFFFF"/>
                    </a:solidFill>
                  </a:tcPr>
                </a:tc>
                <a:tc>
                  <a:txBody>
                    <a:bodyPr/>
                    <a:lstStyle/>
                    <a:p>
                      <a:pPr algn="ctr"/>
                      <a:r>
                        <a:rPr sz="1000">
                          <a:solidFill>
                            <a:srgbClr val="222222"/>
                          </a:solidFill>
                          <a:latin typeface="Calibri"/>
                        </a:rPr>
                        <a:t>—</a:t>
                      </a:r>
                    </a:p>
                  </a:txBody>
                  <a:tcPr anchor="ctr" marT="12700" marB="12700">
                    <a:solidFill>
                      <a:srgbClr val="FFFFFF"/>
                    </a:solidFill>
                  </a:tcPr>
                </a:tc>
              </a:tr>
              <a:tr h="320040">
                <a:tc>
                  <a:txBody>
                    <a:bodyPr/>
                    <a:lstStyle/>
                    <a:p>
                      <a:pPr algn="l"/>
                      <a:r>
                        <a:rPr sz="1000" b="1">
                          <a:solidFill>
                            <a:srgbClr val="222222"/>
                          </a:solidFill>
                          <a:latin typeface="Calibri"/>
                        </a:rPr>
                        <a:t>VEON Ltd.</a:t>
                      </a:r>
                    </a:p>
                  </a:txBody>
                  <a:tcPr anchor="ctr" marT="12700" marB="12700">
                    <a:solidFill>
                      <a:srgbClr val="D9C6A3"/>
                    </a:solidFill>
                  </a:tcPr>
                </a:tc>
                <a:tc>
                  <a:txBody>
                    <a:bodyPr/>
                    <a:lstStyle/>
                    <a:p>
                      <a:pPr algn="ctr"/>
                      <a:r>
                        <a:rPr sz="1000">
                          <a:solidFill>
                            <a:srgbClr val="222222"/>
                          </a:solidFill>
                          <a:latin typeface="Calibri"/>
                        </a:rPr>
                        <a:t>—</a:t>
                      </a:r>
                    </a:p>
                  </a:txBody>
                  <a:tcPr anchor="ctr" marT="12700" marB="12700">
                    <a:solidFill>
                      <a:srgbClr val="D9C6A3"/>
                    </a:solidFill>
                  </a:tcPr>
                </a:tc>
                <a:tc>
                  <a:txBody>
                    <a:bodyPr/>
                    <a:lstStyle/>
                    <a:p>
                      <a:pPr algn="ctr"/>
                      <a:r>
                        <a:rPr sz="1000">
                          <a:solidFill>
                            <a:srgbClr val="222222"/>
                          </a:solidFill>
                          <a:latin typeface="Calibri"/>
                        </a:rPr>
                        <a:t>—</a:t>
                      </a:r>
                    </a:p>
                  </a:txBody>
                  <a:tcPr anchor="ctr" marT="12700" marB="12700">
                    <a:solidFill>
                      <a:srgbClr val="D9C6A3"/>
                    </a:solidFill>
                  </a:tcPr>
                </a:tc>
                <a:tc>
                  <a:txBody>
                    <a:bodyPr/>
                    <a:lstStyle/>
                    <a:p>
                      <a:pPr algn="ctr"/>
                      <a:r>
                        <a:rPr sz="1000">
                          <a:solidFill>
                            <a:srgbClr val="222222"/>
                          </a:solidFill>
                          <a:latin typeface="Calibri"/>
                        </a:rPr>
                        <a:t>—</a:t>
                      </a:r>
                    </a:p>
                  </a:txBody>
                  <a:tcPr anchor="ctr" marT="12700" marB="12700">
                    <a:solidFill>
                      <a:srgbClr val="D9C6A3"/>
                    </a:solidFill>
                  </a:tcPr>
                </a:tc>
              </a:tr>
            </a:tbl>
          </a:graphicData>
        </a:graphic>
      </p:graphicFrame>
      <p:sp>
        <p:nvSpPr>
          <p:cNvPr id="10" name="TextBox 9"/>
          <p:cNvSpPr txBox="1"/>
          <p:nvPr/>
        </p:nvSpPr>
        <p:spPr>
          <a:xfrm>
            <a:off x="5760720" y="4023360"/>
            <a:ext cx="5943600" cy="274320"/>
          </a:xfrm>
          <a:prstGeom prst="rect">
            <a:avLst/>
          </a:prstGeom>
          <a:noFill/>
        </p:spPr>
        <p:txBody>
          <a:bodyPr wrap="square" lIns="0" rIns="0" tIns="0" bIns="0">
            <a:spAutoFit/>
          </a:bodyPr>
          <a:lstStyle/>
          <a:p>
            <a:pPr algn="l"/>
            <a:r>
              <a:rPr sz="900" b="0" i="1">
                <a:solidFill>
                  <a:srgbClr val="A94442"/>
                </a:solidFill>
                <a:latin typeface="Calibri"/>
              </a:rPr>
              <a:t>Peer multiples require live sourcing (Nasdaq/Bloomberg) — not fabricated here.</a:t>
            </a:r>
          </a:p>
        </p:txBody>
      </p:sp>
      <p:sp>
        <p:nvSpPr>
          <p:cNvPr id="11" name="TextBox 10"/>
          <p:cNvSpPr txBox="1"/>
          <p:nvPr/>
        </p:nvSpPr>
        <p:spPr>
          <a:xfrm>
            <a:off x="457200" y="4434840"/>
            <a:ext cx="5120640" cy="274320"/>
          </a:xfrm>
          <a:prstGeom prst="rect">
            <a:avLst/>
          </a:prstGeom>
          <a:noFill/>
        </p:spPr>
        <p:txBody>
          <a:bodyPr wrap="square" lIns="0" rIns="0" tIns="0" bIns="0">
            <a:spAutoFit/>
          </a:bodyPr>
          <a:lstStyle/>
          <a:p>
            <a:pPr algn="l"/>
            <a:r>
              <a:rPr sz="1200" b="1" i="0">
                <a:solidFill>
                  <a:srgbClr val="1B2A4A"/>
                </a:solidFill>
                <a:latin typeface="Calibri"/>
              </a:rPr>
              <a:t>DCF SUMMARY</a:t>
            </a:r>
          </a:p>
        </p:txBody>
      </p:sp>
      <p:graphicFrame>
        <p:nvGraphicFramePr>
          <p:cNvPr id="12" name="Table 11"/>
          <p:cNvGraphicFramePr>
            <a:graphicFrameLocks noGrp="1"/>
          </p:cNvGraphicFramePr>
          <p:nvPr/>
        </p:nvGraphicFramePr>
        <p:xfrm>
          <a:off x="457200" y="4754880"/>
          <a:ext cx="5120640" cy="1371600"/>
        </p:xfrm>
        <a:graphic>
          <a:graphicData uri="http://schemas.openxmlformats.org/drawingml/2006/table">
            <a:tbl>
              <a:tblPr firstRow="1" bandRow="1">
                <a:tableStyleId>{5C22544A-7EE6-4342-B048-85BDC9FD1C3A}</a:tableStyleId>
              </a:tblPr>
              <a:tblGrid>
                <a:gridCol w="2816352"/>
                <a:gridCol w="2304288"/>
              </a:tblGrid>
              <a:tr h="342900">
                <a:tc>
                  <a:txBody>
                    <a:bodyPr/>
                    <a:lstStyle/>
                    <a:p>
                      <a:pPr algn="l"/>
                      <a:r>
                        <a:rPr sz="1050" b="1">
                          <a:solidFill>
                            <a:srgbClr val="FFFFFF"/>
                          </a:solidFill>
                          <a:latin typeface="Calibri"/>
                        </a:rPr>
                        <a:t>Item</a:t>
                      </a:r>
                    </a:p>
                  </a:txBody>
                  <a:tcPr anchor="ctr" marT="25400" marB="25400">
                    <a:solidFill>
                      <a:srgbClr val="1B2A4A"/>
                    </a:solidFill>
                  </a:tcPr>
                </a:tc>
                <a:tc>
                  <a:txBody>
                    <a:bodyPr/>
                    <a:lstStyle/>
                    <a:p>
                      <a:pPr algn="ctr"/>
                      <a:r>
                        <a:rPr sz="1050" b="1">
                          <a:solidFill>
                            <a:srgbClr val="FFFFFF"/>
                          </a:solidFill>
                          <a:latin typeface="Calibri"/>
                        </a:rPr>
                        <a:t>Value</a:t>
                      </a:r>
                    </a:p>
                  </a:txBody>
                  <a:tcPr anchor="ctr" marT="25400" marB="25400">
                    <a:solidFill>
                      <a:srgbClr val="1B2A4A"/>
                    </a:solidFill>
                  </a:tcPr>
                </a:tc>
              </a:tr>
              <a:tr h="342900">
                <a:tc>
                  <a:txBody>
                    <a:bodyPr/>
                    <a:lstStyle/>
                    <a:p>
                      <a:pPr algn="l"/>
                      <a:r>
                        <a:rPr sz="1050" b="1">
                          <a:solidFill>
                            <a:srgbClr val="222222"/>
                          </a:solidFill>
                          <a:latin typeface="Calibri"/>
                        </a:rPr>
                        <a:t>WACC</a:t>
                      </a:r>
                    </a:p>
                  </a:txBody>
                  <a:tcPr anchor="ctr" marT="12700" marB="12700">
                    <a:solidFill>
                      <a:srgbClr val="FFFFFF"/>
                    </a:solidFill>
                  </a:tcPr>
                </a:tc>
                <a:tc>
                  <a:txBody>
                    <a:bodyPr/>
                    <a:lstStyle/>
                    <a:p>
                      <a:pPr algn="ctr"/>
                      <a:r>
                        <a:rPr sz="1050">
                          <a:solidFill>
                            <a:srgbClr val="222222"/>
                          </a:solidFill>
                          <a:latin typeface="Calibri"/>
                        </a:rPr>
                        <a:t>Analyst input</a:t>
                      </a:r>
                    </a:p>
                  </a:txBody>
                  <a:tcPr anchor="ctr" marT="12700" marB="12700">
                    <a:solidFill>
                      <a:srgbClr val="FFFFFF"/>
                    </a:solidFill>
                  </a:tcPr>
                </a:tc>
              </a:tr>
              <a:tr h="342900">
                <a:tc>
                  <a:txBody>
                    <a:bodyPr/>
                    <a:lstStyle/>
                    <a:p>
                      <a:pPr algn="l"/>
                      <a:r>
                        <a:rPr sz="1050" b="1">
                          <a:solidFill>
                            <a:srgbClr val="222222"/>
                          </a:solidFill>
                          <a:latin typeface="Calibri"/>
                        </a:rPr>
                        <a:t>Terminal Growth</a:t>
                      </a:r>
                    </a:p>
                  </a:txBody>
                  <a:tcPr anchor="ctr" marT="12700" marB="12700">
                    <a:solidFill>
                      <a:srgbClr val="F7F7F5"/>
                    </a:solidFill>
                  </a:tcPr>
                </a:tc>
                <a:tc>
                  <a:txBody>
                    <a:bodyPr/>
                    <a:lstStyle/>
                    <a:p>
                      <a:pPr algn="ctr"/>
                      <a:r>
                        <a:rPr sz="1050">
                          <a:solidFill>
                            <a:srgbClr val="222222"/>
                          </a:solidFill>
                          <a:latin typeface="Calibri"/>
                        </a:rPr>
                        <a:t>Analyst input</a:t>
                      </a:r>
                    </a:p>
                  </a:txBody>
                  <a:tcPr anchor="ctr" marT="12700" marB="12700">
                    <a:solidFill>
                      <a:srgbClr val="F7F7F5"/>
                    </a:solidFill>
                  </a:tcPr>
                </a:tc>
              </a:tr>
              <a:tr h="342900">
                <a:tc>
                  <a:txBody>
                    <a:bodyPr/>
                    <a:lstStyle/>
                    <a:p>
                      <a:pPr algn="l"/>
                      <a:r>
                        <a:rPr sz="1050" b="1">
                          <a:solidFill>
                            <a:srgbClr val="222222"/>
                          </a:solidFill>
                          <a:latin typeface="Calibri"/>
                        </a:rPr>
                        <a:t>Implied Share Price</a:t>
                      </a:r>
                    </a:p>
                  </a:txBody>
                  <a:tcPr anchor="ctr" marT="12700" marB="12700">
                    <a:solidFill>
                      <a:srgbClr val="FFFFFF"/>
                    </a:solidFill>
                  </a:tcPr>
                </a:tc>
                <a:tc>
                  <a:txBody>
                    <a:bodyPr/>
                    <a:lstStyle/>
                    <a:p>
                      <a:pPr algn="ctr"/>
                      <a:r>
                        <a:rPr sz="1050">
                          <a:solidFill>
                            <a:srgbClr val="222222"/>
                          </a:solidFill>
                          <a:latin typeface="Calibri"/>
                        </a:rPr>
                        <a:t>Workbook output</a:t>
                      </a:r>
                    </a:p>
                  </a:txBody>
                  <a:tcPr anchor="ctr" marT="12700" marB="12700">
                    <a:solidFill>
                      <a:srgbClr val="FFFFFF"/>
                    </a:solidFill>
                  </a:tcPr>
                </a:tc>
              </a:tr>
            </a:tbl>
          </a:graphicData>
        </a:graphic>
      </p:graphicFrame>
      <p:sp>
        <p:nvSpPr>
          <p:cNvPr id="13" name="TextBox 12"/>
          <p:cNvSpPr txBox="1"/>
          <p:nvPr/>
        </p:nvSpPr>
        <p:spPr>
          <a:xfrm>
            <a:off x="5760720" y="4434840"/>
            <a:ext cx="5943600" cy="274320"/>
          </a:xfrm>
          <a:prstGeom prst="rect">
            <a:avLst/>
          </a:prstGeom>
          <a:noFill/>
        </p:spPr>
        <p:txBody>
          <a:bodyPr wrap="square" lIns="0" rIns="0" tIns="0" bIns="0">
            <a:spAutoFit/>
          </a:bodyPr>
          <a:lstStyle/>
          <a:p>
            <a:pPr algn="l"/>
            <a:r>
              <a:rPr sz="1200" b="1" i="0">
                <a:solidFill>
                  <a:srgbClr val="1B2A4A"/>
                </a:solidFill>
                <a:latin typeface="Calibri"/>
              </a:rPr>
              <a:t>SENSITIVITY — WACC x TERMINAL GROWTH</a:t>
            </a:r>
          </a:p>
        </p:txBody>
      </p:sp>
      <p:graphicFrame>
        <p:nvGraphicFramePr>
          <p:cNvPr id="14" name="Table 13"/>
          <p:cNvGraphicFramePr>
            <a:graphicFrameLocks noGrp="1"/>
          </p:cNvGraphicFramePr>
          <p:nvPr/>
        </p:nvGraphicFramePr>
        <p:xfrm>
          <a:off x="5760720" y="4754880"/>
          <a:ext cx="5943597" cy="1371600"/>
        </p:xfrm>
        <a:graphic>
          <a:graphicData uri="http://schemas.openxmlformats.org/drawingml/2006/table">
            <a:tbl>
              <a:tblPr firstRow="1" bandRow="1">
                <a:tableStyleId>{5C22544A-7EE6-4342-B048-85BDC9FD1C3A}</a:tableStyleId>
              </a:tblPr>
              <a:tblGrid>
                <a:gridCol w="1307592"/>
                <a:gridCol w="927201"/>
                <a:gridCol w="927201"/>
                <a:gridCol w="927201"/>
                <a:gridCol w="927201"/>
                <a:gridCol w="927201"/>
              </a:tblGrid>
              <a:tr h="228600">
                <a:tc>
                  <a:txBody>
                    <a:bodyPr/>
                    <a:lstStyle/>
                    <a:p>
                      <a:pPr algn="l"/>
                      <a:r>
                        <a:rPr sz="900" b="1">
                          <a:solidFill>
                            <a:srgbClr val="FFFFFF"/>
                          </a:solidFill>
                          <a:latin typeface="Calibri"/>
                        </a:rPr>
                        <a:t>WACC \ g</a:t>
                      </a:r>
                    </a:p>
                  </a:txBody>
                  <a:tcPr anchor="ctr" marT="25400" marB="25400">
                    <a:solidFill>
                      <a:srgbClr val="1B2A4A"/>
                    </a:solidFill>
                  </a:tcPr>
                </a:tc>
                <a:tc>
                  <a:txBody>
                    <a:bodyPr/>
                    <a:lstStyle/>
                    <a:p>
                      <a:pPr algn="ctr"/>
                      <a:r>
                        <a:rPr sz="900" b="1">
                          <a:solidFill>
                            <a:srgbClr val="FFFFFF"/>
                          </a:solidFill>
                          <a:latin typeface="Calibri"/>
                        </a:rPr>
                        <a:t>-1.0%</a:t>
                      </a:r>
                    </a:p>
                  </a:txBody>
                  <a:tcPr anchor="ctr" marT="25400" marB="25400">
                    <a:solidFill>
                      <a:srgbClr val="1B2A4A"/>
                    </a:solidFill>
                  </a:tcPr>
                </a:tc>
                <a:tc>
                  <a:txBody>
                    <a:bodyPr/>
                    <a:lstStyle/>
                    <a:p>
                      <a:pPr algn="ctr"/>
                      <a:r>
                        <a:rPr sz="900" b="1">
                          <a:solidFill>
                            <a:srgbClr val="FFFFFF"/>
                          </a:solidFill>
                          <a:latin typeface="Calibri"/>
                        </a:rPr>
                        <a:t>-0.5%</a:t>
                      </a:r>
                    </a:p>
                  </a:txBody>
                  <a:tcPr anchor="ctr" marT="25400" marB="25400">
                    <a:solidFill>
                      <a:srgbClr val="1B2A4A"/>
                    </a:solidFill>
                  </a:tcPr>
                </a:tc>
                <a:tc>
                  <a:txBody>
                    <a:bodyPr/>
                    <a:lstStyle/>
                    <a:p>
                      <a:pPr algn="ctr"/>
                      <a:r>
                        <a:rPr sz="900" b="1">
                          <a:solidFill>
                            <a:srgbClr val="FFFFFF"/>
                          </a:solidFill>
                          <a:latin typeface="Calibri"/>
                        </a:rPr>
                        <a:t>Base</a:t>
                      </a:r>
                    </a:p>
                  </a:txBody>
                  <a:tcPr anchor="ctr" marT="25400" marB="25400">
                    <a:solidFill>
                      <a:srgbClr val="1B2A4A"/>
                    </a:solidFill>
                  </a:tcPr>
                </a:tc>
                <a:tc>
                  <a:txBody>
                    <a:bodyPr/>
                    <a:lstStyle/>
                    <a:p>
                      <a:pPr algn="ctr"/>
                      <a:r>
                        <a:rPr sz="900" b="1">
                          <a:solidFill>
                            <a:srgbClr val="FFFFFF"/>
                          </a:solidFill>
                          <a:latin typeface="Calibri"/>
                        </a:rPr>
                        <a:t>+0.5%</a:t>
                      </a:r>
                    </a:p>
                  </a:txBody>
                  <a:tcPr anchor="ctr" marT="25400" marB="25400">
                    <a:solidFill>
                      <a:srgbClr val="1B2A4A"/>
                    </a:solidFill>
                  </a:tcPr>
                </a:tc>
                <a:tc>
                  <a:txBody>
                    <a:bodyPr/>
                    <a:lstStyle/>
                    <a:p>
                      <a:pPr algn="ctr"/>
                      <a:r>
                        <a:rPr sz="900" b="1">
                          <a:solidFill>
                            <a:srgbClr val="FFFFFF"/>
                          </a:solidFill>
                          <a:latin typeface="Calibri"/>
                        </a:rPr>
                        <a:t>+1.0%</a:t>
                      </a:r>
                    </a:p>
                  </a:txBody>
                  <a:tcPr anchor="ctr" marT="25400" marB="25400">
                    <a:solidFill>
                      <a:srgbClr val="1B2A4A"/>
                    </a:solidFill>
                  </a:tcPr>
                </a:tc>
              </a:tr>
              <a:tr h="228600">
                <a:tc>
                  <a:txBody>
                    <a:bodyPr/>
                    <a:lstStyle/>
                    <a:p>
                      <a:pPr algn="l"/>
                      <a:r>
                        <a:rPr sz="950" b="1">
                          <a:solidFill>
                            <a:srgbClr val="222222"/>
                          </a:solidFill>
                          <a:latin typeface="Calibri"/>
                        </a:rPr>
                        <a:t>Base -2.0%</a:t>
                      </a:r>
                    </a:p>
                  </a:txBody>
                  <a:tcPr anchor="ctr" marT="12700" marB="12700">
                    <a:solidFill>
                      <a:srgbClr val="FFFFFF"/>
                    </a:solidFill>
                  </a:tcPr>
                </a:tc>
                <a:tc>
                  <a:txBody>
                    <a:bodyPr/>
                    <a:lstStyle/>
                    <a:p>
                      <a:pPr algn="ctr"/>
                      <a:r>
                        <a:rPr sz="950">
                          <a:solidFill>
                            <a:srgbClr val="222222"/>
                          </a:solidFill>
                          <a:latin typeface="Calibri"/>
                        </a:rPr>
                        <a:t>—</a:t>
                      </a:r>
                    </a:p>
                  </a:txBody>
                  <a:tcPr anchor="ctr" marT="12700" marB="12700">
                    <a:solidFill>
                      <a:srgbClr val="FFFFFF"/>
                    </a:solidFill>
                  </a:tcPr>
                </a:tc>
                <a:tc>
                  <a:txBody>
                    <a:bodyPr/>
                    <a:lstStyle/>
                    <a:p>
                      <a:pPr algn="ctr"/>
                      <a:r>
                        <a:rPr sz="950">
                          <a:solidFill>
                            <a:srgbClr val="222222"/>
                          </a:solidFill>
                          <a:latin typeface="Calibri"/>
                        </a:rPr>
                        <a:t>—</a:t>
                      </a:r>
                    </a:p>
                  </a:txBody>
                  <a:tcPr anchor="ctr" marT="12700" marB="12700">
                    <a:solidFill>
                      <a:srgbClr val="FFFFFF"/>
                    </a:solidFill>
                  </a:tcPr>
                </a:tc>
                <a:tc>
                  <a:txBody>
                    <a:bodyPr/>
                    <a:lstStyle/>
                    <a:p>
                      <a:pPr algn="ctr"/>
                      <a:r>
                        <a:rPr sz="950">
                          <a:solidFill>
                            <a:srgbClr val="222222"/>
                          </a:solidFill>
                          <a:latin typeface="Calibri"/>
                        </a:rPr>
                        <a:t>—</a:t>
                      </a:r>
                    </a:p>
                  </a:txBody>
                  <a:tcPr anchor="ctr" marT="12700" marB="12700">
                    <a:solidFill>
                      <a:srgbClr val="FFFFFF"/>
                    </a:solidFill>
                  </a:tcPr>
                </a:tc>
                <a:tc>
                  <a:txBody>
                    <a:bodyPr/>
                    <a:lstStyle/>
                    <a:p>
                      <a:pPr algn="ctr"/>
                      <a:r>
                        <a:rPr sz="950">
                          <a:solidFill>
                            <a:srgbClr val="222222"/>
                          </a:solidFill>
                          <a:latin typeface="Calibri"/>
                        </a:rPr>
                        <a:t>—</a:t>
                      </a:r>
                    </a:p>
                  </a:txBody>
                  <a:tcPr anchor="ctr" marT="12700" marB="12700">
                    <a:solidFill>
                      <a:srgbClr val="FFFFFF"/>
                    </a:solidFill>
                  </a:tcPr>
                </a:tc>
                <a:tc>
                  <a:txBody>
                    <a:bodyPr/>
                    <a:lstStyle/>
                    <a:p>
                      <a:pPr algn="ctr"/>
                      <a:r>
                        <a:rPr sz="950">
                          <a:solidFill>
                            <a:srgbClr val="222222"/>
                          </a:solidFill>
                          <a:latin typeface="Calibri"/>
                        </a:rPr>
                        <a:t>—</a:t>
                      </a:r>
                    </a:p>
                  </a:txBody>
                  <a:tcPr anchor="ctr" marT="12700" marB="12700">
                    <a:solidFill>
                      <a:srgbClr val="FFFFFF"/>
                    </a:solidFill>
                  </a:tcPr>
                </a:tc>
              </a:tr>
              <a:tr h="228600">
                <a:tc>
                  <a:txBody>
                    <a:bodyPr/>
                    <a:lstStyle/>
                    <a:p>
                      <a:pPr algn="l"/>
                      <a:r>
                        <a:rPr sz="950" b="1">
                          <a:solidFill>
                            <a:srgbClr val="222222"/>
                          </a:solidFill>
                          <a:latin typeface="Calibri"/>
                        </a:rPr>
                        <a:t>Base -1.0%</a:t>
                      </a:r>
                    </a:p>
                  </a:txBody>
                  <a:tcPr anchor="ctr" marT="12700" marB="12700">
                    <a:solidFill>
                      <a:srgbClr val="FFFFFF"/>
                    </a:solidFill>
                  </a:tcPr>
                </a:tc>
                <a:tc>
                  <a:txBody>
                    <a:bodyPr/>
                    <a:lstStyle/>
                    <a:p>
                      <a:pPr algn="ctr"/>
                      <a:r>
                        <a:rPr sz="950">
                          <a:solidFill>
                            <a:srgbClr val="222222"/>
                          </a:solidFill>
                          <a:latin typeface="Calibri"/>
                        </a:rPr>
                        <a:t>—</a:t>
                      </a:r>
                    </a:p>
                  </a:txBody>
                  <a:tcPr anchor="ctr" marT="12700" marB="12700">
                    <a:solidFill>
                      <a:srgbClr val="FFFFFF"/>
                    </a:solidFill>
                  </a:tcPr>
                </a:tc>
                <a:tc>
                  <a:txBody>
                    <a:bodyPr/>
                    <a:lstStyle/>
                    <a:p>
                      <a:pPr algn="ctr"/>
                      <a:r>
                        <a:rPr sz="950">
                          <a:solidFill>
                            <a:srgbClr val="222222"/>
                          </a:solidFill>
                          <a:latin typeface="Calibri"/>
                        </a:rPr>
                        <a:t>—</a:t>
                      </a:r>
                    </a:p>
                  </a:txBody>
                  <a:tcPr anchor="ctr" marT="12700" marB="12700">
                    <a:solidFill>
                      <a:srgbClr val="FFFFFF"/>
                    </a:solidFill>
                  </a:tcPr>
                </a:tc>
                <a:tc>
                  <a:txBody>
                    <a:bodyPr/>
                    <a:lstStyle/>
                    <a:p>
                      <a:pPr algn="ctr"/>
                      <a:r>
                        <a:rPr sz="950">
                          <a:solidFill>
                            <a:srgbClr val="222222"/>
                          </a:solidFill>
                          <a:latin typeface="Calibri"/>
                        </a:rPr>
                        <a:t>—</a:t>
                      </a:r>
                    </a:p>
                  </a:txBody>
                  <a:tcPr anchor="ctr" marT="12700" marB="12700">
                    <a:solidFill>
                      <a:srgbClr val="FFFFFF"/>
                    </a:solidFill>
                  </a:tcPr>
                </a:tc>
                <a:tc>
                  <a:txBody>
                    <a:bodyPr/>
                    <a:lstStyle/>
                    <a:p>
                      <a:pPr algn="ctr"/>
                      <a:r>
                        <a:rPr sz="950">
                          <a:solidFill>
                            <a:srgbClr val="222222"/>
                          </a:solidFill>
                          <a:latin typeface="Calibri"/>
                        </a:rPr>
                        <a:t>—</a:t>
                      </a:r>
                    </a:p>
                  </a:txBody>
                  <a:tcPr anchor="ctr" marT="12700" marB="12700">
                    <a:solidFill>
                      <a:srgbClr val="FFFFFF"/>
                    </a:solidFill>
                  </a:tcPr>
                </a:tc>
                <a:tc>
                  <a:txBody>
                    <a:bodyPr/>
                    <a:lstStyle/>
                    <a:p>
                      <a:pPr algn="ctr"/>
                      <a:r>
                        <a:rPr sz="950">
                          <a:solidFill>
                            <a:srgbClr val="222222"/>
                          </a:solidFill>
                          <a:latin typeface="Calibri"/>
                        </a:rPr>
                        <a:t>—</a:t>
                      </a:r>
                    </a:p>
                  </a:txBody>
                  <a:tcPr anchor="ctr" marT="12700" marB="12700">
                    <a:solidFill>
                      <a:srgbClr val="FFFFFF"/>
                    </a:solidFill>
                  </a:tcPr>
                </a:tc>
              </a:tr>
              <a:tr h="228600">
                <a:tc>
                  <a:txBody>
                    <a:bodyPr/>
                    <a:lstStyle/>
                    <a:p>
                      <a:pPr algn="l"/>
                      <a:r>
                        <a:rPr sz="950" b="1">
                          <a:solidFill>
                            <a:srgbClr val="222222"/>
                          </a:solidFill>
                          <a:latin typeface="Calibri"/>
                        </a:rPr>
                        <a:t>Base</a:t>
                      </a:r>
                    </a:p>
                  </a:txBody>
                  <a:tcPr anchor="ctr" marT="12700" marB="12700">
                    <a:solidFill>
                      <a:srgbClr val="D9C6A3"/>
                    </a:solidFill>
                  </a:tcPr>
                </a:tc>
                <a:tc>
                  <a:txBody>
                    <a:bodyPr/>
                    <a:lstStyle/>
                    <a:p>
                      <a:pPr algn="ctr"/>
                      <a:r>
                        <a:rPr sz="950">
                          <a:solidFill>
                            <a:srgbClr val="222222"/>
                          </a:solidFill>
                          <a:latin typeface="Calibri"/>
                        </a:rPr>
                        <a:t>—</a:t>
                      </a:r>
                    </a:p>
                  </a:txBody>
                  <a:tcPr anchor="ctr" marT="12700" marB="12700">
                    <a:solidFill>
                      <a:srgbClr val="D9C6A3"/>
                    </a:solidFill>
                  </a:tcPr>
                </a:tc>
                <a:tc>
                  <a:txBody>
                    <a:bodyPr/>
                    <a:lstStyle/>
                    <a:p>
                      <a:pPr algn="ctr"/>
                      <a:r>
                        <a:rPr sz="950">
                          <a:solidFill>
                            <a:srgbClr val="222222"/>
                          </a:solidFill>
                          <a:latin typeface="Calibri"/>
                        </a:rPr>
                        <a:t>—</a:t>
                      </a:r>
                    </a:p>
                  </a:txBody>
                  <a:tcPr anchor="ctr" marT="12700" marB="12700">
                    <a:solidFill>
                      <a:srgbClr val="D9C6A3"/>
                    </a:solidFill>
                  </a:tcPr>
                </a:tc>
                <a:tc>
                  <a:txBody>
                    <a:bodyPr/>
                    <a:lstStyle/>
                    <a:p>
                      <a:pPr algn="ctr"/>
                      <a:r>
                        <a:rPr sz="950">
                          <a:solidFill>
                            <a:srgbClr val="222222"/>
                          </a:solidFill>
                          <a:latin typeface="Calibri"/>
                        </a:rPr>
                        <a:t>—</a:t>
                      </a:r>
                    </a:p>
                  </a:txBody>
                  <a:tcPr anchor="ctr" marT="12700" marB="12700">
                    <a:solidFill>
                      <a:srgbClr val="D9C6A3"/>
                    </a:solidFill>
                  </a:tcPr>
                </a:tc>
                <a:tc>
                  <a:txBody>
                    <a:bodyPr/>
                    <a:lstStyle/>
                    <a:p>
                      <a:pPr algn="ctr"/>
                      <a:r>
                        <a:rPr sz="950">
                          <a:solidFill>
                            <a:srgbClr val="222222"/>
                          </a:solidFill>
                          <a:latin typeface="Calibri"/>
                        </a:rPr>
                        <a:t>—</a:t>
                      </a:r>
                    </a:p>
                  </a:txBody>
                  <a:tcPr anchor="ctr" marT="12700" marB="12700">
                    <a:solidFill>
                      <a:srgbClr val="D9C6A3"/>
                    </a:solidFill>
                  </a:tcPr>
                </a:tc>
                <a:tc>
                  <a:txBody>
                    <a:bodyPr/>
                    <a:lstStyle/>
                    <a:p>
                      <a:pPr algn="ctr"/>
                      <a:r>
                        <a:rPr sz="950">
                          <a:solidFill>
                            <a:srgbClr val="222222"/>
                          </a:solidFill>
                          <a:latin typeface="Calibri"/>
                        </a:rPr>
                        <a:t>—</a:t>
                      </a:r>
                    </a:p>
                  </a:txBody>
                  <a:tcPr anchor="ctr" marT="12700" marB="12700">
                    <a:solidFill>
                      <a:srgbClr val="D9C6A3"/>
                    </a:solidFill>
                  </a:tcPr>
                </a:tc>
              </a:tr>
              <a:tr h="228600">
                <a:tc>
                  <a:txBody>
                    <a:bodyPr/>
                    <a:lstStyle/>
                    <a:p>
                      <a:pPr algn="l"/>
                      <a:r>
                        <a:rPr sz="950" b="1">
                          <a:solidFill>
                            <a:srgbClr val="222222"/>
                          </a:solidFill>
                          <a:latin typeface="Calibri"/>
                        </a:rPr>
                        <a:t>Base +1.0%</a:t>
                      </a:r>
                    </a:p>
                  </a:txBody>
                  <a:tcPr anchor="ctr" marT="12700" marB="12700">
                    <a:solidFill>
                      <a:srgbClr val="FFFFFF"/>
                    </a:solidFill>
                  </a:tcPr>
                </a:tc>
                <a:tc>
                  <a:txBody>
                    <a:bodyPr/>
                    <a:lstStyle/>
                    <a:p>
                      <a:pPr algn="ctr"/>
                      <a:r>
                        <a:rPr sz="950">
                          <a:solidFill>
                            <a:srgbClr val="222222"/>
                          </a:solidFill>
                          <a:latin typeface="Calibri"/>
                        </a:rPr>
                        <a:t>—</a:t>
                      </a:r>
                    </a:p>
                  </a:txBody>
                  <a:tcPr anchor="ctr" marT="12700" marB="12700">
                    <a:solidFill>
                      <a:srgbClr val="FFFFFF"/>
                    </a:solidFill>
                  </a:tcPr>
                </a:tc>
                <a:tc>
                  <a:txBody>
                    <a:bodyPr/>
                    <a:lstStyle/>
                    <a:p>
                      <a:pPr algn="ctr"/>
                      <a:r>
                        <a:rPr sz="950">
                          <a:solidFill>
                            <a:srgbClr val="222222"/>
                          </a:solidFill>
                          <a:latin typeface="Calibri"/>
                        </a:rPr>
                        <a:t>—</a:t>
                      </a:r>
                    </a:p>
                  </a:txBody>
                  <a:tcPr anchor="ctr" marT="12700" marB="12700">
                    <a:solidFill>
                      <a:srgbClr val="FFFFFF"/>
                    </a:solidFill>
                  </a:tcPr>
                </a:tc>
                <a:tc>
                  <a:txBody>
                    <a:bodyPr/>
                    <a:lstStyle/>
                    <a:p>
                      <a:pPr algn="ctr"/>
                      <a:r>
                        <a:rPr sz="950">
                          <a:solidFill>
                            <a:srgbClr val="222222"/>
                          </a:solidFill>
                          <a:latin typeface="Calibri"/>
                        </a:rPr>
                        <a:t>—</a:t>
                      </a:r>
                    </a:p>
                  </a:txBody>
                  <a:tcPr anchor="ctr" marT="12700" marB="12700">
                    <a:solidFill>
                      <a:srgbClr val="FFFFFF"/>
                    </a:solidFill>
                  </a:tcPr>
                </a:tc>
                <a:tc>
                  <a:txBody>
                    <a:bodyPr/>
                    <a:lstStyle/>
                    <a:p>
                      <a:pPr algn="ctr"/>
                      <a:r>
                        <a:rPr sz="950">
                          <a:solidFill>
                            <a:srgbClr val="222222"/>
                          </a:solidFill>
                          <a:latin typeface="Calibri"/>
                        </a:rPr>
                        <a:t>—</a:t>
                      </a:r>
                    </a:p>
                  </a:txBody>
                  <a:tcPr anchor="ctr" marT="12700" marB="12700">
                    <a:solidFill>
                      <a:srgbClr val="FFFFFF"/>
                    </a:solidFill>
                  </a:tcPr>
                </a:tc>
                <a:tc>
                  <a:txBody>
                    <a:bodyPr/>
                    <a:lstStyle/>
                    <a:p>
                      <a:pPr algn="ctr"/>
                      <a:r>
                        <a:rPr sz="950">
                          <a:solidFill>
                            <a:srgbClr val="222222"/>
                          </a:solidFill>
                          <a:latin typeface="Calibri"/>
                        </a:rPr>
                        <a:t>—</a:t>
                      </a:r>
                    </a:p>
                  </a:txBody>
                  <a:tcPr anchor="ctr" marT="12700" marB="12700">
                    <a:solidFill>
                      <a:srgbClr val="FFFFFF"/>
                    </a:solidFill>
                  </a:tcPr>
                </a:tc>
              </a:tr>
              <a:tr h="228600">
                <a:tc>
                  <a:txBody>
                    <a:bodyPr/>
                    <a:lstStyle/>
                    <a:p>
                      <a:pPr algn="l"/>
                      <a:r>
                        <a:rPr sz="950" b="1">
                          <a:solidFill>
                            <a:srgbClr val="222222"/>
                          </a:solidFill>
                          <a:latin typeface="Calibri"/>
                        </a:rPr>
                        <a:t>Base +2.0%</a:t>
                      </a:r>
                    </a:p>
                  </a:txBody>
                  <a:tcPr anchor="ctr" marT="12700" marB="12700">
                    <a:solidFill>
                      <a:srgbClr val="FFFFFF"/>
                    </a:solidFill>
                  </a:tcPr>
                </a:tc>
                <a:tc>
                  <a:txBody>
                    <a:bodyPr/>
                    <a:lstStyle/>
                    <a:p>
                      <a:pPr algn="ctr"/>
                      <a:r>
                        <a:rPr sz="950">
                          <a:solidFill>
                            <a:srgbClr val="222222"/>
                          </a:solidFill>
                          <a:latin typeface="Calibri"/>
                        </a:rPr>
                        <a:t>—</a:t>
                      </a:r>
                    </a:p>
                  </a:txBody>
                  <a:tcPr anchor="ctr" marT="12700" marB="12700">
                    <a:solidFill>
                      <a:srgbClr val="FFFFFF"/>
                    </a:solidFill>
                  </a:tcPr>
                </a:tc>
                <a:tc>
                  <a:txBody>
                    <a:bodyPr/>
                    <a:lstStyle/>
                    <a:p>
                      <a:pPr algn="ctr"/>
                      <a:r>
                        <a:rPr sz="950">
                          <a:solidFill>
                            <a:srgbClr val="222222"/>
                          </a:solidFill>
                          <a:latin typeface="Calibri"/>
                        </a:rPr>
                        <a:t>—</a:t>
                      </a:r>
                    </a:p>
                  </a:txBody>
                  <a:tcPr anchor="ctr" marT="12700" marB="12700">
                    <a:solidFill>
                      <a:srgbClr val="FFFFFF"/>
                    </a:solidFill>
                  </a:tcPr>
                </a:tc>
                <a:tc>
                  <a:txBody>
                    <a:bodyPr/>
                    <a:lstStyle/>
                    <a:p>
                      <a:pPr algn="ctr"/>
                      <a:r>
                        <a:rPr sz="950">
                          <a:solidFill>
                            <a:srgbClr val="222222"/>
                          </a:solidFill>
                          <a:latin typeface="Calibri"/>
                        </a:rPr>
                        <a:t>—</a:t>
                      </a:r>
                    </a:p>
                  </a:txBody>
                  <a:tcPr anchor="ctr" marT="12700" marB="12700">
                    <a:solidFill>
                      <a:srgbClr val="FFFFFF"/>
                    </a:solidFill>
                  </a:tcPr>
                </a:tc>
                <a:tc>
                  <a:txBody>
                    <a:bodyPr/>
                    <a:lstStyle/>
                    <a:p>
                      <a:pPr algn="ctr"/>
                      <a:r>
                        <a:rPr sz="950">
                          <a:solidFill>
                            <a:srgbClr val="222222"/>
                          </a:solidFill>
                          <a:latin typeface="Calibri"/>
                        </a:rPr>
                        <a:t>—</a:t>
                      </a:r>
                    </a:p>
                  </a:txBody>
                  <a:tcPr anchor="ctr" marT="12700" marB="12700">
                    <a:solidFill>
                      <a:srgbClr val="FFFFFF"/>
                    </a:solidFill>
                  </a:tcPr>
                </a:tc>
                <a:tc>
                  <a:txBody>
                    <a:bodyPr/>
                    <a:lstStyle/>
                    <a:p>
                      <a:pPr algn="ctr"/>
                      <a:r>
                        <a:rPr sz="950">
                          <a:solidFill>
                            <a:srgbClr val="222222"/>
                          </a:solidFill>
                          <a:latin typeface="Calibri"/>
                        </a:rPr>
                        <a:t>—</a:t>
                      </a:r>
                    </a:p>
                  </a:txBody>
                  <a:tcPr anchor="ctr" marT="12700" marB="12700">
                    <a:solidFill>
                      <a:srgbClr val="FFFFFF"/>
                    </a:solidFill>
                  </a:tcPr>
                </a:tc>
              </a:tr>
            </a:tbl>
          </a:graphicData>
        </a:graphic>
      </p:graphicFrame>
      <p:sp>
        <p:nvSpPr>
          <p:cNvPr id="15" name="TextBox 14"/>
          <p:cNvSpPr txBox="1"/>
          <p:nvPr/>
        </p:nvSpPr>
        <p:spPr>
          <a:xfrm>
            <a:off x="365760" y="6537960"/>
            <a:ext cx="7315200" cy="274320"/>
          </a:xfrm>
          <a:prstGeom prst="rect">
            <a:avLst/>
          </a:prstGeom>
          <a:noFill/>
        </p:spPr>
        <p:txBody>
          <a:bodyPr wrap="none" lIns="0" tIns="0" bIns="0">
            <a:spAutoFit/>
          </a:bodyPr>
          <a:lstStyle/>
          <a:p>
            <a:r>
              <a:rPr sz="800">
                <a:solidFill>
                  <a:srgbClr val="6E6E6E"/>
                </a:solidFill>
                <a:latin typeface="Calibri"/>
              </a:rPr>
              <a:t>VEON Ltd. (NASDAQ: VEON)  |  Institutional Equity Research  |  Strictly Confidential</a:t>
            </a:r>
          </a:p>
        </p:txBody>
      </p:sp>
      <p:sp>
        <p:nvSpPr>
          <p:cNvPr id="16" name="TextBox 15"/>
          <p:cNvSpPr txBox="1"/>
          <p:nvPr/>
        </p:nvSpPr>
        <p:spPr>
          <a:xfrm>
            <a:off x="11430000" y="6537960"/>
            <a:ext cx="548640" cy="274320"/>
          </a:xfrm>
          <a:prstGeom prst="rect">
            <a:avLst/>
          </a:prstGeom>
          <a:noFill/>
        </p:spPr>
        <p:txBody>
          <a:bodyPr wrap="none" lIns="0" tIns="0">
            <a:spAutoFit/>
          </a:bodyPr>
          <a:lstStyle/>
          <a:p>
            <a:pPr algn="r"/>
            <a:r>
              <a:rPr sz="900" b="1">
                <a:solidFill>
                  <a:srgbClr val="6E6E6E"/>
                </a:solidFill>
                <a:latin typeface="Calibri"/>
              </a:rPr>
              <a:t>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5486400" cy="274320"/>
          </a:xfrm>
          <a:prstGeom prst="rect">
            <a:avLst/>
          </a:prstGeom>
          <a:noFill/>
        </p:spPr>
        <p:txBody>
          <a:bodyPr wrap="square" lIns="0" rIns="0" tIns="0" bIns="0">
            <a:spAutoFit/>
          </a:bodyPr>
          <a:lstStyle/>
          <a:p>
            <a:pPr algn="l"/>
            <a:r>
              <a:rPr sz="1100" b="1" i="0">
                <a:solidFill>
                  <a:srgbClr val="B08D57"/>
                </a:solidFill>
                <a:latin typeface="Calibri"/>
              </a:rPr>
              <a:t>RISK MATRIX &amp; MITIGATION</a:t>
            </a:r>
          </a:p>
        </p:txBody>
      </p:sp>
      <p:sp>
        <p:nvSpPr>
          <p:cNvPr id="4" name="TextBox 3"/>
          <p:cNvSpPr txBox="1"/>
          <p:nvPr/>
        </p:nvSpPr>
        <p:spPr>
          <a:xfrm>
            <a:off x="457200" y="502920"/>
            <a:ext cx="10515600" cy="548640"/>
          </a:xfrm>
          <a:prstGeom prst="rect">
            <a:avLst/>
          </a:prstGeom>
          <a:noFill/>
        </p:spPr>
        <p:txBody>
          <a:bodyPr wrap="square" lIns="0" rIns="0" tIns="0" bIns="0">
            <a:spAutoFit/>
          </a:bodyPr>
          <a:lstStyle/>
          <a:p>
            <a:pPr algn="l"/>
            <a:r>
              <a:rPr sz="2600" b="1" i="0">
                <a:solidFill>
                  <a:srgbClr val="1B2A4A"/>
                </a:solidFill>
                <a:latin typeface="Calibri"/>
              </a:rPr>
              <a:t>Investment Risks</a:t>
            </a:r>
          </a:p>
        </p:txBody>
      </p:sp>
      <p:sp>
        <p:nvSpPr>
          <p:cNvPr id="5" name="TextBox 4"/>
          <p:cNvSpPr txBox="1"/>
          <p:nvPr/>
        </p:nvSpPr>
        <p:spPr>
          <a:xfrm>
            <a:off x="457200" y="1371600"/>
            <a:ext cx="5486400" cy="274320"/>
          </a:xfrm>
          <a:prstGeom prst="rect">
            <a:avLst/>
          </a:prstGeom>
          <a:noFill/>
        </p:spPr>
        <p:txBody>
          <a:bodyPr wrap="square" lIns="0" rIns="0" tIns="0" bIns="0">
            <a:spAutoFit/>
          </a:bodyPr>
          <a:lstStyle/>
          <a:p>
            <a:pPr algn="l"/>
            <a:r>
              <a:rPr sz="1200" b="1" i="0">
                <a:solidFill>
                  <a:srgbClr val="1B2A4A"/>
                </a:solidFill>
                <a:latin typeface="Calibri"/>
              </a:rPr>
              <a:t>RISK MATRIX (LIKELIHOOD x IMPACT)</a:t>
            </a:r>
          </a:p>
        </p:txBody>
      </p:sp>
      <p:sp>
        <p:nvSpPr>
          <p:cNvPr id="6" name="Rectangle 5"/>
          <p:cNvSpPr/>
          <p:nvPr/>
        </p:nvSpPr>
        <p:spPr>
          <a:xfrm>
            <a:off x="457200" y="1737360"/>
            <a:ext cx="5303520" cy="3840480"/>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737360"/>
            <a:ext cx="1767840" cy="1280160"/>
          </a:xfrm>
          <a:prstGeom prst="rect">
            <a:avLst/>
          </a:prstGeom>
          <a:solidFill>
            <a:srgbClr val="FFF2CC"/>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225040" y="1737360"/>
            <a:ext cx="1767840" cy="1280160"/>
          </a:xfrm>
          <a:prstGeom prst="rect">
            <a:avLst/>
          </a:prstGeom>
          <a:solidFill>
            <a:srgbClr val="F4CCCC"/>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992880" y="1737360"/>
            <a:ext cx="1767840" cy="1280160"/>
          </a:xfrm>
          <a:prstGeom prst="rect">
            <a:avLst/>
          </a:prstGeom>
          <a:solidFill>
            <a:srgbClr val="F4CCCC"/>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3017520"/>
            <a:ext cx="1767840" cy="1280160"/>
          </a:xfrm>
          <a:prstGeom prst="rect">
            <a:avLst/>
          </a:prstGeom>
          <a:solidFill>
            <a:srgbClr val="D9EAD3"/>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225040" y="3017520"/>
            <a:ext cx="1767840" cy="1280160"/>
          </a:xfrm>
          <a:prstGeom prst="rect">
            <a:avLst/>
          </a:prstGeom>
          <a:solidFill>
            <a:srgbClr val="FFF2CC"/>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992880" y="3017520"/>
            <a:ext cx="1767840" cy="1280160"/>
          </a:xfrm>
          <a:prstGeom prst="rect">
            <a:avLst/>
          </a:prstGeom>
          <a:solidFill>
            <a:srgbClr val="F4CCCC"/>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 y="4297680"/>
            <a:ext cx="1767840" cy="1280160"/>
          </a:xfrm>
          <a:prstGeom prst="rect">
            <a:avLst/>
          </a:prstGeom>
          <a:solidFill>
            <a:srgbClr val="D9EAD3"/>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225040" y="4297680"/>
            <a:ext cx="1767840" cy="1280160"/>
          </a:xfrm>
          <a:prstGeom prst="rect">
            <a:avLst/>
          </a:prstGeom>
          <a:solidFill>
            <a:srgbClr val="D9EAD3"/>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992880" y="4297680"/>
            <a:ext cx="1767840" cy="1280160"/>
          </a:xfrm>
          <a:prstGeom prst="rect">
            <a:avLst/>
          </a:prstGeom>
          <a:solidFill>
            <a:srgbClr val="FFF2CC"/>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 y="3520440"/>
            <a:ext cx="502920" cy="274320"/>
          </a:xfrm>
          <a:prstGeom prst="rect">
            <a:avLst/>
          </a:prstGeom>
          <a:noFill/>
        </p:spPr>
        <p:txBody>
          <a:bodyPr wrap="none" lIns="0" rIns="0" tIns="0" bIns="0">
            <a:spAutoFit/>
          </a:bodyPr>
          <a:lstStyle/>
          <a:p>
            <a:pPr algn="ctr"/>
            <a:r>
              <a:rPr sz="900" b="1" i="0">
                <a:solidFill>
                  <a:srgbClr val="6E6E6E"/>
                </a:solidFill>
                <a:latin typeface="Calibri"/>
              </a:rPr>
              <a:t>IMPACT</a:t>
            </a:r>
          </a:p>
        </p:txBody>
      </p:sp>
      <p:sp>
        <p:nvSpPr>
          <p:cNvPr id="17" name="TextBox 16"/>
          <p:cNvSpPr txBox="1"/>
          <p:nvPr/>
        </p:nvSpPr>
        <p:spPr>
          <a:xfrm>
            <a:off x="2560320" y="5623560"/>
            <a:ext cx="1097280" cy="274320"/>
          </a:xfrm>
          <a:prstGeom prst="rect">
            <a:avLst/>
          </a:prstGeom>
          <a:noFill/>
        </p:spPr>
        <p:txBody>
          <a:bodyPr wrap="square" lIns="0" rIns="0" tIns="0" bIns="0">
            <a:spAutoFit/>
          </a:bodyPr>
          <a:lstStyle/>
          <a:p>
            <a:pPr algn="ctr"/>
            <a:r>
              <a:rPr sz="900" b="1" i="0">
                <a:solidFill>
                  <a:srgbClr val="6E6E6E"/>
                </a:solidFill>
                <a:latin typeface="Calibri"/>
              </a:rPr>
              <a:t>LIKELIHOOD</a:t>
            </a:r>
          </a:p>
        </p:txBody>
      </p:sp>
      <p:sp>
        <p:nvSpPr>
          <p:cNvPr id="18" name="Oval 17"/>
          <p:cNvSpPr/>
          <p:nvPr/>
        </p:nvSpPr>
        <p:spPr>
          <a:xfrm>
            <a:off x="4794504" y="1874520"/>
            <a:ext cx="164592" cy="164592"/>
          </a:xfrm>
          <a:prstGeom prst="ellipse">
            <a:avLst/>
          </a:prstGeom>
          <a:solidFill>
            <a:srgbClr val="1B2A4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099560" y="2057400"/>
            <a:ext cx="1554480" cy="502920"/>
          </a:xfrm>
          <a:prstGeom prst="rect">
            <a:avLst/>
          </a:prstGeom>
          <a:noFill/>
        </p:spPr>
        <p:txBody>
          <a:bodyPr wrap="square" lIns="0" rIns="0" tIns="0" bIns="0">
            <a:spAutoFit/>
          </a:bodyPr>
          <a:lstStyle/>
          <a:p>
            <a:pPr algn="ctr"/>
            <a:r>
              <a:rPr sz="800" b="1" i="0">
                <a:solidFill>
                  <a:srgbClr val="1B2A4A"/>
                </a:solidFill>
                <a:latin typeface="Calibri"/>
              </a:rPr>
              <a:t>Ukraine Nationalization</a:t>
            </a:r>
          </a:p>
        </p:txBody>
      </p:sp>
      <p:sp>
        <p:nvSpPr>
          <p:cNvPr id="20" name="Oval 19"/>
          <p:cNvSpPr/>
          <p:nvPr/>
        </p:nvSpPr>
        <p:spPr>
          <a:xfrm>
            <a:off x="3026664" y="3154680"/>
            <a:ext cx="164592" cy="164592"/>
          </a:xfrm>
          <a:prstGeom prst="ellipse">
            <a:avLst/>
          </a:prstGeom>
          <a:solidFill>
            <a:srgbClr val="1B2A4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331720" y="3337560"/>
            <a:ext cx="1554480" cy="502920"/>
          </a:xfrm>
          <a:prstGeom prst="rect">
            <a:avLst/>
          </a:prstGeom>
          <a:noFill/>
        </p:spPr>
        <p:txBody>
          <a:bodyPr wrap="square" lIns="0" rIns="0" tIns="0" bIns="0">
            <a:spAutoFit/>
          </a:bodyPr>
          <a:lstStyle/>
          <a:p>
            <a:pPr algn="ctr"/>
            <a:r>
              <a:rPr sz="800" b="1" i="0">
                <a:solidFill>
                  <a:srgbClr val="1B2A4A"/>
                </a:solidFill>
                <a:latin typeface="Calibri"/>
              </a:rPr>
              <a:t>FCF Conversion Shortfall</a:t>
            </a:r>
          </a:p>
        </p:txBody>
      </p:sp>
      <p:sp>
        <p:nvSpPr>
          <p:cNvPr id="22" name="Oval 21"/>
          <p:cNvSpPr/>
          <p:nvPr/>
        </p:nvSpPr>
        <p:spPr>
          <a:xfrm>
            <a:off x="1258824" y="3154680"/>
            <a:ext cx="164592" cy="164592"/>
          </a:xfrm>
          <a:prstGeom prst="ellipse">
            <a:avLst/>
          </a:prstGeom>
          <a:solidFill>
            <a:srgbClr val="1B2A4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3880" y="3337560"/>
            <a:ext cx="1554480" cy="502920"/>
          </a:xfrm>
          <a:prstGeom prst="rect">
            <a:avLst/>
          </a:prstGeom>
          <a:noFill/>
        </p:spPr>
        <p:txBody>
          <a:bodyPr wrap="square" lIns="0" rIns="0" tIns="0" bIns="0">
            <a:spAutoFit/>
          </a:bodyPr>
          <a:lstStyle/>
          <a:p>
            <a:pPr algn="ctr"/>
            <a:r>
              <a:rPr sz="800" b="1" i="0">
                <a:solidFill>
                  <a:srgbClr val="1B2A4A"/>
                </a:solidFill>
                <a:latin typeface="Calibri"/>
              </a:rPr>
              <a:t>Ownership Concentration</a:t>
            </a:r>
          </a:p>
        </p:txBody>
      </p:sp>
      <p:sp>
        <p:nvSpPr>
          <p:cNvPr id="24" name="Oval 23"/>
          <p:cNvSpPr/>
          <p:nvPr/>
        </p:nvSpPr>
        <p:spPr>
          <a:xfrm>
            <a:off x="3026664" y="1874520"/>
            <a:ext cx="164592" cy="164592"/>
          </a:xfrm>
          <a:prstGeom prst="ellipse">
            <a:avLst/>
          </a:prstGeom>
          <a:solidFill>
            <a:srgbClr val="1B2A4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331720" y="2057400"/>
            <a:ext cx="1554480" cy="502920"/>
          </a:xfrm>
          <a:prstGeom prst="rect">
            <a:avLst/>
          </a:prstGeom>
          <a:noFill/>
        </p:spPr>
        <p:txBody>
          <a:bodyPr wrap="square" lIns="0" rIns="0" tIns="0" bIns="0">
            <a:spAutoFit/>
          </a:bodyPr>
          <a:lstStyle/>
          <a:p>
            <a:pPr algn="ctr"/>
            <a:r>
              <a:rPr sz="800" b="1" i="0">
                <a:solidFill>
                  <a:srgbClr val="1B2A4A"/>
                </a:solidFill>
                <a:latin typeface="Calibri"/>
              </a:rPr>
              <a:t>FX Volatility (5 ccys)</a:t>
            </a:r>
          </a:p>
        </p:txBody>
      </p:sp>
      <p:sp>
        <p:nvSpPr>
          <p:cNvPr id="26" name="Oval 25"/>
          <p:cNvSpPr/>
          <p:nvPr/>
        </p:nvSpPr>
        <p:spPr>
          <a:xfrm>
            <a:off x="1258824" y="1874520"/>
            <a:ext cx="164592" cy="164592"/>
          </a:xfrm>
          <a:prstGeom prst="ellipse">
            <a:avLst/>
          </a:prstGeom>
          <a:solidFill>
            <a:srgbClr val="1B2A4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63880" y="2057400"/>
            <a:ext cx="1554480" cy="502920"/>
          </a:xfrm>
          <a:prstGeom prst="rect">
            <a:avLst/>
          </a:prstGeom>
          <a:noFill/>
        </p:spPr>
        <p:txBody>
          <a:bodyPr wrap="square" lIns="0" rIns="0" tIns="0" bIns="0">
            <a:spAutoFit/>
          </a:bodyPr>
          <a:lstStyle/>
          <a:p>
            <a:pPr algn="ctr"/>
            <a:r>
              <a:rPr sz="800" b="1" i="0">
                <a:solidFill>
                  <a:srgbClr val="1B2A4A"/>
                </a:solidFill>
                <a:latin typeface="Calibri"/>
              </a:rPr>
              <a:t>Bangladesh/Pakistan Disruption</a:t>
            </a:r>
          </a:p>
        </p:txBody>
      </p:sp>
      <p:sp>
        <p:nvSpPr>
          <p:cNvPr id="28" name="TextBox 27"/>
          <p:cNvSpPr txBox="1"/>
          <p:nvPr/>
        </p:nvSpPr>
        <p:spPr>
          <a:xfrm>
            <a:off x="6080760" y="1371600"/>
            <a:ext cx="5669280" cy="274320"/>
          </a:xfrm>
          <a:prstGeom prst="rect">
            <a:avLst/>
          </a:prstGeom>
          <a:noFill/>
        </p:spPr>
        <p:txBody>
          <a:bodyPr wrap="square" lIns="0" rIns="0" tIns="0" bIns="0">
            <a:spAutoFit/>
          </a:bodyPr>
          <a:lstStyle/>
          <a:p>
            <a:pPr algn="l"/>
            <a:r>
              <a:rPr sz="1200" b="1" i="0">
                <a:solidFill>
                  <a:srgbClr val="1B2A4A"/>
                </a:solidFill>
                <a:latin typeface="Calibri"/>
              </a:rPr>
              <a:t>RISK / MITIGATION SUMMARY</a:t>
            </a:r>
          </a:p>
        </p:txBody>
      </p:sp>
      <p:graphicFrame>
        <p:nvGraphicFramePr>
          <p:cNvPr id="29" name="Table 28"/>
          <p:cNvGraphicFramePr>
            <a:graphicFrameLocks noGrp="1"/>
          </p:cNvGraphicFramePr>
          <p:nvPr/>
        </p:nvGraphicFramePr>
        <p:xfrm>
          <a:off x="6080760" y="1691640"/>
          <a:ext cx="5669279" cy="4023360"/>
        </p:xfrm>
        <a:graphic>
          <a:graphicData uri="http://schemas.openxmlformats.org/drawingml/2006/table">
            <a:tbl>
              <a:tblPr firstRow="1" bandRow="1">
                <a:tableStyleId>{5C22544A-7EE6-4342-B048-85BDC9FD1C3A}</a:tableStyleId>
              </a:tblPr>
              <a:tblGrid>
                <a:gridCol w="2381097"/>
                <a:gridCol w="3288182"/>
              </a:tblGrid>
              <a:tr h="670560">
                <a:tc>
                  <a:txBody>
                    <a:bodyPr/>
                    <a:lstStyle/>
                    <a:p>
                      <a:pPr algn="l"/>
                      <a:r>
                        <a:rPr sz="1050" b="1">
                          <a:solidFill>
                            <a:srgbClr val="FFFFFF"/>
                          </a:solidFill>
                          <a:latin typeface="Calibri"/>
                        </a:rPr>
                        <a:t>Risk</a:t>
                      </a:r>
                    </a:p>
                  </a:txBody>
                  <a:tcPr anchor="ctr" marT="25400" marB="25400">
                    <a:solidFill>
                      <a:srgbClr val="1B2A4A"/>
                    </a:solidFill>
                  </a:tcPr>
                </a:tc>
                <a:tc>
                  <a:txBody>
                    <a:bodyPr/>
                    <a:lstStyle/>
                    <a:p>
                      <a:pPr algn="ctr"/>
                      <a:r>
                        <a:rPr sz="1050" b="1">
                          <a:solidFill>
                            <a:srgbClr val="FFFFFF"/>
                          </a:solidFill>
                          <a:latin typeface="Calibri"/>
                        </a:rPr>
                        <a:t>Mitigation / Monitoring</a:t>
                      </a:r>
                    </a:p>
                  </a:txBody>
                  <a:tcPr anchor="ctr" marT="25400" marB="25400">
                    <a:solidFill>
                      <a:srgbClr val="1B2A4A"/>
                    </a:solidFill>
                  </a:tcPr>
                </a:tc>
              </a:tr>
              <a:tr h="670560">
                <a:tc>
                  <a:txBody>
                    <a:bodyPr/>
                    <a:lstStyle/>
                    <a:p>
                      <a:pPr algn="l"/>
                      <a:r>
                        <a:rPr sz="1000" b="1">
                          <a:solidFill>
                            <a:srgbClr val="222222"/>
                          </a:solidFill>
                          <a:latin typeface="Calibri"/>
                        </a:rPr>
                        <a:t>Ukraine nationalization risk</a:t>
                      </a:r>
                    </a:p>
                  </a:txBody>
                  <a:tcPr anchor="ctr" marT="12700" marB="12700">
                    <a:solidFill>
                      <a:srgbClr val="FFFFFF"/>
                    </a:solidFill>
                  </a:tcPr>
                </a:tc>
                <a:tc>
                  <a:txBody>
                    <a:bodyPr/>
                    <a:lstStyle/>
                    <a:p>
                      <a:pPr algn="ctr"/>
                      <a:r>
                        <a:rPr sz="1000">
                          <a:solidFill>
                            <a:srgbClr val="222222"/>
                          </a:solidFill>
                          <a:latin typeface="Calibri"/>
                        </a:rPr>
                        <a:t>Monitor legislation; Kyivstar listing aids price discovery</a:t>
                      </a:r>
                    </a:p>
                  </a:txBody>
                  <a:tcPr anchor="ctr" marT="12700" marB="12700">
                    <a:solidFill>
                      <a:srgbClr val="FFFFFF"/>
                    </a:solidFill>
                  </a:tcPr>
                </a:tc>
              </a:tr>
              <a:tr h="670560">
                <a:tc>
                  <a:txBody>
                    <a:bodyPr/>
                    <a:lstStyle/>
                    <a:p>
                      <a:pPr algn="l"/>
                      <a:r>
                        <a:rPr sz="1000" b="1">
                          <a:solidFill>
                            <a:srgbClr val="222222"/>
                          </a:solidFill>
                          <a:latin typeface="Calibri"/>
                        </a:rPr>
                        <a:t>FCF conversion below FY21-22</a:t>
                      </a:r>
                    </a:p>
                  </a:txBody>
                  <a:tcPr anchor="ctr" marT="12700" marB="12700">
                    <a:solidFill>
                      <a:srgbClr val="F7F7F5"/>
                    </a:solidFill>
                  </a:tcPr>
                </a:tc>
                <a:tc>
                  <a:txBody>
                    <a:bodyPr/>
                    <a:lstStyle/>
                    <a:p>
                      <a:pPr algn="ctr"/>
                      <a:r>
                        <a:rPr sz="1000">
                          <a:solidFill>
                            <a:srgbClr val="222222"/>
                          </a:solidFill>
                          <a:latin typeface="Calibri"/>
                        </a:rPr>
                        <a:t>Track quarterly FCF margin vs. buyback funding needs</a:t>
                      </a:r>
                    </a:p>
                  </a:txBody>
                  <a:tcPr anchor="ctr" marT="12700" marB="12700">
                    <a:solidFill>
                      <a:srgbClr val="F7F7F5"/>
                    </a:solidFill>
                  </a:tcPr>
                </a:tc>
              </a:tr>
              <a:tr h="670560">
                <a:tc>
                  <a:txBody>
                    <a:bodyPr/>
                    <a:lstStyle/>
                    <a:p>
                      <a:pPr algn="l"/>
                      <a:r>
                        <a:rPr sz="1000" b="1">
                          <a:solidFill>
                            <a:srgbClr val="222222"/>
                          </a:solidFill>
                          <a:latin typeface="Calibri"/>
                        </a:rPr>
                        <a:t>LetterOne ownership concentration</a:t>
                      </a:r>
                    </a:p>
                  </a:txBody>
                  <a:tcPr anchor="ctr" marT="12700" marB="12700">
                    <a:solidFill>
                      <a:srgbClr val="FFFFFF"/>
                    </a:solidFill>
                  </a:tcPr>
                </a:tc>
                <a:tc>
                  <a:txBody>
                    <a:bodyPr/>
                    <a:lstStyle/>
                    <a:p>
                      <a:pPr algn="ctr"/>
                      <a:r>
                        <a:rPr sz="1000">
                          <a:solidFill>
                            <a:srgbClr val="222222"/>
                          </a:solidFill>
                          <a:latin typeface="Calibri"/>
                        </a:rPr>
                        <a:t>Monitor governance disclosures and regulatory filings</a:t>
                      </a:r>
                    </a:p>
                  </a:txBody>
                  <a:tcPr anchor="ctr" marT="12700" marB="12700">
                    <a:solidFill>
                      <a:srgbClr val="FFFFFF"/>
                    </a:solidFill>
                  </a:tcPr>
                </a:tc>
              </a:tr>
              <a:tr h="670560">
                <a:tc>
                  <a:txBody>
                    <a:bodyPr/>
                    <a:lstStyle/>
                    <a:p>
                      <a:pPr algn="l"/>
                      <a:r>
                        <a:rPr sz="1000" b="1">
                          <a:solidFill>
                            <a:srgbClr val="222222"/>
                          </a:solidFill>
                          <a:latin typeface="Calibri"/>
                        </a:rPr>
                        <a:t>FX volatility (5 currencies)</a:t>
                      </a:r>
                    </a:p>
                  </a:txBody>
                  <a:tcPr anchor="ctr" marT="12700" marB="12700">
                    <a:solidFill>
                      <a:srgbClr val="F7F7F5"/>
                    </a:solidFill>
                  </a:tcPr>
                </a:tc>
                <a:tc>
                  <a:txBody>
                    <a:bodyPr/>
                    <a:lstStyle/>
                    <a:p>
                      <a:pPr algn="ctr"/>
                      <a:r>
                        <a:rPr sz="1000">
                          <a:solidFill>
                            <a:srgbClr val="222222"/>
                          </a:solidFill>
                          <a:latin typeface="Calibri"/>
                        </a:rPr>
                        <a:t>USD cash-balance hedge (48% of cash, up from 39%)</a:t>
                      </a:r>
                    </a:p>
                  </a:txBody>
                  <a:tcPr anchor="ctr" marT="12700" marB="12700">
                    <a:solidFill>
                      <a:srgbClr val="F7F7F5"/>
                    </a:solidFill>
                  </a:tcPr>
                </a:tc>
              </a:tr>
              <a:tr h="670560">
                <a:tc>
                  <a:txBody>
                    <a:bodyPr/>
                    <a:lstStyle/>
                    <a:p>
                      <a:pPr algn="l"/>
                      <a:r>
                        <a:rPr sz="1000" b="1">
                          <a:solidFill>
                            <a:srgbClr val="222222"/>
                          </a:solidFill>
                          <a:latin typeface="Calibri"/>
                        </a:rPr>
                        <a:t>Political/network disruption risk</a:t>
                      </a:r>
                    </a:p>
                  </a:txBody>
                  <a:tcPr anchor="ctr" marT="12700" marB="12700">
                    <a:solidFill>
                      <a:srgbClr val="FFFFFF"/>
                    </a:solidFill>
                  </a:tcPr>
                </a:tc>
                <a:tc>
                  <a:txBody>
                    <a:bodyPr/>
                    <a:lstStyle/>
                    <a:p>
                      <a:pPr algn="ctr"/>
                      <a:r>
                        <a:rPr sz="1000">
                          <a:solidFill>
                            <a:srgbClr val="222222"/>
                          </a:solidFill>
                          <a:latin typeface="Calibri"/>
                        </a:rPr>
                        <a:t>Track network-uptime disclosures in BD/Pakistan</a:t>
                      </a:r>
                    </a:p>
                  </a:txBody>
                  <a:tcPr anchor="ctr" marT="12700" marB="12700">
                    <a:solidFill>
                      <a:srgbClr val="FFFFFF"/>
                    </a:solidFill>
                  </a:tcPr>
                </a:tc>
              </a:tr>
            </a:tbl>
          </a:graphicData>
        </a:graphic>
      </p:graphicFrame>
      <p:sp>
        <p:nvSpPr>
          <p:cNvPr id="30" name="TextBox 29"/>
          <p:cNvSpPr txBox="1"/>
          <p:nvPr/>
        </p:nvSpPr>
        <p:spPr>
          <a:xfrm>
            <a:off x="365760" y="6537960"/>
            <a:ext cx="7315200" cy="274320"/>
          </a:xfrm>
          <a:prstGeom prst="rect">
            <a:avLst/>
          </a:prstGeom>
          <a:noFill/>
        </p:spPr>
        <p:txBody>
          <a:bodyPr wrap="none" lIns="0" tIns="0" bIns="0">
            <a:spAutoFit/>
          </a:bodyPr>
          <a:lstStyle/>
          <a:p>
            <a:r>
              <a:rPr sz="800">
                <a:solidFill>
                  <a:srgbClr val="6E6E6E"/>
                </a:solidFill>
                <a:latin typeface="Calibri"/>
              </a:rPr>
              <a:t>VEON Ltd. (NASDAQ: VEON)  |  Institutional Equity Research  |  Strictly Confidential</a:t>
            </a:r>
          </a:p>
        </p:txBody>
      </p:sp>
      <p:sp>
        <p:nvSpPr>
          <p:cNvPr id="31" name="TextBox 30"/>
          <p:cNvSpPr txBox="1"/>
          <p:nvPr/>
        </p:nvSpPr>
        <p:spPr>
          <a:xfrm>
            <a:off x="11430000" y="6537960"/>
            <a:ext cx="548640" cy="274320"/>
          </a:xfrm>
          <a:prstGeom prst="rect">
            <a:avLst/>
          </a:prstGeom>
          <a:noFill/>
        </p:spPr>
        <p:txBody>
          <a:bodyPr wrap="none" lIns="0" tIns="0">
            <a:spAutoFit/>
          </a:bodyPr>
          <a:lstStyle/>
          <a:p>
            <a:pPr algn="r"/>
            <a:r>
              <a:rPr sz="900" b="1">
                <a:solidFill>
                  <a:srgbClr val="6E6E6E"/>
                </a:solidFill>
                <a:latin typeface="Calibri"/>
              </a:rPr>
              <a:t>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5486400" cy="274320"/>
          </a:xfrm>
          <a:prstGeom prst="rect">
            <a:avLst/>
          </a:prstGeom>
          <a:noFill/>
        </p:spPr>
        <p:txBody>
          <a:bodyPr wrap="square" lIns="0" rIns="0" tIns="0" bIns="0">
            <a:spAutoFit/>
          </a:bodyPr>
          <a:lstStyle/>
          <a:p>
            <a:pPr algn="l"/>
            <a:r>
              <a:rPr sz="1100" b="1" i="0">
                <a:solidFill>
                  <a:srgbClr val="B08D57"/>
                </a:solidFill>
                <a:latin typeface="Calibri"/>
              </a:rPr>
              <a:t>SUSTAINABILITY PROFILE</a:t>
            </a:r>
          </a:p>
        </p:txBody>
      </p:sp>
      <p:sp>
        <p:nvSpPr>
          <p:cNvPr id="4" name="TextBox 3"/>
          <p:cNvSpPr txBox="1"/>
          <p:nvPr/>
        </p:nvSpPr>
        <p:spPr>
          <a:xfrm>
            <a:off x="457200" y="502920"/>
            <a:ext cx="10515600" cy="548640"/>
          </a:xfrm>
          <a:prstGeom prst="rect">
            <a:avLst/>
          </a:prstGeom>
          <a:noFill/>
        </p:spPr>
        <p:txBody>
          <a:bodyPr wrap="square" lIns="0" rIns="0" tIns="0" bIns="0">
            <a:spAutoFit/>
          </a:bodyPr>
          <a:lstStyle/>
          <a:p>
            <a:pPr algn="l"/>
            <a:r>
              <a:rPr sz="2600" b="1" i="0">
                <a:solidFill>
                  <a:srgbClr val="1B2A4A"/>
                </a:solidFill>
                <a:latin typeface="Calibri"/>
              </a:rPr>
              <a:t>ESG</a:t>
            </a:r>
          </a:p>
        </p:txBody>
      </p:sp>
      <p:sp>
        <p:nvSpPr>
          <p:cNvPr id="5" name="Rounded Rectangle 4"/>
          <p:cNvSpPr/>
          <p:nvPr/>
        </p:nvSpPr>
        <p:spPr>
          <a:xfrm>
            <a:off x="457200" y="1417320"/>
            <a:ext cx="2615184" cy="960120"/>
          </a:xfrm>
          <a:prstGeom prst="roundRect">
            <a:avLst>
              <a:gd name="adj" fmla="val 6000"/>
            </a:avLst>
          </a:prstGeom>
          <a:solidFill>
            <a:srgbClr val="FFFFFF"/>
          </a:solidFill>
          <a:ln w="9525">
            <a:solidFill>
              <a:srgbClr val="E3E3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508760"/>
            <a:ext cx="2395728" cy="274320"/>
          </a:xfrm>
          <a:prstGeom prst="rect">
            <a:avLst/>
          </a:prstGeom>
          <a:noFill/>
        </p:spPr>
        <p:txBody>
          <a:bodyPr wrap="square" lIns="0" rIns="0" tIns="0" bIns="0">
            <a:spAutoFit/>
          </a:bodyPr>
          <a:lstStyle/>
          <a:p>
            <a:pPr algn="l"/>
            <a:r>
              <a:rPr sz="950" b="1" i="0">
                <a:solidFill>
                  <a:srgbClr val="6E6E6E"/>
                </a:solidFill>
                <a:latin typeface="Calibri"/>
              </a:rPr>
              <a:t>●  SUSTAINALYTICS ESG RISK</a:t>
            </a:r>
          </a:p>
        </p:txBody>
      </p:sp>
      <p:sp>
        <p:nvSpPr>
          <p:cNvPr id="7" name="TextBox 6"/>
          <p:cNvSpPr txBox="1"/>
          <p:nvPr/>
        </p:nvSpPr>
        <p:spPr>
          <a:xfrm>
            <a:off x="502920" y="1764792"/>
            <a:ext cx="2523744" cy="320040"/>
          </a:xfrm>
          <a:prstGeom prst="rect">
            <a:avLst/>
          </a:prstGeom>
          <a:noFill/>
        </p:spPr>
        <p:txBody>
          <a:bodyPr wrap="square" lIns="0" rIns="0" tIns="0" bIns="0" anchor="ctr">
            <a:spAutoFit/>
          </a:bodyPr>
          <a:lstStyle/>
          <a:p>
            <a:pPr algn="ctr"/>
            <a:r>
              <a:rPr sz="2400" b="1" i="0">
                <a:solidFill>
                  <a:srgbClr val="2E7D32"/>
                </a:solidFill>
                <a:latin typeface="Calibri"/>
              </a:rPr>
              <a:t>30.1</a:t>
            </a:r>
          </a:p>
        </p:txBody>
      </p:sp>
      <p:sp>
        <p:nvSpPr>
          <p:cNvPr id="8" name="TextBox 7"/>
          <p:cNvSpPr txBox="1"/>
          <p:nvPr/>
        </p:nvSpPr>
        <p:spPr>
          <a:xfrm>
            <a:off x="502920" y="2084832"/>
            <a:ext cx="2523744" cy="256032"/>
          </a:xfrm>
          <a:prstGeom prst="rect">
            <a:avLst/>
          </a:prstGeom>
          <a:noFill/>
        </p:spPr>
        <p:txBody>
          <a:bodyPr wrap="square" lIns="0" rIns="0" tIns="0" bIns="0">
            <a:spAutoFit/>
          </a:bodyPr>
          <a:lstStyle/>
          <a:p>
            <a:pPr algn="ctr"/>
            <a:r>
              <a:rPr sz="950" b="0" i="0">
                <a:solidFill>
                  <a:srgbClr val="6E6E6E"/>
                </a:solidFill>
                <a:latin typeface="Calibri"/>
              </a:rPr>
              <a:t>vs. 39.7 (Feb-24)</a:t>
            </a:r>
          </a:p>
        </p:txBody>
      </p:sp>
      <p:sp>
        <p:nvSpPr>
          <p:cNvPr id="9" name="Rounded Rectangle 8"/>
          <p:cNvSpPr/>
          <p:nvPr/>
        </p:nvSpPr>
        <p:spPr>
          <a:xfrm>
            <a:off x="3200400" y="1417320"/>
            <a:ext cx="2615184" cy="960120"/>
          </a:xfrm>
          <a:prstGeom prst="roundRect">
            <a:avLst>
              <a:gd name="adj" fmla="val 6000"/>
            </a:avLst>
          </a:prstGeom>
          <a:solidFill>
            <a:srgbClr val="FFFFFF"/>
          </a:solidFill>
          <a:ln w="9525">
            <a:solidFill>
              <a:srgbClr val="E3E3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310128" y="1508760"/>
            <a:ext cx="2395728" cy="274320"/>
          </a:xfrm>
          <a:prstGeom prst="rect">
            <a:avLst/>
          </a:prstGeom>
          <a:noFill/>
        </p:spPr>
        <p:txBody>
          <a:bodyPr wrap="square" lIns="0" rIns="0" tIns="0" bIns="0">
            <a:spAutoFit/>
          </a:bodyPr>
          <a:lstStyle/>
          <a:p>
            <a:pPr algn="l"/>
            <a:r>
              <a:rPr sz="950" b="1" i="0">
                <a:solidFill>
                  <a:srgbClr val="6E6E6E"/>
                </a:solidFill>
                <a:latin typeface="Calibri"/>
              </a:rPr>
              <a:t>●  FEMALE LEADERSHIP — PAKISTAN</a:t>
            </a:r>
          </a:p>
        </p:txBody>
      </p:sp>
      <p:sp>
        <p:nvSpPr>
          <p:cNvPr id="11" name="TextBox 10"/>
          <p:cNvSpPr txBox="1"/>
          <p:nvPr/>
        </p:nvSpPr>
        <p:spPr>
          <a:xfrm>
            <a:off x="3246120" y="1764792"/>
            <a:ext cx="2523744" cy="320040"/>
          </a:xfrm>
          <a:prstGeom prst="rect">
            <a:avLst/>
          </a:prstGeom>
          <a:noFill/>
        </p:spPr>
        <p:txBody>
          <a:bodyPr wrap="square" lIns="0" rIns="0" tIns="0" bIns="0" anchor="ctr">
            <a:spAutoFit/>
          </a:bodyPr>
          <a:lstStyle/>
          <a:p>
            <a:pPr algn="ctr"/>
            <a:r>
              <a:rPr sz="2400" b="1" i="0">
                <a:solidFill>
                  <a:srgbClr val="2E7D32"/>
                </a:solidFill>
                <a:latin typeface="Calibri"/>
              </a:rPr>
              <a:t>29%</a:t>
            </a:r>
          </a:p>
        </p:txBody>
      </p:sp>
      <p:sp>
        <p:nvSpPr>
          <p:cNvPr id="12" name="TextBox 11"/>
          <p:cNvSpPr txBox="1"/>
          <p:nvPr/>
        </p:nvSpPr>
        <p:spPr>
          <a:xfrm>
            <a:off x="3246120" y="2084832"/>
            <a:ext cx="2523744" cy="256032"/>
          </a:xfrm>
          <a:prstGeom prst="rect">
            <a:avLst/>
          </a:prstGeom>
          <a:noFill/>
        </p:spPr>
        <p:txBody>
          <a:bodyPr wrap="square" lIns="0" rIns="0" tIns="0" bIns="0">
            <a:spAutoFit/>
          </a:bodyPr>
          <a:lstStyle/>
          <a:p>
            <a:pPr algn="ctr"/>
            <a:r>
              <a:rPr sz="950" b="0" i="0">
                <a:solidFill>
                  <a:srgbClr val="6E6E6E"/>
                </a:solidFill>
                <a:latin typeface="Calibri"/>
              </a:rPr>
              <a:t>vs. 24% prior year</a:t>
            </a:r>
          </a:p>
        </p:txBody>
      </p:sp>
      <p:sp>
        <p:nvSpPr>
          <p:cNvPr id="13" name="Rounded Rectangle 12"/>
          <p:cNvSpPr/>
          <p:nvPr/>
        </p:nvSpPr>
        <p:spPr>
          <a:xfrm>
            <a:off x="5943600" y="1417320"/>
            <a:ext cx="2615184" cy="960120"/>
          </a:xfrm>
          <a:prstGeom prst="roundRect">
            <a:avLst>
              <a:gd name="adj" fmla="val 6000"/>
            </a:avLst>
          </a:prstGeom>
          <a:solidFill>
            <a:srgbClr val="FFFFFF"/>
          </a:solidFill>
          <a:ln w="9525">
            <a:solidFill>
              <a:srgbClr val="E3E3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053328" y="1508760"/>
            <a:ext cx="2395728" cy="274320"/>
          </a:xfrm>
          <a:prstGeom prst="rect">
            <a:avLst/>
          </a:prstGeom>
          <a:noFill/>
        </p:spPr>
        <p:txBody>
          <a:bodyPr wrap="square" lIns="0" rIns="0" tIns="0" bIns="0">
            <a:spAutoFit/>
          </a:bodyPr>
          <a:lstStyle/>
          <a:p>
            <a:pPr algn="l"/>
            <a:r>
              <a:rPr sz="950" b="1" i="0">
                <a:solidFill>
                  <a:srgbClr val="6E6E6E"/>
                </a:solidFill>
                <a:latin typeface="Calibri"/>
              </a:rPr>
              <a:t>●  FEMALE LEADERSHIP — BANGLADESH</a:t>
            </a:r>
          </a:p>
        </p:txBody>
      </p:sp>
      <p:sp>
        <p:nvSpPr>
          <p:cNvPr id="15" name="TextBox 14"/>
          <p:cNvSpPr txBox="1"/>
          <p:nvPr/>
        </p:nvSpPr>
        <p:spPr>
          <a:xfrm>
            <a:off x="5989320" y="1764792"/>
            <a:ext cx="2523744" cy="320040"/>
          </a:xfrm>
          <a:prstGeom prst="rect">
            <a:avLst/>
          </a:prstGeom>
          <a:noFill/>
        </p:spPr>
        <p:txBody>
          <a:bodyPr wrap="square" lIns="0" rIns="0" tIns="0" bIns="0" anchor="ctr">
            <a:spAutoFit/>
          </a:bodyPr>
          <a:lstStyle/>
          <a:p>
            <a:pPr algn="ctr"/>
            <a:r>
              <a:rPr sz="2400" b="1" i="0">
                <a:solidFill>
                  <a:srgbClr val="2E7D32"/>
                </a:solidFill>
                <a:latin typeface="Calibri"/>
              </a:rPr>
              <a:t>25%</a:t>
            </a:r>
          </a:p>
        </p:txBody>
      </p:sp>
      <p:sp>
        <p:nvSpPr>
          <p:cNvPr id="16" name="TextBox 15"/>
          <p:cNvSpPr txBox="1"/>
          <p:nvPr/>
        </p:nvSpPr>
        <p:spPr>
          <a:xfrm>
            <a:off x="5989320" y="2084832"/>
            <a:ext cx="2523744" cy="256032"/>
          </a:xfrm>
          <a:prstGeom prst="rect">
            <a:avLst/>
          </a:prstGeom>
          <a:noFill/>
        </p:spPr>
        <p:txBody>
          <a:bodyPr wrap="square" lIns="0" rIns="0" tIns="0" bIns="0">
            <a:spAutoFit/>
          </a:bodyPr>
          <a:lstStyle/>
          <a:p>
            <a:pPr algn="ctr"/>
            <a:r>
              <a:rPr sz="950" b="0" i="0">
                <a:solidFill>
                  <a:srgbClr val="6E6E6E"/>
                </a:solidFill>
                <a:latin typeface="Calibri"/>
              </a:rPr>
              <a:t>vs. 20% prior year</a:t>
            </a:r>
          </a:p>
        </p:txBody>
      </p:sp>
      <p:sp>
        <p:nvSpPr>
          <p:cNvPr id="17" name="Rounded Rectangle 16"/>
          <p:cNvSpPr/>
          <p:nvPr/>
        </p:nvSpPr>
        <p:spPr>
          <a:xfrm>
            <a:off x="8686800" y="1417320"/>
            <a:ext cx="2615184" cy="960120"/>
          </a:xfrm>
          <a:prstGeom prst="roundRect">
            <a:avLst>
              <a:gd name="adj" fmla="val 6000"/>
            </a:avLst>
          </a:prstGeom>
          <a:solidFill>
            <a:srgbClr val="FFFFFF"/>
          </a:solidFill>
          <a:ln w="9525">
            <a:solidFill>
              <a:srgbClr val="E3E3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796528" y="1508760"/>
            <a:ext cx="2395728" cy="274320"/>
          </a:xfrm>
          <a:prstGeom prst="rect">
            <a:avLst/>
          </a:prstGeom>
          <a:noFill/>
        </p:spPr>
        <p:txBody>
          <a:bodyPr wrap="square" lIns="0" rIns="0" tIns="0" bIns="0">
            <a:spAutoFit/>
          </a:bodyPr>
          <a:lstStyle/>
          <a:p>
            <a:pPr algn="l"/>
            <a:r>
              <a:rPr sz="950" b="1" i="0">
                <a:solidFill>
                  <a:srgbClr val="6E6E6E"/>
                </a:solidFill>
                <a:latin typeface="Calibri"/>
              </a:rPr>
              <a:t>●  FEMALE LEADERSHIP — KYRGYZSTAN</a:t>
            </a:r>
          </a:p>
        </p:txBody>
      </p:sp>
      <p:sp>
        <p:nvSpPr>
          <p:cNvPr id="19" name="TextBox 18"/>
          <p:cNvSpPr txBox="1"/>
          <p:nvPr/>
        </p:nvSpPr>
        <p:spPr>
          <a:xfrm>
            <a:off x="8732520" y="1764792"/>
            <a:ext cx="2523744" cy="320040"/>
          </a:xfrm>
          <a:prstGeom prst="rect">
            <a:avLst/>
          </a:prstGeom>
          <a:noFill/>
        </p:spPr>
        <p:txBody>
          <a:bodyPr wrap="square" lIns="0" rIns="0" tIns="0" bIns="0" anchor="ctr">
            <a:spAutoFit/>
          </a:bodyPr>
          <a:lstStyle/>
          <a:p>
            <a:pPr algn="ctr"/>
            <a:r>
              <a:rPr sz="2400" b="1" i="0">
                <a:solidFill>
                  <a:srgbClr val="2E7D32"/>
                </a:solidFill>
                <a:latin typeface="Calibri"/>
              </a:rPr>
              <a:t>44%</a:t>
            </a:r>
          </a:p>
        </p:txBody>
      </p:sp>
      <p:sp>
        <p:nvSpPr>
          <p:cNvPr id="20" name="TextBox 19"/>
          <p:cNvSpPr txBox="1"/>
          <p:nvPr/>
        </p:nvSpPr>
        <p:spPr>
          <a:xfrm>
            <a:off x="8732520" y="2084832"/>
            <a:ext cx="2523744" cy="256032"/>
          </a:xfrm>
          <a:prstGeom prst="rect">
            <a:avLst/>
          </a:prstGeom>
          <a:noFill/>
        </p:spPr>
        <p:txBody>
          <a:bodyPr wrap="square" lIns="0" rIns="0" tIns="0" bIns="0">
            <a:spAutoFit/>
          </a:bodyPr>
          <a:lstStyle/>
          <a:p>
            <a:pPr algn="ctr"/>
            <a:r>
              <a:rPr sz="950" b="0" i="0">
                <a:solidFill>
                  <a:srgbClr val="6E6E6E"/>
                </a:solidFill>
                <a:latin typeface="Calibri"/>
              </a:rPr>
              <a:t>vs. 38% prior year</a:t>
            </a:r>
          </a:p>
        </p:txBody>
      </p:sp>
      <p:sp>
        <p:nvSpPr>
          <p:cNvPr id="21" name="Rounded Rectangle 20"/>
          <p:cNvSpPr/>
          <p:nvPr/>
        </p:nvSpPr>
        <p:spPr>
          <a:xfrm>
            <a:off x="457200" y="2697480"/>
            <a:ext cx="3611880" cy="2834640"/>
          </a:xfrm>
          <a:prstGeom prst="roundRect">
            <a:avLst>
              <a:gd name="adj" fmla="val 3000"/>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21792" y="2862072"/>
            <a:ext cx="201168" cy="201168"/>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60120" y="2843784"/>
            <a:ext cx="2971800" cy="320040"/>
          </a:xfrm>
          <a:prstGeom prst="rect">
            <a:avLst/>
          </a:prstGeom>
          <a:noFill/>
        </p:spPr>
        <p:txBody>
          <a:bodyPr wrap="square" lIns="0" rIns="0" tIns="0" bIns="0">
            <a:spAutoFit/>
          </a:bodyPr>
          <a:lstStyle/>
          <a:p>
            <a:pPr algn="l"/>
            <a:r>
              <a:rPr sz="1250" b="1" i="0">
                <a:solidFill>
                  <a:srgbClr val="1B2A4A"/>
                </a:solidFill>
                <a:latin typeface="Calibri"/>
              </a:rPr>
              <a:t>ENVIRONMENTAL</a:t>
            </a:r>
          </a:p>
        </p:txBody>
      </p:sp>
      <p:sp>
        <p:nvSpPr>
          <p:cNvPr id="24" name="TextBox 23"/>
          <p:cNvSpPr txBox="1"/>
          <p:nvPr/>
        </p:nvSpPr>
        <p:spPr>
          <a:xfrm>
            <a:off x="621792" y="3291840"/>
            <a:ext cx="3282696" cy="2103120"/>
          </a:xfrm>
          <a:prstGeom prst="rect">
            <a:avLst/>
          </a:prstGeom>
          <a:noFill/>
        </p:spPr>
        <p:txBody>
          <a:bodyPr wrap="square" lIns="0" rIns="0" tIns="0" bIns="0">
            <a:spAutoFit/>
          </a:bodyPr>
          <a:lstStyle/>
          <a:p>
            <a:pPr algn="l">
              <a:spcAft>
                <a:spcPts val="800"/>
              </a:spcAft>
            </a:pPr>
            <a:r>
              <a:rPr sz="1000">
                <a:solidFill>
                  <a:srgbClr val="222222"/>
                </a:solidFill>
                <a:latin typeface="Calibri"/>
              </a:rPr>
              <a:t>•  Solar plant acquisition — Ukraine</a:t>
            </a:r>
          </a:p>
          <a:p>
            <a:pPr algn="l">
              <a:spcAft>
                <a:spcPts val="800"/>
              </a:spcAft>
            </a:pPr>
            <a:r>
              <a:rPr sz="1000">
                <a:solidFill>
                  <a:srgbClr val="222222"/>
                </a:solidFill>
                <a:latin typeface="Calibri"/>
              </a:rPr>
              <a:t>•  Solar-powered data center — Bangladesh</a:t>
            </a:r>
          </a:p>
          <a:p>
            <a:pPr algn="l">
              <a:spcAft>
                <a:spcPts val="800"/>
              </a:spcAft>
            </a:pPr>
            <a:r>
              <a:rPr sz="1000">
                <a:solidFill>
                  <a:srgbClr val="222222"/>
                </a:solidFill>
                <a:latin typeface="Calibri"/>
              </a:rPr>
              <a:t>•  Solar telecom solutions — remote Kazakhstan</a:t>
            </a:r>
          </a:p>
          <a:p>
            <a:pPr algn="l">
              <a:spcAft>
                <a:spcPts val="800"/>
              </a:spcAft>
            </a:pPr>
            <a:r>
              <a:rPr sz="1000">
                <a:solidFill>
                  <a:srgbClr val="222222"/>
                </a:solidFill>
                <a:latin typeface="Calibri"/>
              </a:rPr>
              <a:t>•  Flood relief &amp; early-warning systems — Pakistan</a:t>
            </a:r>
          </a:p>
        </p:txBody>
      </p:sp>
      <p:sp>
        <p:nvSpPr>
          <p:cNvPr id="25" name="Rounded Rectangle 24"/>
          <p:cNvSpPr/>
          <p:nvPr/>
        </p:nvSpPr>
        <p:spPr>
          <a:xfrm>
            <a:off x="4251960" y="2697480"/>
            <a:ext cx="3611880" cy="2834640"/>
          </a:xfrm>
          <a:prstGeom prst="roundRect">
            <a:avLst>
              <a:gd name="adj" fmla="val 3000"/>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4416552" y="2862072"/>
            <a:ext cx="201168" cy="201168"/>
          </a:xfrm>
          <a:prstGeom prst="ellipse">
            <a:avLst/>
          </a:prstGeom>
          <a:solidFill>
            <a:srgbClr val="4C6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54880" y="2843784"/>
            <a:ext cx="2971800" cy="320040"/>
          </a:xfrm>
          <a:prstGeom prst="rect">
            <a:avLst/>
          </a:prstGeom>
          <a:noFill/>
        </p:spPr>
        <p:txBody>
          <a:bodyPr wrap="square" lIns="0" rIns="0" tIns="0" bIns="0">
            <a:spAutoFit/>
          </a:bodyPr>
          <a:lstStyle/>
          <a:p>
            <a:pPr algn="l"/>
            <a:r>
              <a:rPr sz="1250" b="1" i="0">
                <a:solidFill>
                  <a:srgbClr val="1B2A4A"/>
                </a:solidFill>
                <a:latin typeface="Calibri"/>
              </a:rPr>
              <a:t>SOCIAL</a:t>
            </a:r>
          </a:p>
        </p:txBody>
      </p:sp>
      <p:sp>
        <p:nvSpPr>
          <p:cNvPr id="28" name="TextBox 27"/>
          <p:cNvSpPr txBox="1"/>
          <p:nvPr/>
        </p:nvSpPr>
        <p:spPr>
          <a:xfrm>
            <a:off x="4416552" y="3291840"/>
            <a:ext cx="3282696" cy="2103120"/>
          </a:xfrm>
          <a:prstGeom prst="rect">
            <a:avLst/>
          </a:prstGeom>
          <a:noFill/>
        </p:spPr>
        <p:txBody>
          <a:bodyPr wrap="square" lIns="0" rIns="0" tIns="0" bIns="0">
            <a:spAutoFit/>
          </a:bodyPr>
          <a:lstStyle/>
          <a:p>
            <a:pPr algn="l">
              <a:spcAft>
                <a:spcPts val="800"/>
              </a:spcAft>
            </a:pPr>
            <a:r>
              <a:rPr sz="1000">
                <a:solidFill>
                  <a:srgbClr val="222222"/>
                </a:solidFill>
                <a:latin typeface="Calibri"/>
              </a:rPr>
              <a:t>•  Rising female leadership representation Group-wide</a:t>
            </a:r>
          </a:p>
          <a:p>
            <a:pPr algn="l">
              <a:spcAft>
                <a:spcPts val="800"/>
              </a:spcAft>
            </a:pPr>
            <a:r>
              <a:rPr sz="1000">
                <a:solidFill>
                  <a:srgbClr val="222222"/>
                </a:solidFill>
                <a:latin typeface="Calibri"/>
              </a:rPr>
              <a:t>•  Womentor — Banglalink mentorship for female STEM students</a:t>
            </a:r>
          </a:p>
          <a:p>
            <a:pPr algn="l">
              <a:spcAft>
                <a:spcPts val="800"/>
              </a:spcAft>
            </a:pPr>
            <a:r>
              <a:rPr sz="1000">
                <a:solidFill>
                  <a:srgbClr val="222222"/>
                </a:solidFill>
                <a:latin typeface="Calibri"/>
              </a:rPr>
              <a:t>•  21.6M monthly active users of financial services</a:t>
            </a:r>
          </a:p>
          <a:p>
            <a:pPr algn="l">
              <a:spcAft>
                <a:spcPts val="800"/>
              </a:spcAft>
            </a:pPr>
            <a:r>
              <a:rPr sz="1000">
                <a:solidFill>
                  <a:srgbClr val="222222"/>
                </a:solidFill>
                <a:latin typeface="Calibri"/>
              </a:rPr>
              <a:t>•  Community connectivity investment in underserved areas</a:t>
            </a:r>
          </a:p>
        </p:txBody>
      </p:sp>
      <p:sp>
        <p:nvSpPr>
          <p:cNvPr id="29" name="Rounded Rectangle 28"/>
          <p:cNvSpPr/>
          <p:nvPr/>
        </p:nvSpPr>
        <p:spPr>
          <a:xfrm>
            <a:off x="8046720" y="2697480"/>
            <a:ext cx="3611880" cy="2834640"/>
          </a:xfrm>
          <a:prstGeom prst="roundRect">
            <a:avLst>
              <a:gd name="adj" fmla="val 3000"/>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211312" y="2862072"/>
            <a:ext cx="201168" cy="201168"/>
          </a:xfrm>
          <a:prstGeom prst="ellipse">
            <a:avLst/>
          </a:prstGeom>
          <a:solidFill>
            <a:srgbClr val="B08D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549640" y="2843784"/>
            <a:ext cx="2971800" cy="320040"/>
          </a:xfrm>
          <a:prstGeom prst="rect">
            <a:avLst/>
          </a:prstGeom>
          <a:noFill/>
        </p:spPr>
        <p:txBody>
          <a:bodyPr wrap="square" lIns="0" rIns="0" tIns="0" bIns="0">
            <a:spAutoFit/>
          </a:bodyPr>
          <a:lstStyle/>
          <a:p>
            <a:pPr algn="l"/>
            <a:r>
              <a:rPr sz="1250" b="1" i="0">
                <a:solidFill>
                  <a:srgbClr val="1B2A4A"/>
                </a:solidFill>
                <a:latin typeface="Calibri"/>
              </a:rPr>
              <a:t>GOVERNANCE</a:t>
            </a:r>
          </a:p>
        </p:txBody>
      </p:sp>
      <p:sp>
        <p:nvSpPr>
          <p:cNvPr id="32" name="TextBox 31"/>
          <p:cNvSpPr txBox="1"/>
          <p:nvPr/>
        </p:nvSpPr>
        <p:spPr>
          <a:xfrm>
            <a:off x="8211312" y="3291840"/>
            <a:ext cx="3282696" cy="2103120"/>
          </a:xfrm>
          <a:prstGeom prst="rect">
            <a:avLst/>
          </a:prstGeom>
          <a:noFill/>
        </p:spPr>
        <p:txBody>
          <a:bodyPr wrap="square" lIns="0" rIns="0" tIns="0" bIns="0">
            <a:spAutoFit/>
          </a:bodyPr>
          <a:lstStyle/>
          <a:p>
            <a:pPr algn="l">
              <a:spcAft>
                <a:spcPts val="800"/>
              </a:spcAft>
            </a:pPr>
            <a:r>
              <a:rPr sz="1000">
                <a:solidFill>
                  <a:srgbClr val="222222"/>
                </a:solidFill>
                <a:latin typeface="Calibri"/>
              </a:rPr>
              <a:t>•  Multi-jurisdictional structure: Bermuda / Dubai / Nasdaq</a:t>
            </a:r>
          </a:p>
          <a:p>
            <a:pPr algn="l">
              <a:spcAft>
                <a:spcPts val="800"/>
              </a:spcAft>
            </a:pPr>
            <a:r>
              <a:rPr sz="1000">
                <a:solidFill>
                  <a:srgbClr val="222222"/>
                </a:solidFill>
                <a:latin typeface="Calibri"/>
              </a:rPr>
              <a:t>•  LetterOne concentrated ownership (~45.5%)</a:t>
            </a:r>
          </a:p>
          <a:p>
            <a:pPr algn="l">
              <a:spcAft>
                <a:spcPts val="800"/>
              </a:spcAft>
            </a:pPr>
            <a:r>
              <a:rPr sz="1000">
                <a:solidFill>
                  <a:srgbClr val="222222"/>
                </a:solidFill>
                <a:latin typeface="Calibri"/>
              </a:rPr>
              <a:t>•  Independent-director majority on the Board</a:t>
            </a:r>
          </a:p>
          <a:p>
            <a:pPr algn="l">
              <a:spcAft>
                <a:spcPts val="800"/>
              </a:spcAft>
            </a:pPr>
            <a:r>
              <a:rPr sz="1000">
                <a:solidFill>
                  <a:srgbClr val="222222"/>
                </a:solidFill>
                <a:latin typeface="Calibri"/>
              </a:rPr>
              <a:t>•  Capital allocation policy formalized (2024)</a:t>
            </a:r>
          </a:p>
        </p:txBody>
      </p:sp>
      <p:sp>
        <p:nvSpPr>
          <p:cNvPr id="33" name="TextBox 32"/>
          <p:cNvSpPr txBox="1"/>
          <p:nvPr/>
        </p:nvSpPr>
        <p:spPr>
          <a:xfrm>
            <a:off x="457200" y="5806440"/>
            <a:ext cx="11247120" cy="365760"/>
          </a:xfrm>
          <a:prstGeom prst="rect">
            <a:avLst/>
          </a:prstGeom>
          <a:noFill/>
        </p:spPr>
        <p:txBody>
          <a:bodyPr wrap="square" lIns="0" rIns="0" tIns="0" bIns="0">
            <a:spAutoFit/>
          </a:bodyPr>
          <a:lstStyle/>
          <a:p>
            <a:pPr algn="l"/>
            <a:r>
              <a:rPr sz="1000" b="0" i="1">
                <a:solidFill>
                  <a:srgbClr val="6E6E6E"/>
                </a:solidFill>
                <a:latin typeface="Calibri"/>
              </a:rPr>
              <a:t>Governance considerations remain relevant given LetterOne's concentrated ownership and VEON's multi-jurisdictional corporate structure.</a:t>
            </a:r>
          </a:p>
        </p:txBody>
      </p:sp>
      <p:sp>
        <p:nvSpPr>
          <p:cNvPr id="34" name="TextBox 33"/>
          <p:cNvSpPr txBox="1"/>
          <p:nvPr/>
        </p:nvSpPr>
        <p:spPr>
          <a:xfrm>
            <a:off x="365760" y="6537960"/>
            <a:ext cx="7315200" cy="274320"/>
          </a:xfrm>
          <a:prstGeom prst="rect">
            <a:avLst/>
          </a:prstGeom>
          <a:noFill/>
        </p:spPr>
        <p:txBody>
          <a:bodyPr wrap="none" lIns="0" tIns="0" bIns="0">
            <a:spAutoFit/>
          </a:bodyPr>
          <a:lstStyle/>
          <a:p>
            <a:r>
              <a:rPr sz="800">
                <a:solidFill>
                  <a:srgbClr val="6E6E6E"/>
                </a:solidFill>
                <a:latin typeface="Calibri"/>
              </a:rPr>
              <a:t>VEON Ltd. (NASDAQ: VEON)  |  Institutional Equity Research  |  Strictly Confidential</a:t>
            </a:r>
          </a:p>
        </p:txBody>
      </p:sp>
      <p:sp>
        <p:nvSpPr>
          <p:cNvPr id="35" name="TextBox 34"/>
          <p:cNvSpPr txBox="1"/>
          <p:nvPr/>
        </p:nvSpPr>
        <p:spPr>
          <a:xfrm>
            <a:off x="11430000" y="6537960"/>
            <a:ext cx="548640" cy="274320"/>
          </a:xfrm>
          <a:prstGeom prst="rect">
            <a:avLst/>
          </a:prstGeom>
          <a:noFill/>
        </p:spPr>
        <p:txBody>
          <a:bodyPr wrap="none" lIns="0" tIns="0">
            <a:spAutoFit/>
          </a:bodyPr>
          <a:lstStyle/>
          <a:p>
            <a:pPr algn="r"/>
            <a:r>
              <a:rPr sz="900" b="1">
                <a:solidFill>
                  <a:srgbClr val="6E6E6E"/>
                </a:solidFill>
                <a:latin typeface="Calibri"/>
              </a:rPr>
              <a:t>10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5486400" cy="274320"/>
          </a:xfrm>
          <a:prstGeom prst="rect">
            <a:avLst/>
          </a:prstGeom>
          <a:noFill/>
        </p:spPr>
        <p:txBody>
          <a:bodyPr wrap="square" lIns="0" rIns="0" tIns="0" bIns="0">
            <a:spAutoFit/>
          </a:bodyPr>
          <a:lstStyle/>
          <a:p>
            <a:pPr algn="l"/>
            <a:r>
              <a:rPr sz="1100" b="1" i="0">
                <a:solidFill>
                  <a:srgbClr val="B08D57"/>
                </a:solidFill>
                <a:latin typeface="Calibri"/>
              </a:rPr>
              <a:t>CONCLUSION</a:t>
            </a:r>
          </a:p>
        </p:txBody>
      </p:sp>
      <p:sp>
        <p:nvSpPr>
          <p:cNvPr id="4" name="TextBox 3"/>
          <p:cNvSpPr txBox="1"/>
          <p:nvPr/>
        </p:nvSpPr>
        <p:spPr>
          <a:xfrm>
            <a:off x="457200" y="502920"/>
            <a:ext cx="10515600" cy="548640"/>
          </a:xfrm>
          <a:prstGeom prst="rect">
            <a:avLst/>
          </a:prstGeom>
          <a:noFill/>
        </p:spPr>
        <p:txBody>
          <a:bodyPr wrap="square" lIns="0" rIns="0" tIns="0" bIns="0">
            <a:spAutoFit/>
          </a:bodyPr>
          <a:lstStyle/>
          <a:p>
            <a:pPr algn="l"/>
            <a:r>
              <a:rPr sz="2600" b="1" i="0">
                <a:solidFill>
                  <a:srgbClr val="1B2A4A"/>
                </a:solidFill>
                <a:latin typeface="Calibri"/>
              </a:rPr>
              <a:t>Investment Recommendation</a:t>
            </a:r>
          </a:p>
        </p:txBody>
      </p:sp>
      <p:sp>
        <p:nvSpPr>
          <p:cNvPr id="5" name="Rounded Rectangle 4"/>
          <p:cNvSpPr/>
          <p:nvPr/>
        </p:nvSpPr>
        <p:spPr>
          <a:xfrm>
            <a:off x="457200" y="1417320"/>
            <a:ext cx="2377440" cy="457200"/>
          </a:xfrm>
          <a:prstGeom prst="roundRect">
            <a:avLst>
              <a:gd name="adj" fmla="val 50000"/>
            </a:avLst>
          </a:prstGeom>
          <a:solidFill>
            <a:srgbClr val="B08D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400" b="1">
                <a:solidFill>
                  <a:srgbClr val="FFFFFF"/>
                </a:solidFill>
                <a:latin typeface="Calibri"/>
              </a:rPr>
              <a:t>OVERWEIGHT</a:t>
            </a:r>
          </a:p>
        </p:txBody>
      </p:sp>
      <p:sp>
        <p:nvSpPr>
          <p:cNvPr id="6" name="TextBox 5"/>
          <p:cNvSpPr txBox="1"/>
          <p:nvPr/>
        </p:nvSpPr>
        <p:spPr>
          <a:xfrm>
            <a:off x="3017520" y="1417320"/>
            <a:ext cx="3657600" cy="457200"/>
          </a:xfrm>
          <a:prstGeom prst="rect">
            <a:avLst/>
          </a:prstGeom>
          <a:noFill/>
        </p:spPr>
        <p:txBody>
          <a:bodyPr wrap="square" lIns="0" rIns="0" tIns="0" bIns="0" anchor="ctr">
            <a:spAutoFit/>
          </a:bodyPr>
          <a:lstStyle/>
          <a:p>
            <a:pPr algn="l"/>
            <a:r>
              <a:rPr sz="1600" b="0" i="1">
                <a:solidFill>
                  <a:srgbClr val="6E6E6E"/>
                </a:solidFill>
                <a:latin typeface="Calibri"/>
              </a:rPr>
              <a:t>(Selective)</a:t>
            </a:r>
          </a:p>
        </p:txBody>
      </p:sp>
      <p:sp>
        <p:nvSpPr>
          <p:cNvPr id="7" name="TextBox 6"/>
          <p:cNvSpPr txBox="1"/>
          <p:nvPr/>
        </p:nvSpPr>
        <p:spPr>
          <a:xfrm>
            <a:off x="457200" y="2103120"/>
            <a:ext cx="5486400" cy="274320"/>
          </a:xfrm>
          <a:prstGeom prst="rect">
            <a:avLst/>
          </a:prstGeom>
          <a:noFill/>
        </p:spPr>
        <p:txBody>
          <a:bodyPr wrap="square" lIns="0" rIns="0" tIns="0" bIns="0">
            <a:spAutoFit/>
          </a:bodyPr>
          <a:lstStyle/>
          <a:p>
            <a:pPr algn="l"/>
            <a:r>
              <a:rPr sz="1200" b="1" i="0">
                <a:solidFill>
                  <a:srgbClr val="1B2A4A"/>
                </a:solidFill>
                <a:latin typeface="Calibri"/>
              </a:rPr>
              <a:t>INVESTMENT SCORECARD</a:t>
            </a:r>
          </a:p>
        </p:txBody>
      </p:sp>
      <p:graphicFrame>
        <p:nvGraphicFramePr>
          <p:cNvPr id="8" name="Table 7"/>
          <p:cNvGraphicFramePr>
            <a:graphicFrameLocks noGrp="1"/>
          </p:cNvGraphicFramePr>
          <p:nvPr/>
        </p:nvGraphicFramePr>
        <p:xfrm>
          <a:off x="457200" y="2423160"/>
          <a:ext cx="5486400" cy="2468880"/>
        </p:xfrm>
        <a:graphic>
          <a:graphicData uri="http://schemas.openxmlformats.org/drawingml/2006/table">
            <a:tbl>
              <a:tblPr firstRow="1" bandRow="1">
                <a:tableStyleId>{5C22544A-7EE6-4342-B048-85BDC9FD1C3A}</a:tableStyleId>
              </a:tblPr>
              <a:tblGrid>
                <a:gridCol w="3017520"/>
                <a:gridCol w="2468880"/>
              </a:tblGrid>
              <a:tr h="352697">
                <a:tc>
                  <a:txBody>
                    <a:bodyPr/>
                    <a:lstStyle/>
                    <a:p>
                      <a:pPr algn="l"/>
                      <a:r>
                        <a:rPr sz="1050" b="1">
                          <a:solidFill>
                            <a:srgbClr val="FFFFFF"/>
                          </a:solidFill>
                          <a:latin typeface="Calibri"/>
                        </a:rPr>
                        <a:t>Factor</a:t>
                      </a:r>
                    </a:p>
                  </a:txBody>
                  <a:tcPr anchor="ctr" marT="25400" marB="25400">
                    <a:solidFill>
                      <a:srgbClr val="1B2A4A"/>
                    </a:solidFill>
                  </a:tcPr>
                </a:tc>
                <a:tc>
                  <a:txBody>
                    <a:bodyPr/>
                    <a:lstStyle/>
                    <a:p>
                      <a:pPr algn="ctr"/>
                      <a:r>
                        <a:rPr sz="1050" b="1">
                          <a:solidFill>
                            <a:srgbClr val="FFFFFF"/>
                          </a:solidFill>
                          <a:latin typeface="Calibri"/>
                        </a:rPr>
                        <a:t>Assessment</a:t>
                      </a:r>
                    </a:p>
                  </a:txBody>
                  <a:tcPr anchor="ctr" marT="25400" marB="25400">
                    <a:solidFill>
                      <a:srgbClr val="1B2A4A"/>
                    </a:solidFill>
                  </a:tcPr>
                </a:tc>
              </a:tr>
              <a:tr h="352697">
                <a:tc>
                  <a:txBody>
                    <a:bodyPr/>
                    <a:lstStyle/>
                    <a:p>
                      <a:pPr algn="l"/>
                      <a:r>
                        <a:rPr sz="1100" b="1">
                          <a:solidFill>
                            <a:srgbClr val="222222"/>
                          </a:solidFill>
                          <a:latin typeface="Calibri"/>
                        </a:rPr>
                        <a:t>Growth</a:t>
                      </a:r>
                    </a:p>
                  </a:txBody>
                  <a:tcPr anchor="ctr" marT="12700" marB="12700">
                    <a:solidFill>
                      <a:srgbClr val="FFFFFF"/>
                    </a:solidFill>
                  </a:tcPr>
                </a:tc>
                <a:tc>
                  <a:txBody>
                    <a:bodyPr/>
                    <a:lstStyle/>
                    <a:p>
                      <a:pPr algn="ctr"/>
                      <a:r>
                        <a:rPr sz="1100">
                          <a:solidFill>
                            <a:srgbClr val="222222"/>
                          </a:solidFill>
                          <a:latin typeface="Calibri"/>
                        </a:rPr>
                        <a:t>Positive</a:t>
                      </a:r>
                    </a:p>
                  </a:txBody>
                  <a:tcPr anchor="ctr" marT="12700" marB="12700">
                    <a:solidFill>
                      <a:srgbClr val="FFFFFF"/>
                    </a:solidFill>
                  </a:tcPr>
                </a:tc>
              </a:tr>
              <a:tr h="352697">
                <a:tc>
                  <a:txBody>
                    <a:bodyPr/>
                    <a:lstStyle/>
                    <a:p>
                      <a:pPr algn="l"/>
                      <a:r>
                        <a:rPr sz="1100" b="1">
                          <a:solidFill>
                            <a:srgbClr val="222222"/>
                          </a:solidFill>
                          <a:latin typeface="Calibri"/>
                        </a:rPr>
                        <a:t>Profitability</a:t>
                      </a:r>
                    </a:p>
                  </a:txBody>
                  <a:tcPr anchor="ctr" marT="12700" marB="12700">
                    <a:solidFill>
                      <a:srgbClr val="F7F7F5"/>
                    </a:solidFill>
                  </a:tcPr>
                </a:tc>
                <a:tc>
                  <a:txBody>
                    <a:bodyPr/>
                    <a:lstStyle/>
                    <a:p>
                      <a:pPr algn="ctr"/>
                      <a:r>
                        <a:rPr sz="1100">
                          <a:solidFill>
                            <a:srgbClr val="222222"/>
                          </a:solidFill>
                          <a:latin typeface="Calibri"/>
                        </a:rPr>
                        <a:t>Positive</a:t>
                      </a:r>
                    </a:p>
                  </a:txBody>
                  <a:tcPr anchor="ctr" marT="12700" marB="12700">
                    <a:solidFill>
                      <a:srgbClr val="F7F7F5"/>
                    </a:solidFill>
                  </a:tcPr>
                </a:tc>
              </a:tr>
              <a:tr h="352697">
                <a:tc>
                  <a:txBody>
                    <a:bodyPr/>
                    <a:lstStyle/>
                    <a:p>
                      <a:pPr algn="l"/>
                      <a:r>
                        <a:rPr sz="1100" b="1">
                          <a:solidFill>
                            <a:srgbClr val="222222"/>
                          </a:solidFill>
                          <a:latin typeface="Calibri"/>
                        </a:rPr>
                        <a:t>Balance Sheet</a:t>
                      </a:r>
                    </a:p>
                  </a:txBody>
                  <a:tcPr anchor="ctr" marT="12700" marB="12700">
                    <a:solidFill>
                      <a:srgbClr val="FFFFFF"/>
                    </a:solidFill>
                  </a:tcPr>
                </a:tc>
                <a:tc>
                  <a:txBody>
                    <a:bodyPr/>
                    <a:lstStyle/>
                    <a:p>
                      <a:pPr algn="ctr"/>
                      <a:r>
                        <a:rPr sz="1100">
                          <a:solidFill>
                            <a:srgbClr val="222222"/>
                          </a:solidFill>
                          <a:latin typeface="Calibri"/>
                        </a:rPr>
                        <a:t>Improving</a:t>
                      </a:r>
                    </a:p>
                  </a:txBody>
                  <a:tcPr anchor="ctr" marT="12700" marB="12700">
                    <a:solidFill>
                      <a:srgbClr val="FFFFFF"/>
                    </a:solidFill>
                  </a:tcPr>
                </a:tc>
              </a:tr>
              <a:tr h="352697">
                <a:tc>
                  <a:txBody>
                    <a:bodyPr/>
                    <a:lstStyle/>
                    <a:p>
                      <a:pPr algn="l"/>
                      <a:r>
                        <a:rPr sz="1100" b="1">
                          <a:solidFill>
                            <a:srgbClr val="222222"/>
                          </a:solidFill>
                          <a:latin typeface="Calibri"/>
                        </a:rPr>
                        <a:t>Cash Conversion</a:t>
                      </a:r>
                    </a:p>
                  </a:txBody>
                  <a:tcPr anchor="ctr" marT="12700" marB="12700">
                    <a:solidFill>
                      <a:srgbClr val="F7F7F5"/>
                    </a:solidFill>
                  </a:tcPr>
                </a:tc>
                <a:tc>
                  <a:txBody>
                    <a:bodyPr/>
                    <a:lstStyle/>
                    <a:p>
                      <a:pPr algn="ctr"/>
                      <a:r>
                        <a:rPr sz="1100">
                          <a:solidFill>
                            <a:srgbClr val="222222"/>
                          </a:solidFill>
                          <a:latin typeface="Calibri"/>
                        </a:rPr>
                        <a:t>Watch</a:t>
                      </a:r>
                    </a:p>
                  </a:txBody>
                  <a:tcPr anchor="ctr" marT="12700" marB="12700">
                    <a:solidFill>
                      <a:srgbClr val="F7F7F5"/>
                    </a:solidFill>
                  </a:tcPr>
                </a:tc>
              </a:tr>
              <a:tr h="352697">
                <a:tc>
                  <a:txBody>
                    <a:bodyPr/>
                    <a:lstStyle/>
                    <a:p>
                      <a:pPr algn="l"/>
                      <a:r>
                        <a:rPr sz="1100" b="1">
                          <a:solidFill>
                            <a:srgbClr val="222222"/>
                          </a:solidFill>
                          <a:latin typeface="Calibri"/>
                        </a:rPr>
                        <a:t>Geopolitical Risk</a:t>
                      </a:r>
                    </a:p>
                  </a:txBody>
                  <a:tcPr anchor="ctr" marT="12700" marB="12700">
                    <a:solidFill>
                      <a:srgbClr val="FFFFFF"/>
                    </a:solidFill>
                  </a:tcPr>
                </a:tc>
                <a:tc>
                  <a:txBody>
                    <a:bodyPr/>
                    <a:lstStyle/>
                    <a:p>
                      <a:pPr algn="ctr"/>
                      <a:r>
                        <a:rPr sz="1100">
                          <a:solidFill>
                            <a:srgbClr val="222222"/>
                          </a:solidFill>
                          <a:latin typeface="Calibri"/>
                        </a:rPr>
                        <a:t>Elevated</a:t>
                      </a:r>
                    </a:p>
                  </a:txBody>
                  <a:tcPr anchor="ctr" marT="12700" marB="12700">
                    <a:solidFill>
                      <a:srgbClr val="FFFFFF"/>
                    </a:solidFill>
                  </a:tcPr>
                </a:tc>
              </a:tr>
              <a:tr h="352698">
                <a:tc>
                  <a:txBody>
                    <a:bodyPr/>
                    <a:lstStyle/>
                    <a:p>
                      <a:pPr algn="l"/>
                      <a:r>
                        <a:rPr sz="1100" b="1">
                          <a:solidFill>
                            <a:srgbClr val="222222"/>
                          </a:solidFill>
                          <a:latin typeface="Calibri"/>
                        </a:rPr>
                        <a:t>Governance</a:t>
                      </a:r>
                    </a:p>
                  </a:txBody>
                  <a:tcPr anchor="ctr" marT="12700" marB="12700">
                    <a:solidFill>
                      <a:srgbClr val="F7F7F5"/>
                    </a:solidFill>
                  </a:tcPr>
                </a:tc>
                <a:tc>
                  <a:txBody>
                    <a:bodyPr/>
                    <a:lstStyle/>
                    <a:p>
                      <a:pPr algn="ctr"/>
                      <a:r>
                        <a:rPr sz="1100">
                          <a:solidFill>
                            <a:srgbClr val="222222"/>
                          </a:solidFill>
                          <a:latin typeface="Calibri"/>
                        </a:rPr>
                        <a:t>Watch</a:t>
                      </a:r>
                    </a:p>
                  </a:txBody>
                  <a:tcPr anchor="ctr" marT="12700" marB="12700">
                    <a:solidFill>
                      <a:srgbClr val="F7F7F5"/>
                    </a:solidFill>
                  </a:tcPr>
                </a:tc>
              </a:tr>
            </a:tbl>
          </a:graphicData>
        </a:graphic>
      </p:graphicFrame>
      <p:sp>
        <p:nvSpPr>
          <p:cNvPr id="9" name="TextBox 8"/>
          <p:cNvSpPr txBox="1"/>
          <p:nvPr/>
        </p:nvSpPr>
        <p:spPr>
          <a:xfrm>
            <a:off x="6309360" y="2103120"/>
            <a:ext cx="5394960" cy="274320"/>
          </a:xfrm>
          <a:prstGeom prst="rect">
            <a:avLst/>
          </a:prstGeom>
          <a:noFill/>
        </p:spPr>
        <p:txBody>
          <a:bodyPr wrap="square" lIns="0" rIns="0" tIns="0" bIns="0">
            <a:spAutoFit/>
          </a:bodyPr>
          <a:lstStyle/>
          <a:p>
            <a:pPr algn="l"/>
            <a:r>
              <a:rPr sz="1200" b="1" i="0">
                <a:solidFill>
                  <a:srgbClr val="1B2A4A"/>
                </a:solidFill>
                <a:latin typeface="Calibri"/>
              </a:rPr>
              <a:t>KEY TAKEAWAYS</a:t>
            </a:r>
          </a:p>
        </p:txBody>
      </p:sp>
      <p:sp>
        <p:nvSpPr>
          <p:cNvPr id="10" name="TextBox 9"/>
          <p:cNvSpPr txBox="1"/>
          <p:nvPr/>
        </p:nvSpPr>
        <p:spPr>
          <a:xfrm>
            <a:off x="6309360" y="2423160"/>
            <a:ext cx="5394960" cy="2468880"/>
          </a:xfrm>
          <a:prstGeom prst="rect">
            <a:avLst/>
          </a:prstGeom>
          <a:noFill/>
        </p:spPr>
        <p:txBody>
          <a:bodyPr wrap="square" lIns="0" rIns="0" tIns="0" bIns="0">
            <a:spAutoFit/>
          </a:bodyPr>
          <a:lstStyle/>
          <a:p>
            <a:pPr algn="l">
              <a:spcAft>
                <a:spcPts val="800"/>
              </a:spcAft>
            </a:pPr>
            <a:r>
              <a:rPr sz="1150">
                <a:solidFill>
                  <a:srgbClr val="222222"/>
                </a:solidFill>
                <a:latin typeface="Calibri"/>
              </a:rPr>
              <a:t>•  Digital-mix inflection is the core, underappreciated re-rating driver</a:t>
            </a:r>
          </a:p>
          <a:p>
            <a:pPr algn="l">
              <a:spcAft>
                <a:spcPts val="800"/>
              </a:spcAft>
            </a:pPr>
            <a:r>
              <a:rPr sz="1150">
                <a:solidFill>
                  <a:srgbClr val="222222"/>
                </a:solidFill>
                <a:latin typeface="Calibri"/>
              </a:rPr>
              <a:t>•  Kyivstar listing provides rare market-based SOTP price discovery</a:t>
            </a:r>
          </a:p>
          <a:p>
            <a:pPr algn="l">
              <a:spcAft>
                <a:spcPts val="800"/>
              </a:spcAft>
            </a:pPr>
            <a:r>
              <a:rPr sz="1150">
                <a:solidFill>
                  <a:srgbClr val="222222"/>
                </a:solidFill>
                <a:latin typeface="Calibri"/>
              </a:rPr>
              <a:t>•  Balance sheet materially de-risked vs. FY2021 peak leverage</a:t>
            </a:r>
          </a:p>
          <a:p>
            <a:pPr algn="l">
              <a:spcAft>
                <a:spcPts val="800"/>
              </a:spcAft>
            </a:pPr>
            <a:r>
              <a:rPr sz="1150">
                <a:solidFill>
                  <a:srgbClr val="222222"/>
                </a:solidFill>
                <a:latin typeface="Calibri"/>
              </a:rPr>
              <a:t>•  Ukraine exposure remains the single largest unresolved tail risk</a:t>
            </a:r>
          </a:p>
        </p:txBody>
      </p:sp>
      <p:sp>
        <p:nvSpPr>
          <p:cNvPr id="11" name="TextBox 10"/>
          <p:cNvSpPr txBox="1"/>
          <p:nvPr/>
        </p:nvSpPr>
        <p:spPr>
          <a:xfrm>
            <a:off x="457200" y="5166360"/>
            <a:ext cx="11247120" cy="274320"/>
          </a:xfrm>
          <a:prstGeom prst="rect">
            <a:avLst/>
          </a:prstGeom>
          <a:noFill/>
        </p:spPr>
        <p:txBody>
          <a:bodyPr wrap="square" lIns="0" rIns="0" tIns="0" bIns="0">
            <a:spAutoFit/>
          </a:bodyPr>
          <a:lstStyle/>
          <a:p>
            <a:pPr algn="l"/>
            <a:r>
              <a:rPr sz="1200" b="1" i="0">
                <a:solidFill>
                  <a:srgbClr val="1B2A4A"/>
                </a:solidFill>
                <a:latin typeface="Calibri"/>
              </a:rPr>
              <a:t>NEXT 3-YEAR OUTLOOK</a:t>
            </a:r>
          </a:p>
        </p:txBody>
      </p:sp>
      <p:sp>
        <p:nvSpPr>
          <p:cNvPr id="12" name="TextBox 11"/>
          <p:cNvSpPr txBox="1"/>
          <p:nvPr/>
        </p:nvSpPr>
        <p:spPr>
          <a:xfrm>
            <a:off x="457200" y="5486400"/>
            <a:ext cx="11247120" cy="914400"/>
          </a:xfrm>
          <a:prstGeom prst="rect">
            <a:avLst/>
          </a:prstGeom>
          <a:noFill/>
        </p:spPr>
        <p:txBody>
          <a:bodyPr wrap="square" lIns="0" rIns="0" tIns="0" bIns="0">
            <a:spAutoFit/>
          </a:bodyPr>
          <a:lstStyle/>
          <a:p>
            <a:pPr algn="l">
              <a:spcAft>
                <a:spcPts val="0"/>
              </a:spcAft>
            </a:pPr>
            <a:r>
              <a:rPr sz="1150">
                <a:solidFill>
                  <a:srgbClr val="222222"/>
                </a:solidFill>
                <a:latin typeface="Calibri"/>
              </a:rPr>
              <a:t>Continued digital-revenue mix expansion, capital-return execution, and resolution of the Bangladesh digital banking license are the primary watch items through FY2028; Ukraine legislative developments remain the key swing factor for the multiple.</a:t>
            </a:r>
          </a:p>
        </p:txBody>
      </p:sp>
      <p:sp>
        <p:nvSpPr>
          <p:cNvPr id="13" name="TextBox 12"/>
          <p:cNvSpPr txBox="1"/>
          <p:nvPr/>
        </p:nvSpPr>
        <p:spPr>
          <a:xfrm>
            <a:off x="365760" y="6537960"/>
            <a:ext cx="7315200" cy="274320"/>
          </a:xfrm>
          <a:prstGeom prst="rect">
            <a:avLst/>
          </a:prstGeom>
          <a:noFill/>
        </p:spPr>
        <p:txBody>
          <a:bodyPr wrap="none" lIns="0" tIns="0" bIns="0">
            <a:spAutoFit/>
          </a:bodyPr>
          <a:lstStyle/>
          <a:p>
            <a:r>
              <a:rPr sz="800">
                <a:solidFill>
                  <a:srgbClr val="6E6E6E"/>
                </a:solidFill>
                <a:latin typeface="Calibri"/>
              </a:rPr>
              <a:t>VEON Ltd. (NASDAQ: VEON)  |  Institutional Equity Research  |  Strictly Confidential</a:t>
            </a:r>
          </a:p>
        </p:txBody>
      </p:sp>
      <p:sp>
        <p:nvSpPr>
          <p:cNvPr id="14" name="TextBox 13"/>
          <p:cNvSpPr txBox="1"/>
          <p:nvPr/>
        </p:nvSpPr>
        <p:spPr>
          <a:xfrm>
            <a:off x="11430000" y="6537960"/>
            <a:ext cx="548640" cy="274320"/>
          </a:xfrm>
          <a:prstGeom prst="rect">
            <a:avLst/>
          </a:prstGeom>
          <a:noFill/>
        </p:spPr>
        <p:txBody>
          <a:bodyPr wrap="none" lIns="0" tIns="0">
            <a:spAutoFit/>
          </a:bodyPr>
          <a:lstStyle/>
          <a:p>
            <a:pPr algn="r"/>
            <a:r>
              <a:rPr sz="900" b="1">
                <a:solidFill>
                  <a:srgbClr val="6E6E6E"/>
                </a:solidFill>
                <a:latin typeface="Calibri"/>
              </a:rPr>
              <a:t>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