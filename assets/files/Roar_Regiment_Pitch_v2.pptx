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Initial Investment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15A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393-4477-B4F7-EA054887650D}"/>
              </c:ext>
            </c:extLst>
          </c:dPt>
          <c:dPt>
            <c:idx val="1"/>
            <c:bubble3D val="0"/>
            <c:spPr>
              <a:solidFill>
                <a:srgbClr val="C945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93-4477-B4F7-EA054887650D}"/>
              </c:ext>
            </c:extLst>
          </c:dPt>
          <c:dPt>
            <c:idx val="2"/>
            <c:bubble3D val="0"/>
            <c:spPr>
              <a:solidFill>
                <a:srgbClr val="8C34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93-4477-B4F7-EA054887650D}"/>
              </c:ext>
            </c:extLst>
          </c:dPt>
          <c:dPt>
            <c:idx val="3"/>
            <c:bubble3D val="0"/>
            <c:spPr>
              <a:solidFill>
                <a:srgbClr val="F2A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93-4477-B4F7-EA054887650D}"/>
              </c:ext>
            </c:extLst>
          </c:dPt>
          <c:dPt>
            <c:idx val="4"/>
            <c:bubble3D val="0"/>
            <c:spPr>
              <a:solidFill>
                <a:srgbClr val="5A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93-4477-B4F7-EA054887650D}"/>
              </c:ext>
            </c:extLst>
          </c:dPt>
          <c:dPt>
            <c:idx val="5"/>
            <c:bubble3D val="0"/>
            <c:spPr>
              <a:solidFill>
                <a:srgbClr val="B8B8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93-4477-B4F7-EA054887650D}"/>
              </c:ext>
            </c:extLst>
          </c:dPt>
          <c:dPt>
            <c:idx val="6"/>
            <c:bubble3D val="0"/>
            <c:spPr>
              <a:solidFill>
                <a:srgbClr val="1E1E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93-4477-B4F7-EA05488765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93-4477-B4F7-EA05488765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93-4477-B4F7-EA054887650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393-4477-B4F7-EA054887650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393-4477-B4F7-EA054887650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393-4477-B4F7-EA054887650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393-4477-B4F7-EA054887650D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393-4477-B4F7-EA05488765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Content Production &amp; Broadcast Setup</c:v>
                </c:pt>
                <c:pt idx="1">
                  <c:v>Player/Roster Signing &amp; Launch Buffer</c:v>
                </c:pt>
                <c:pt idx="2">
                  <c:v>Brand Integration &amp; Launch Marketing</c:v>
                </c:pt>
                <c:pt idx="3">
                  <c:v>Academy Setup</c:v>
                </c:pt>
                <c:pt idx="4">
                  <c:v>Platform &amp; Tech Integration</c:v>
                </c:pt>
                <c:pt idx="5">
                  <c:v>Merchandise &amp; E-Store Setup</c:v>
                </c:pt>
                <c:pt idx="6">
                  <c:v>Contingency (8%)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6000000</c:v>
                </c:pt>
                <c:pt idx="1">
                  <c:v>5000000</c:v>
                </c:pt>
                <c:pt idx="2">
                  <c:v>5000000</c:v>
                </c:pt>
                <c:pt idx="3">
                  <c:v>4000000</c:v>
                </c:pt>
                <c:pt idx="4">
                  <c:v>4000000</c:v>
                </c:pt>
                <c:pt idx="5">
                  <c:v>2000000</c:v>
                </c:pt>
                <c:pt idx="6">
                  <c:v>2080000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393-4477-B4F7-EA0548876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FFFFFF"/>
                </a:solidFill>
                <a:latin typeface="Calibri"/>
              </a:rPr>
              <a:t>Banglalink-Funded Share of Operating Costs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Banglalink-funded share of opex</c:v>
                </c:pt>
              </c:strCache>
            </c:strRef>
          </c:tx>
          <c:spPr>
            <a:solidFill>
              <a:srgbClr val="F15A2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64.8</c:v>
                </c:pt>
                <c:pt idx="2">
                  <c:v>55.2</c:v>
                </c:pt>
                <c:pt idx="3">
                  <c:v>42.8</c:v>
                </c:pt>
                <c:pt idx="4">
                  <c:v>26.3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F1-4B57-9623-688E447A64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Initial Investment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15A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C6-43A6-9BA4-97E29A793391}"/>
              </c:ext>
            </c:extLst>
          </c:dPt>
          <c:dPt>
            <c:idx val="1"/>
            <c:bubble3D val="0"/>
            <c:spPr>
              <a:solidFill>
                <a:srgbClr val="C945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C6-43A6-9BA4-97E29A793391}"/>
              </c:ext>
            </c:extLst>
          </c:dPt>
          <c:dPt>
            <c:idx val="2"/>
            <c:bubble3D val="0"/>
            <c:spPr>
              <a:solidFill>
                <a:srgbClr val="8A3A1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C6-43A6-9BA4-97E29A793391}"/>
              </c:ext>
            </c:extLst>
          </c:dPt>
          <c:dPt>
            <c:idx val="3"/>
            <c:bubble3D val="0"/>
            <c:spPr>
              <a:solidFill>
                <a:srgbClr val="1414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C6-43A6-9BA4-97E29A793391}"/>
              </c:ext>
            </c:extLst>
          </c:dPt>
          <c:dPt>
            <c:idx val="4"/>
            <c:bubble3D val="0"/>
            <c:spPr>
              <a:solidFill>
                <a:srgbClr val="5A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AC6-43A6-9BA4-97E29A793391}"/>
              </c:ext>
            </c:extLst>
          </c:dPt>
          <c:dPt>
            <c:idx val="5"/>
            <c:bubble3D val="0"/>
            <c:spPr>
              <a:solidFill>
                <a:srgbClr val="9A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AC6-43A6-9BA4-97E29A793391}"/>
              </c:ext>
            </c:extLst>
          </c:dPt>
          <c:dPt>
            <c:idx val="6"/>
            <c:bubble3D val="0"/>
            <c:spPr>
              <a:solidFill>
                <a:srgbClr val="D9D6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AC6-43A6-9BA4-97E29A7933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C6-43A6-9BA4-97E29A7933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C6-43A6-9BA4-97E29A79339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AC6-43A6-9BA4-97E29A79339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C6-43A6-9BA4-97E29A79339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AC6-43A6-9BA4-97E29A79339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AC6-43A6-9BA4-97E29A793391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AC6-43A6-9BA4-97E29A7933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Content Production &amp; Broadcast Setup</c:v>
                </c:pt>
                <c:pt idx="1">
                  <c:v>Player/Roster Signing &amp; Launch Buffer</c:v>
                </c:pt>
                <c:pt idx="2">
                  <c:v>Brand Integration &amp; Launch Marketing</c:v>
                </c:pt>
                <c:pt idx="3">
                  <c:v>Academy Setup</c:v>
                </c:pt>
                <c:pt idx="4">
                  <c:v>Platform &amp; Tech Integration</c:v>
                </c:pt>
                <c:pt idx="5">
                  <c:v>Merchandise &amp; E-Store Setup</c:v>
                </c:pt>
                <c:pt idx="6">
                  <c:v>Contingency (8%)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6000000</c:v>
                </c:pt>
                <c:pt idx="1">
                  <c:v>5000000</c:v>
                </c:pt>
                <c:pt idx="2">
                  <c:v>5000000</c:v>
                </c:pt>
                <c:pt idx="3">
                  <c:v>4000000</c:v>
                </c:pt>
                <c:pt idx="4">
                  <c:v>4000000</c:v>
                </c:pt>
                <c:pt idx="5">
                  <c:v>2000000</c:v>
                </c:pt>
                <c:pt idx="6">
                  <c:v>2080000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AC6-43A6-9BA4-97E29A7933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4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>
              <a:alpha val="9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869680" y="-914400"/>
            <a:ext cx="164592" cy="868680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372600" y="-914400"/>
            <a:ext cx="164592" cy="8686800"/>
          </a:xfrm>
          <a:prstGeom prst="rect">
            <a:avLst/>
          </a:prstGeom>
          <a:solidFill>
            <a:srgbClr val="F15A22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080000">
            <a:off x="9875520" y="-914400"/>
            <a:ext cx="164592" cy="8686800"/>
          </a:xfrm>
          <a:prstGeom prst="rect">
            <a:avLst/>
          </a:prstGeom>
          <a:solidFill>
            <a:srgbClr val="F15A22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ROAR REGIMENT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National Digital Talent &amp; Gaming Initiative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engagement investment for Banglalink — not a profit-maximizing venture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Banglalink leadership review  •  Strategy portfolio exercise, not an official Banglalink proposal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BCDC71-B9E2-4FF8-9D43-166C7F5677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rcRect l="10802" t="6327" r="13941" b="4134"/>
          <a:stretch/>
        </p:blipFill>
        <p:spPr>
          <a:xfrm>
            <a:off x="10038352" y="4227600"/>
            <a:ext cx="1673994" cy="1923239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is not an ROI play.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in the financial model — NPV, IRR, 5-year ROI — reads negative under the realistic case. That is not a modeling failure. It is the honest result of an honest model, and it changes what kind of proposal this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isn't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commercial investment expected to pay back on its own cash flows within 5 years.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6974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47472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bounded, declining-cost strategic investment in youth engagement, national digital talent, and brand equity — the same category as Banglalink's existing CSR and community initiatives, with added digital-ecosystem upside.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6974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that's still worth funding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0" y="347472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Banglalink already runs cost-bearing, non-ROI programmes (Proyash Digital Classroom, disability inclusion, disaster-response connectivity). This sits in that category — but reaches an audience CSR spend rarely does: young, digitally-native, growing.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Competitive gaming has stopped being just entertainment.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and industries increasingly treat high-level gaming ability as a real, transferable skill set — not a hobby.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Reflexes &amp; spatial reasoning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Split-second decision-making under pressure, sustained situational awareness, and precise hand-eye coordination — skills competitive gamers train for thousands of hours.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Remote &amp; precision operation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337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now widely reported that armed forces and civilian sectors alike — drone operations, aviation, robotics, remote surgery, logistics — actively recruit and train people with strong gaming backgrounds for exactly these skills.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9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72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national workforce signal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572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Korea, Saudi Arabia, and the UAE treat competitive gaming as strategic soft power and STEM-adjacent human capital, not just entertainment — backing it with national federations, stadiums, and funding.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for Banglalink: investing in a national gaming talent pipeline is a defensible human-capital and soft-power play — not a niche entertainment bet — independent of the venture's own commercial return.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Bangladesh has the players. It has no flag on the biggest stages.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Esports Charts and Liquipedia tournament records, 2025.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75688"/>
            <a:ext cx="2331720" cy="955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45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967228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tournaments Bangladesh has ever participated 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075688"/>
            <a:ext cx="2331720" cy="955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45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56432" y="2967228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money won by Bangladesh at international esports tournaments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2075688"/>
            <a:ext cx="2331720" cy="955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45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27064" y="2967228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Bangladesh's national esports federation (BYDESA) was even founded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0536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7696" y="2075688"/>
            <a:ext cx="2331720" cy="955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45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27,953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97696" y="2967228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concurrent viewers, national Free Fire final — domestic appetite is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regional peers — India, Indonesia, the Philippines — have built national esports scenes with domestic leagues, telecom sponsors, and international podium finishes. A market of 175 million people, 48% under 25, has no comparable presence.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opportunity isn't “build an esports team.” It's “be the first mover to put a Bangladeshi flag on a major international stage” — a first-mover claim gets harder to make every year this gap stays open.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plugs into infrastructure Banglalink already built.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platform, no new sponsor narrative — Roar Regiment is a content and community vertical distributed through Banglalink's own digital ecosystem.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3520440" cy="82296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Toffee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 users · #1 entertainment app since 2020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match broadcasts, scrims, and docuseries content into an existing, proven content pipeline.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148840"/>
            <a:ext cx="3520440" cy="82296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MyBL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8.1M MAU · primary self-care &amp; commerce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4290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fan loyalty tiers, ticketing, and merchandise — no bespoke fan app required.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148840"/>
            <a:ext cx="3520440" cy="82296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Ryze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388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youth lifestyle brand, +48% YoY MAU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34290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brand home for a youth-skewing gaming vertical — not a competing identity.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sit under Banglalink's DO1440 / AI1440 strategy — “connect customers with relevant digital services across all 1,440 minutes of the day.” A gaming/esports vertical captures attention-time connectivity alone doesn't.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Banglalink already funds non-ROI strategic initiatives.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doesn't introduce a new category of spending — it extends one Banglalink already runs, toward an audience CSR budgets rarely reach.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Proyash Digital Classroom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39572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learning infrastructure for children with disabilities — 2,000+ students, no direct revenue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844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GSMA Disability Inclusion Principles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58444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telecom operator in Bangladesh, and first in VEON Group, to sign — a reputational and social commitment, not a revenue driver.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7316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Milestone plane crash response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477316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connectivity kiosks deployed at hospitals during national crisis — brand trust built through action, not advertising spend.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VEON Integrated Annual Report 2025, Bangladesh/Banglalink section.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Lean, asset-light, and built to shrink Banglalink's exposure.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5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377440" cy="0"/>
          </a:xfrm>
          <a:prstGeom prst="line">
            <a:avLst/>
          </a:prstGeom>
          <a:noFill/>
          <a:ln w="25400">
            <a:solidFill>
              <a:srgbClr val="F15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 competitive core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titles at launch, not 4. Academy-first talent pipeline instead of marquee salaried signings.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5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377440" cy="0"/>
          </a:xfrm>
          <a:prstGeom prst="line">
            <a:avLst/>
          </a:prstGeom>
          <a:noFill/>
          <a:ln w="25400">
            <a:solidFill>
              <a:srgbClr val="F15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Ecosystem distribution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 Toffee, loyalty &amp; commerce on MyBL, brand &amp; audience through Ryze — no new infrastructure.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5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377440" cy="0"/>
          </a:xfrm>
          <a:prstGeom prst="line">
            <a:avLst/>
          </a:prstGeom>
          <a:noFill/>
          <a:ln w="25400">
            <a:solidFill>
              <a:srgbClr val="F15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Hybrid, shrinking funding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33375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Banglalink seed-funds launch; sponsorship &amp; media-rights revenue take on a growing share of costs each year.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5256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5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052560" y="2606040"/>
            <a:ext cx="2377440" cy="0"/>
          </a:xfrm>
          <a:prstGeom prst="line">
            <a:avLst/>
          </a:prstGeom>
          <a:noFill/>
          <a:ln w="25400">
            <a:solidFill>
              <a:srgbClr val="F15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Phased governance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52560" y="33375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review gate at Year 2–3 to continue, scale back, or wind down — exposure is capped, not open-ended.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deliberately is NOT: the original concept's 4-roster gaming house with full salaried costs and an unverified celebrity co-ownership claim. Every one of those was cut on cost or credibility grounds.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SEED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28.1M, allocated to launch — not to salaries alone.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 from a cost breakdown, not asserted as a round number — see the accompanying Financial Model.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929384"/>
            <a:ext cx="201168" cy="201168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&amp; Broadcast Setup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24128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6.00M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2386584"/>
            <a:ext cx="201168" cy="201168"/>
          </a:xfrm>
          <a:prstGeom prst="rect">
            <a:avLst/>
          </a:prstGeom>
          <a:solidFill>
            <a:srgbClr val="C94512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Player/Roster Signing &amp; Launch Buffer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241280" y="2331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5.00M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843784"/>
            <a:ext cx="201168" cy="201168"/>
          </a:xfrm>
          <a:prstGeom prst="rect">
            <a:avLst/>
          </a:prstGeom>
          <a:solidFill>
            <a:srgbClr val="8C341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788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Integration &amp; Launch Marketing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241280" y="27889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5.00M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3300984"/>
            <a:ext cx="201168" cy="201168"/>
          </a:xfrm>
          <a:prstGeom prst="rect">
            <a:avLst/>
          </a:prstGeom>
          <a:solidFill>
            <a:srgbClr val="F2A46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Setup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241280" y="32461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4.00M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3758184"/>
            <a:ext cx="201168" cy="201168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703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Tech Integration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24128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4.00M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72200" y="4215384"/>
            <a:ext cx="201168" cy="201168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4160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&amp; E-Store Setup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241280" y="4160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2.00M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72200" y="4672584"/>
            <a:ext cx="201168" cy="2011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4617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(8%)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24128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2.08M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5120640"/>
            <a:ext cx="5303520" cy="0"/>
          </a:xfrm>
          <a:prstGeom prst="line">
            <a:avLst/>
          </a:prstGeom>
          <a:noFill/>
          <a:ln w="12700">
            <a:solidFill>
              <a:srgbClr val="E7E5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5212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TOTAL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058400" y="5212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28.08M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roster/salary spend (Player Signing + Academy Setup) is ~32% of the seed — the majority funds content, brand, and platform integration that pay off across every future season, not a one-off roster cost.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NUMBERS, WITHOUT SPIN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Banglalink's exposure shrinks every year. It never fully disappears.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852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7830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874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28.1M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89720" y="1874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Year-1 seed investment (~USD 231K)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20840" y="29260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108.5M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89720" y="3017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funding requirement, Most Likely case (~USD 892K)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20840" y="40690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23232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4160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Negative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89720" y="4160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and 5-yr ROI — stated plainly, not smoothed over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favorable (Optimistic) case, the venture approaches break-even by Year 5 but still doesn't fully recover invested capital. This is disclosed as the honest output of a reconciled model — not a projection failure.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it isn't measured on ROI, what is it measured 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Youth reach &amp; engagement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MyBL/Toffee/Ryze engagement lift attributable to Roar Regiment content and campaigns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93852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901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National representation milestones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53128" y="245059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Bangladeshi team to reach group stages / main stage of a top-tier international event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93852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32520" y="1901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Talent pipeline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45059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graduates placed on competitive rosters or into digital-skills career pathways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67588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Employer brand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18795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Programme's effect on Banglalink's standing with the youth/digital talent Banglalink recruits from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474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3128" y="367588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ecosystem contribution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53128" y="418795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MAU and engagement time on Toffee/MyBL/Ryze linked to Roar Regiment activity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474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3675888"/>
            <a:ext cx="457200" cy="457200"/>
          </a:xfrm>
          <a:prstGeom prst="ellipse">
            <a:avLst/>
          </a:prstGeom>
          <a:solidFill>
            <a:srgbClr val="F15A22"/>
          </a:solidFill>
          <a:ln/>
        </p:spPr>
      </p:sp>
      <p:sp>
        <p:nvSpPr>
          <p:cNvPr id="31" name="Text 29"/>
          <p:cNvSpPr/>
          <p:nvPr/>
        </p:nvSpPr>
        <p:spPr>
          <a:xfrm>
            <a:off x="815644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3252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Bounded cost discipline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6448" y="418795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Banglalink-funded share of opex tracking down year over year, against the Funding Mix plan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capped bet, reviewed on a schedule — not an open-ended commitment.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Funding never fully self-sustains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196596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case shows a persistent, if shrinking, funding gap.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review gate at Year 2–3: continue, scale back, or wind down based on actual funding-mix trend vs. plan.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747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Sponsorship/media-rights growth is unproven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347472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45–50%/yr revenue growth assumptions are illustrative, not contracted.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actuals quarterly against the Funding Mix model; treat material misses as an early trigger for the review gate, not Year 5.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7F5F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834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Roster underperforms competitively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498348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National-representation goals depend on actual competitive results.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Academy-first pipeline reduces reliance on any single roster; title selection reviewed annually against the local viewership/sponsor data.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capped, 18-month pilot — not a permanent commitment.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28.1M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launch: roster/academy setup, content production tooling, brand integration, platform 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 months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horizon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time for one full competitive season plus a content/audience build-up cycle across Toffee, MyBL, Ryze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5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review gate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scale-back / wind-down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 at the 18-month mark, assessed against the Funding Mix and non-financial KPI targets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assumptions, cost build-up, and the funding model behind these figures are documented in the accompanying Financial Model and Strategic Repositioning Brief.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SEED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28.1M, broken down — not asserted as a round number.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 from a line-item cost estimate, not a single guessed figure. See the Financial Model for full detail and sourcing notes.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2020824"/>
            <a:ext cx="201168" cy="201168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965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&amp; Broadcast Setup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149840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6.00M  ·  21%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478024"/>
            <a:ext cx="201168" cy="201168"/>
          </a:xfrm>
          <a:prstGeom prst="rect">
            <a:avLst/>
          </a:prstGeom>
          <a:solidFill>
            <a:srgbClr val="C94512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24231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Player/Roster Signing &amp; Launch Buffer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149840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5.00M  ·  18%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2935224"/>
            <a:ext cx="201168" cy="201168"/>
          </a:xfrm>
          <a:prstGeom prst="rect">
            <a:avLst/>
          </a:prstGeom>
          <a:solidFill>
            <a:srgbClr val="8A3A15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28803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Integration &amp; Launch Marketing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149840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5.00M  ·  18%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392424"/>
            <a:ext cx="201168" cy="2011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3337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Setup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49840" y="3337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4.00M  ·  14%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3849624"/>
            <a:ext cx="201168" cy="201168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Tech Integration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149840" y="3794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4.00M  ·  14%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4306824"/>
            <a:ext cx="201168" cy="201168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251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&amp; E-Store Setup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149840" y="4251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2.00M  ·  7%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4764024"/>
            <a:ext cx="201168" cy="201168"/>
          </a:xfrm>
          <a:prstGeom prst="rect">
            <a:avLst/>
          </a:prstGeom>
          <a:solidFill>
            <a:srgbClr val="D9D6D0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47091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(8%)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149840" y="4709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2.08M  ·  7%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63640" y="5212080"/>
            <a:ext cx="5440680" cy="0"/>
          </a:xfrm>
          <a:prstGeom prst="line">
            <a:avLst/>
          </a:prstGeom>
          <a:noFill/>
          <a:ln w="12700">
            <a:solidFill>
              <a:srgbClr val="E7E5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Total Initial Investment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14984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45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BDT 28.08M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63640" y="58521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231K at the FY2025 average BDT/USD rate (121.7, per VEON Integrated Annual Report 2025).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— Strategic Pitch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371600" y="-914400"/>
            <a:ext cx="164592" cy="868680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-868680" y="-914400"/>
            <a:ext cx="164592" cy="8686800"/>
          </a:xfrm>
          <a:prstGeom prst="rect">
            <a:avLst/>
          </a:prstGeom>
          <a:solidFill>
            <a:srgbClr val="F15A2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-365760" y="-914400"/>
            <a:ext cx="164592" cy="8686800"/>
          </a:xfrm>
          <a:prstGeom prst="rect">
            <a:avLst/>
          </a:prstGeom>
          <a:solidFill>
            <a:srgbClr val="F15A2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46888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Bangladeshi flag on the world's biggest digital stage.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1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outcome this is actually funding — not a return, a first.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REGIMENT  ×  BANGLALINK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1799</Words>
  <Application>Microsoft Office PowerPoint</Application>
  <PresentationFormat>Widescreen</PresentationFormat>
  <Paragraphs>208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2026-08-02T09:49:27Z</dcterms:created>
  <dcterms:modified xsi:type="dcterms:W3CDTF">2026-08-02T18:09:10Z</dcterms:modified>
</cp:coreProperties>
</file>