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6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3263A"/>
                </a:solidFill>
                <a:latin typeface="Arial"/>
              </a:rPr>
              <a:t>Mobile Subscriber Market Share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 Share</c:v>
                </c:pt>
              </c:strCache>
            </c:strRef>
          </c:tx>
          <c:spPr>
            <a:solidFill>
              <a:srgbClr val="80808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6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08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5B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7C4C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Grameenphone</c:v>
                  </c:pt>
                  <c:pt idx="1">
                    <c:v>Robi Axiata</c:v>
                  </c:pt>
                  <c:pt idx="2">
                    <c:v>Banglalink</c:v>
                  </c:pt>
                  <c:pt idx="3">
                    <c:v>Teletalk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45.7</c:v>
                </c:pt>
                <c:pt idx="1">
                  <c:v>30.6</c:v>
                </c:pt>
                <c:pt idx="2">
                  <c:v>20.2</c:v>
                </c:pt>
                <c:pt idx="3">
                  <c:v>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6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12700" cap="flat">
              <a:solidFill>
                <a:srgbClr val="F2F3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7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6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3263A"/>
                </a:solidFill>
                <a:latin typeface="Arial"/>
              </a:rPr>
              <a:t>Revenue &amp; EBITDA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(BDT bn)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16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FY2024A</c:v>
                  </c:pt>
                  <c:pt idx="1">
                    <c:v>FY2025A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59.7</c:v>
                </c:pt>
                <c:pt idx="1">
                  <c:v>55.9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(BDT bn)</c:v>
                </c:pt>
              </c:strCache>
            </c:strRef>
          </c:tx>
          <c:spPr>
            <a:solidFill>
              <a:srgbClr val="C75B1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16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FY2024A</c:v>
                  </c:pt>
                  <c:pt idx="1">
                    <c:v>FY2025A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20.7</c:v>
                </c:pt>
                <c:pt idx="1">
                  <c:v>27.5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0B16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457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6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3263A"/>
                </a:solidFill>
                <a:latin typeface="Arial"/>
              </a:rPr>
              <a:t>EBITDA Margin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3FA66B"/>
            </a:solidFill>
            <a:ln w="38100" cap="flat">
              <a:solidFill>
                <a:srgbClr val="3FA66B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62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FA66B"/>
              </a:solidFill>
              <a:ln w="9525" cap="flat">
                <a:solidFill>
                  <a:srgbClr val="3FA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FY2024A</c:v>
                  </c:pt>
                  <c:pt idx="1">
                    <c:v>FY2025A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34.7</c:v>
                </c:pt>
                <c:pt idx="1">
                  <c:v>49.2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62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6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3263A"/>
                </a:solidFill>
                <a:latin typeface="Arial"/>
              </a:rPr>
              <a:t>Digital Revenue (~8x YoY)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Revenue (BDT bn)</c:v>
                </c:pt>
              </c:strCache>
            </c:strRef>
          </c:tx>
          <c:spPr>
            <a:solidFill>
              <a:srgbClr val="6B5B9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6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FY2024A</c:v>
                  </c:pt>
                  <c:pt idx="1">
                    <c:v>FY2025A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16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3263A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3263A"/>
                </a:solidFill>
                <a:latin typeface="Arial"/>
              </a:rPr>
              <a:t>Porter's Five Forces — Bangladesh Telecom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 (1=Low, 5=High)</c:v>
                </c:pt>
              </c:strCache>
            </c:strRef>
          </c:tx>
          <c:spPr>
            <a:solidFill>
              <a:srgbClr val="C75B12"/>
            </a:solidFill>
            <a:ln w="25400" cap="flat">
              <a:solidFill>
                <a:srgbClr val="C75B1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75B12"/>
              </a:solidFill>
              <a:ln w="9525" cap="flat">
                <a:solidFill>
                  <a:srgbClr val="C75B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New Entrants</c:v>
                  </c:pt>
                  <c:pt idx="1">
                    <c:v>Supplier Power</c:v>
                  </c:pt>
                  <c:pt idx="2">
                    <c:v>Buyer Power</c:v>
                  </c:pt>
                  <c:pt idx="3">
                    <c:v>Substitutes</c:v>
                  </c:pt>
                  <c:pt idx="4">
                    <c:v>Rivalry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3</c:v>
                </c:pt>
                <c:pt idx="2">
                  <c:v>4.5</c:v>
                </c:pt>
                <c:pt idx="3">
                  <c:v>3</c:v>
                </c:pt>
                <c:pt idx="4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7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26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3263A"/>
                </a:solidFill>
                <a:latin typeface="Arial"/>
              </a:rPr>
              <a:t>Valuation Football Field (USD mn Enterprise Value)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EV/Revenue Cross-Check</c:v>
                  </c:pt>
                  <c:pt idx="1">
                    <c:v>Robi-Based EV/EBITDA</c:v>
                  </c:pt>
                  <c:pt idx="2">
                    <c:v>GP-Based EV/EBITDA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625</c:v>
                </c:pt>
                <c:pt idx="1">
                  <c:v>710</c:v>
                </c:pt>
                <c:pt idx="2">
                  <c:v>925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C75B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EV/Revenue Cross-Check</c:v>
                  </c:pt>
                  <c:pt idx="1">
                    <c:v>Robi-Based EV/EBITDA</c:v>
                  </c:pt>
                  <c:pt idx="2">
                    <c:v>GP-Based EV/EBITDA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</c:v>
                </c:pt>
                <c:pt idx="1">
                  <c:v>107</c:v>
                </c:pt>
                <c:pt idx="2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b"/>
        <c:majorGridlines>
          <c:spPr>
            <a:ln w="12700" cap="flat">
              <a:solidFill>
                <a:srgbClr val="F2F3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7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STRATEGIC &amp; FINANCIAL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Banglalink: IPO Readiness &amp; Equity Story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investment-banking-style assessment of whether, when, and how Banglalink should pursue a Dhaka Stock Exchange listing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Project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official Banglalink, VEON, Goldman Sachs, Morgan Stanley, or other organisational publication. Prepared to demonstrate analytical process only.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to Prepare — Not to Price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logic for a DSE listing is sound and the regulatory door is open; the constraint is readiness, not opportunity.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7004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671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to Prepare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pricing to a defined future checkpoint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67004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1671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RANGE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625–1,064mn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comps, disclosed FY2025A EBITDA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67004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1671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FY2025A, vs. 34.7% FY2024A (+32.5% YoY EBITDA)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2057400"/>
            <a:ext cx="267004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21671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98280" y="242316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 operator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92608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 subscriber share (BTRC, Sep-2025)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conditions precedent to filing: (i) a second confirmed year of segment financials, (ii) BSEC pre-filing consultation on public-float requirements and pricing mechanism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critical/high risks: fiscal policy volatility on the telecom sector; sub-segment financial disclosure gap (net debt, working capital, tax detail undisclosed)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timing: 12–18 month phased approach, evidence-driven rather than calendar-driven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TELECOM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Mature, Saturating, Shifting to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four-player, ~USD 2.7–2.8bn market where growth now depends on data/digital monetization, not subscriber additions.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BTRC, Sep-2025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Size:  </a:t>
            </a:r>
            <a:pPr indent="0" marL="0">
              <a:buNone/>
            </a:pPr>
            <a:r>
              <a:rPr lang="en-US" sz="1200" b="1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~USD 2.7–2.8bn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 CAGR to ~USD 3.4bn by 2031 (Mordor Intelligence)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0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Subscribers:  </a:t>
            </a:r>
            <a:pPr indent="0" marL="0">
              <a:buNone/>
            </a:pPr>
            <a:r>
              <a:rPr lang="en-US" sz="1200" b="1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~188mn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0" y="3090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BTRC, Sep-2025 — declining 3 consecutive months (saturation)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8368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Penetration:  </a:t>
            </a:r>
            <a:pPr indent="0" marL="0">
              <a:buNone/>
            </a:pPr>
            <a:r>
              <a:rPr lang="en-US" sz="1200" b="1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~69–72%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from ~40% in 2019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Consumption:  </a:t>
            </a:r>
            <a:pPr indent="0" marL="0">
              <a:buNone/>
            </a:pPr>
            <a:r>
              <a:rPr lang="en-US" sz="1200" b="1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3.1→6.4 GB/mo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4736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doubled per user, 2022→2024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BANGLALINK BUSINESS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Confirmed Turnaround, Still Early-Stage on Digital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delivered a real, disclosed turnaround in margin; digital revenue grew fast off a small base while total revenue declined.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3703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251960" y="201168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8001000" y="2011680"/>
          <a:ext cx="3703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5029200"/>
            <a:ext cx="3685032" cy="1051560"/>
          </a:xfrm>
          <a:prstGeom prst="roundRect">
            <a:avLst>
              <a:gd name="adj" fmla="val 5217"/>
            </a:avLst>
          </a:prstGeom>
          <a:solidFill>
            <a:srgbClr val="F2F3F4"/>
          </a:solidFill>
          <a:ln/>
        </p:spPr>
      </p:sp>
      <p:sp>
        <p:nvSpPr>
          <p:cNvPr id="10" name="Text 5"/>
          <p:cNvSpPr/>
          <p:nvPr/>
        </p:nvSpPr>
        <p:spPr>
          <a:xfrm>
            <a:off x="621792" y="5120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USERS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21792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18.4mn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21792" y="5715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53.3% of base (2024: 18.0mn / 50.2%)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4279392" y="5029200"/>
            <a:ext cx="3685032" cy="1051560"/>
          </a:xfrm>
          <a:prstGeom prst="roundRect">
            <a:avLst>
              <a:gd name="adj" fmla="val 5217"/>
            </a:avLst>
          </a:prstGeom>
          <a:solidFill>
            <a:srgbClr val="F2F3F4"/>
          </a:solidFill>
          <a:ln/>
        </p:spPr>
      </p:sp>
      <p:sp>
        <p:nvSpPr>
          <p:cNvPr id="14" name="Text 9"/>
          <p:cNvSpPr/>
          <p:nvPr/>
        </p:nvSpPr>
        <p:spPr>
          <a:xfrm>
            <a:off x="4443984" y="5120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443984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MyBL 8.1mn · Toffee 6.4mn · Ryze 0.3mn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43984" y="5715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users, 4Q25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101584" y="5029200"/>
            <a:ext cx="3685032" cy="1051560"/>
          </a:xfrm>
          <a:prstGeom prst="roundRect">
            <a:avLst>
              <a:gd name="adj" fmla="val 5217"/>
            </a:avLst>
          </a:prstGeom>
          <a:solidFill>
            <a:srgbClr val="F2F3F4"/>
          </a:solidFill>
          <a:ln/>
        </p:spPr>
      </p:sp>
      <p:sp>
        <p:nvSpPr>
          <p:cNvPr id="18" name="Text 13"/>
          <p:cNvSpPr/>
          <p:nvPr/>
        </p:nvSpPr>
        <p:spPr>
          <a:xfrm>
            <a:off x="8266176" y="5120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LICENCE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8266176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Buse, CEO (Apr-2025)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6176" y="5715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licence granted Dec-2025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Value-Led Digital Challenger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rests on fintech optionality and digital monetization — not on closing the scale gap to Grameenphone.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212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210312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licence (Dec-2025) positions Banglalink toward Bangladesh's large underbanked population (~72% outside formal banking, 2023 estimate)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VEON's June-2026 USD 250mn anchor FDI commitment (part of a targeted USD 1bn Bangladesh program) signals continued sponsor conviction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Toffee and MyBL provide content/engagement differentiation vs. GP and Robi, though not yet a material revenue pillar (5.4% of total revenue)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scale disadvantage to Grameenphone is not closing and should not be underwritten to close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READINESS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Conditional, Not Yet Ready to 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disclosure and the valuation framework are ready; deal structure, governance, and one leadership-continuity question are not.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393192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6766560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 Dimension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disclosure (top-line)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6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revenue, EBITDA, margin, digital revenue, 4G KPIs now disclosed (VEON IAR 2025)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disclosure (sub-segment)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debt, working capital, tax detail, absolute capex undisclosed — largest blocking item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turnaround durability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confirmed strong year; management's own prior revenue-growth ambition was missed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strategic continuity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 deck listed IPO as a pillar (prior CEO); FY2025 report (new CEO) does not restate 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relationship (BSEC)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Constructive multi-year dialogue; no confirmed pre-filing consultation on float/pricing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/ board independence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disclosed independent board component for a standalone listing vehicle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 structure clarity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Primary/secondary split, free float, net debt all undisclosed/PENDING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 framework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6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Trading comps and scenario valuation fully built and audit-checked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03504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0B162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6035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CONDITIONAL — proceed to prepare; defer pricing to a defined, evidence-based checkpoint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52560" y="6035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= open question, not a severity rating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Comparables as the Primary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enterprise value of USD 625–1,064mn, anchored to disclosed FY2025A EBITDA and DSE peer multiples; DCF held inactive pending a business plan.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69494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6949440" cy="164592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EV/Revenue Cross-Check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$625mn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5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$764mn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Robi-Based EV/EBITDA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$710mn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5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$817mn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GP-Based EV/EBITDA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$925mn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5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$1064mn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80644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0B1622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5806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primary range: USD 625–1,064mn (trading comps, excl. DCF)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35240" y="2057400"/>
            <a:ext cx="4114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Peers: Grameenphone 5.46x EV/EBITDA, 11.67x P/E; Robi Axiata 4.19x EV/EBITDA, 16.99x P/E (stockanalysis.com)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Banglalink's disclosed FY2025A EBITDA (~USD 226mn) at a 15–35% scale/liquidity discount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built in full but held inactive — no validated management business plan exists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undisclosed at segment level — blocks conversion to equity value / per-share terms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STRUCTURING CONSIDERATIONS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Questions, Not Yet a Recommendation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structure — free float, primary/secondary mix, use of proceeds — remains undetermined; precedent transactions provide the only reference points.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5852160"/>
                <a:gridCol w="22860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Precedent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Proceeds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Grameenphone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DSE IPO; Telenor retained 55.8% majority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75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BDT 4.86bn raised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 Axiata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DSE IPO, post Robi/Airtel merger; Axiata/Bharti retained majority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75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BDT 5.24bn raised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Kyivstar Group Ltd.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Nasdaq listing via business combination with Cohen Circle (SPAC-style structure, not a traditional DSE IPO)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75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 — different structure/venue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11247120" cy="1783080"/>
          </a:xfrm>
          <a:prstGeom prst="roundRect">
            <a:avLst>
              <a:gd name="adj" fmla="val 3590"/>
            </a:avLst>
          </a:prstGeom>
          <a:solidFill>
            <a:srgbClr val="FDF1E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 UNDETERMINED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4864608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disclosed primary/secondary split, target free float, or net debt figure exists for Banglalink — each is explicitly flagged PENDING rather than estimated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allocation priority if proceeds are primary: network capacity/quality, PSP/fintech infrastructure scale-up, intercompany deleveraging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KEY ASSUMPTIONS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Items Rated Critical / High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policy volatility and the sub-segment disclosure gap are the risks most likely to affect transaction timing and pricing.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393192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667512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policy on telecom sector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 SIM-tax/duty increases drove sector-wide revenue pressure — recurring, not one-off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Sub-segment disclosure gap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debt, working capital, tax detail undisclosed — blocks per-share valuation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asymmetry (GP's SMP status)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Designation has not translated into effective enforcement over multiple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/ turnaround timing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confirmed year; management's own 15–18% revenue-growth ambition was missed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Market-wide subscriber saturation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subscribers declining — growth story must rest on ARPU/digital, not users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 / sanctions-adjacent disclosure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VEON shareholder base requires standard cross-border disclosure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to Prepare, Not to Price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the IPO-readiness workstream now; defer the pricing and filing decision to a defined, evidence-based checkpoint.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326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– MONTH 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Preparatory workstream authorization and data-room construction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8678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1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51960" y="21031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3263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– 12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BSEC pre-filing consultation; close sub-segment disclosure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8154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1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326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 – 18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decision point — conditional on evidence, not calendar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1247120" cy="2057400"/>
          </a:xfrm>
          <a:prstGeom prst="roundRect">
            <a:avLst>
              <a:gd name="adj" fmla="val 3111"/>
            </a:avLst>
          </a:prstGeom>
          <a:solidFill>
            <a:srgbClr val="F2F3F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PRECEDENT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407408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confirmed year of segment financial results (FY2026), building on FY2025's now-confirmed turnaround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BSEC pre-filing consultation concluded on public-float requirements and pricing mechanism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with VEON corporate development on whether the IPO ambition remains active post-CEO-transition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Methodology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3F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this deck traces to a named public source or a clearly labeled analyst assumption.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356616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VEON Integrated Annual Report 2025 (pp.97–100)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Banglalink segment financials, 4G KPIs, digital revenue, CEO transition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Banglalink IPO Advisory Memorandum (this workstream)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analysis, strategic assessment, valuation methodology, risk register, recommendation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Banglalink IPO Advisory Excel Workbook (this workstream)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22-tab valuation model, audit-checked, all figures traceable to 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BTRC subscriber &amp; market-share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sizing, competitive positioning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stockanalysis.com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Grameenphone / Robi Axiata trading multiples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Mordor Intelligence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Bangladesh telecom market size and forecast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"Bangladesh: Growth Ambition 2027" (Erik Aas, Jul-2024)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457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guidance — cross-checked against actuals, not treated as fact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1500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2F3F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 </a:t>
            </a:r>
            <a:pPr indent="0" marL="0">
              <a:buNone/>
            </a:pPr>
            <a:r>
              <a:rPr lang="en-US" sz="950" dirty="0">
                <a:solidFill>
                  <a:srgbClr val="13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Memorandum (13 sections) → 22-tab valuation workbook → rebuilt against VEON's FY2025 Integrated Annual Report once published, with corrections made transparently. Every assumption tagged Management Guidance / Public Disclosure / Market Data / Analyst Estimate.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project — not an official Banglalink, VEON, or investment bank publication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2026-08-02T15:29:56Z</dcterms:created>
  <dcterms:modified xsi:type="dcterms:W3CDTF">2026-08-02T15:29:56Z</dcterms:modified>
</cp:coreProperties>
</file>